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charts/chart1.xml" ContentType="application/vnd.openxmlformats-officedocument.drawingml.chart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charts/chart2.xml" ContentType="application/vnd.openxmlformats-officedocument.drawingml.chart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charts/chart3.xml" ContentType="application/vnd.openxmlformats-officedocument.drawingml.chart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charts/chart4.xml" ContentType="application/vnd.openxmlformats-officedocument.drawingml.chart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charts/chart5.xml" ContentType="application/vnd.openxmlformats-officedocument.drawingml.chart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charts/chart6.xml" ContentType="application/vnd.openxmlformats-officedocument.drawingml.chart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charts/chart7.xml" ContentType="application/vnd.openxmlformats-officedocument.drawingml.chart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colors6.xml" ContentType="application/vnd.ms-office.chartcolorstyle+xml"/>
  <Override PartName="/ppt/charts/style6.xml" ContentType="application/vnd.ms-office.chartstyle+xml"/>
  <Override PartName="/ppt/charts/colors7.xml" ContentType="application/vnd.ms-office.chartcolorstyle+xml"/>
  <Override PartName="/ppt/charts/style7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8" r:id="rId1"/>
    <p:sldMasterId id="2147483648" r:id="rId2"/>
  </p:sldMasterIdLst>
  <p:notesMasterIdLst>
    <p:notesMasterId r:id="rId96"/>
  </p:notesMasterIdLst>
  <p:sldIdLst>
    <p:sldId id="257" r:id="rId3"/>
    <p:sldId id="258" r:id="rId4"/>
    <p:sldId id="282" r:id="rId5"/>
    <p:sldId id="281" r:id="rId6"/>
    <p:sldId id="283" r:id="rId7"/>
    <p:sldId id="284" r:id="rId8"/>
    <p:sldId id="299" r:id="rId9"/>
    <p:sldId id="286" r:id="rId10"/>
    <p:sldId id="287" r:id="rId11"/>
    <p:sldId id="351" r:id="rId12"/>
    <p:sldId id="352" r:id="rId13"/>
    <p:sldId id="289" r:id="rId14"/>
    <p:sldId id="300" r:id="rId15"/>
    <p:sldId id="363" r:id="rId16"/>
    <p:sldId id="353" r:id="rId17"/>
    <p:sldId id="357" r:id="rId18"/>
    <p:sldId id="355" r:id="rId19"/>
    <p:sldId id="356" r:id="rId20"/>
    <p:sldId id="358" r:id="rId21"/>
    <p:sldId id="359" r:id="rId22"/>
    <p:sldId id="360" r:id="rId23"/>
    <p:sldId id="361" r:id="rId24"/>
    <p:sldId id="362" r:id="rId25"/>
    <p:sldId id="374" r:id="rId26"/>
    <p:sldId id="375" r:id="rId27"/>
    <p:sldId id="376" r:id="rId28"/>
    <p:sldId id="378" r:id="rId29"/>
    <p:sldId id="379" r:id="rId30"/>
    <p:sldId id="380" r:id="rId31"/>
    <p:sldId id="301" r:id="rId32"/>
    <p:sldId id="303" r:id="rId33"/>
    <p:sldId id="346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3" r:id="rId44"/>
    <p:sldId id="390" r:id="rId45"/>
    <p:sldId id="391" r:id="rId46"/>
    <p:sldId id="392" r:id="rId47"/>
    <p:sldId id="302" r:id="rId48"/>
    <p:sldId id="304" r:id="rId49"/>
    <p:sldId id="350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1" r:id="rId71"/>
    <p:sldId id="342" r:id="rId72"/>
    <p:sldId id="340" r:id="rId73"/>
    <p:sldId id="343" r:id="rId74"/>
    <p:sldId id="344" r:id="rId75"/>
    <p:sldId id="345" r:id="rId76"/>
    <p:sldId id="292" r:id="rId77"/>
    <p:sldId id="293" r:id="rId78"/>
    <p:sldId id="294" r:id="rId79"/>
    <p:sldId id="295" r:id="rId80"/>
    <p:sldId id="296" r:id="rId81"/>
    <p:sldId id="367" r:id="rId82"/>
    <p:sldId id="368" r:id="rId83"/>
    <p:sldId id="369" r:id="rId84"/>
    <p:sldId id="370" r:id="rId85"/>
    <p:sldId id="371" r:id="rId86"/>
    <p:sldId id="372" r:id="rId87"/>
    <p:sldId id="297" r:id="rId88"/>
    <p:sldId id="373" r:id="rId89"/>
    <p:sldId id="275" r:id="rId90"/>
    <p:sldId id="276" r:id="rId91"/>
    <p:sldId id="298" r:id="rId92"/>
    <p:sldId id="278" r:id="rId93"/>
    <p:sldId id="279" r:id="rId94"/>
    <p:sldId id="280" r:id="rId9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752">
          <p15:clr>
            <a:srgbClr val="A4A3A4"/>
          </p15:clr>
        </p15:guide>
        <p15:guide id="2" orient="horz" pos="777">
          <p15:clr>
            <a:srgbClr val="A4A3A4"/>
          </p15:clr>
        </p15:guide>
        <p15:guide id="3" orient="horz" pos="4286">
          <p15:clr>
            <a:srgbClr val="A4A3A4"/>
          </p15:clr>
        </p15:guide>
        <p15:guide id="4" orient="horz" pos="2636">
          <p15:clr>
            <a:srgbClr val="A4A3A4"/>
          </p15:clr>
        </p15:guide>
        <p15:guide id="5" orient="horz" pos="981">
          <p15:clr>
            <a:srgbClr val="A4A3A4"/>
          </p15:clr>
        </p15:guide>
        <p15:guide id="6" orient="horz" pos="1275">
          <p15:clr>
            <a:srgbClr val="A4A3A4"/>
          </p15:clr>
        </p15:guide>
        <p15:guide id="7" pos="104">
          <p15:clr>
            <a:srgbClr val="A4A3A4"/>
          </p15:clr>
        </p15:guide>
        <p15:guide id="8" pos="1510">
          <p15:clr>
            <a:srgbClr val="A4A3A4"/>
          </p15:clr>
        </p15:guide>
        <p15:guide id="9" pos="1691">
          <p15:clr>
            <a:srgbClr val="A4A3A4"/>
          </p15:clr>
        </p15:guide>
        <p15:guide id="10" pos="3052">
          <p15:clr>
            <a:srgbClr val="A4A3A4"/>
          </p15:clr>
        </p15:guide>
        <p15:guide id="11" pos="6182">
          <p15:clr>
            <a:srgbClr val="A4A3A4"/>
          </p15:clr>
        </p15:guide>
        <p15:guide id="12" pos="3233">
          <p15:clr>
            <a:srgbClr val="A4A3A4"/>
          </p15:clr>
        </p15:guide>
        <p15:guide id="13" pos="4617">
          <p15:clr>
            <a:srgbClr val="A4A3A4"/>
          </p15:clr>
        </p15:guide>
        <p15:guide id="14" pos="4798">
          <p15:clr>
            <a:srgbClr val="A4A3A4"/>
          </p15:clr>
        </p15:guide>
        <p15:guide id="15" pos="1600">
          <p15:clr>
            <a:srgbClr val="A4A3A4"/>
          </p15:clr>
        </p15:guide>
        <p15:guide id="16" pos="44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5F6"/>
    <a:srgbClr val="F78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14" autoAdjust="0"/>
    <p:restoredTop sz="96366" autoAdjust="0"/>
  </p:normalViewPr>
  <p:slideViewPr>
    <p:cSldViewPr>
      <p:cViewPr varScale="1">
        <p:scale>
          <a:sx n="112" d="100"/>
          <a:sy n="112" d="100"/>
        </p:scale>
        <p:origin x="-1446" y="-72"/>
      </p:cViewPr>
      <p:guideLst>
        <p:guide orient="horz" pos="1752"/>
        <p:guide orient="horz" pos="777"/>
        <p:guide orient="horz" pos="4286"/>
        <p:guide orient="horz" pos="2636"/>
        <p:guide orient="horz" pos="981"/>
        <p:guide orient="horz" pos="1275"/>
        <p:guide pos="104"/>
        <p:guide pos="1510"/>
        <p:guide pos="1691"/>
        <p:guide pos="3052"/>
        <p:guide pos="6182"/>
        <p:guide pos="3233"/>
        <p:guide pos="4617"/>
        <p:guide pos="4798"/>
        <p:guide pos="1600"/>
        <p:guide pos="44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4.xml"/><Relationship Id="rId2" Type="http://schemas.microsoft.com/office/2011/relationships/chartColorStyle" Target="colors4.xml"/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5.xml"/><Relationship Id="rId2" Type="http://schemas.microsoft.com/office/2011/relationships/chartColorStyle" Target="colors5.xml"/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err="1"/>
              <a:t>일자별</a:t>
            </a:r>
            <a:r>
              <a:rPr lang="ko-KR" altLang="en-US" sz="1100" b="1" dirty="0"/>
              <a:t> 통계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페이지뷰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3월1일</c:v>
                </c:pt>
                <c:pt idx="1">
                  <c:v>3월2일</c:v>
                </c:pt>
                <c:pt idx="2">
                  <c:v>3월3일</c:v>
                </c:pt>
                <c:pt idx="3">
                  <c:v>3월4일</c:v>
                </c:pt>
                <c:pt idx="4">
                  <c:v>3월5일</c:v>
                </c:pt>
                <c:pt idx="5">
                  <c:v>3월6일</c:v>
                </c:pt>
                <c:pt idx="6">
                  <c:v>3월7일</c:v>
                </c:pt>
                <c:pt idx="7">
                  <c:v>3월8일</c:v>
                </c:pt>
                <c:pt idx="8">
                  <c:v>3월9일</c:v>
                </c:pt>
                <c:pt idx="9">
                  <c:v>3월10일</c:v>
                </c:pt>
                <c:pt idx="10">
                  <c:v>3월11일</c:v>
                </c:pt>
                <c:pt idx="11">
                  <c:v>3월12일</c:v>
                </c:pt>
                <c:pt idx="12">
                  <c:v>3월13일</c:v>
                </c:pt>
                <c:pt idx="13">
                  <c:v>3월14일</c:v>
                </c:pt>
                <c:pt idx="14">
                  <c:v>3월15일</c:v>
                </c:pt>
                <c:pt idx="15">
                  <c:v>3월16일</c:v>
                </c:pt>
                <c:pt idx="16">
                  <c:v>3월17일</c:v>
                </c:pt>
                <c:pt idx="17">
                  <c:v>3월18일</c:v>
                </c:pt>
                <c:pt idx="18">
                  <c:v>3월19일</c:v>
                </c:pt>
                <c:pt idx="19">
                  <c:v>3월20일</c:v>
                </c:pt>
                <c:pt idx="20">
                  <c:v>3월21일</c:v>
                </c:pt>
                <c:pt idx="21">
                  <c:v>3월22일</c:v>
                </c:pt>
                <c:pt idx="22">
                  <c:v>3월23일</c:v>
                </c:pt>
                <c:pt idx="23">
                  <c:v>3월24일</c:v>
                </c:pt>
                <c:pt idx="24">
                  <c:v>3월25일</c:v>
                </c:pt>
                <c:pt idx="25">
                  <c:v>3월26일</c:v>
                </c:pt>
                <c:pt idx="26">
                  <c:v>3월27일</c:v>
                </c:pt>
                <c:pt idx="27">
                  <c:v>3월28일</c:v>
                </c:pt>
                <c:pt idx="28">
                  <c:v>3월29일</c:v>
                </c:pt>
                <c:pt idx="29">
                  <c:v>3월30일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</c:v>
                </c:pt>
                <c:pt idx="1">
                  <c:v>90</c:v>
                </c:pt>
                <c:pt idx="2">
                  <c:v>43</c:v>
                </c:pt>
                <c:pt idx="3">
                  <c:v>85</c:v>
                </c:pt>
                <c:pt idx="4">
                  <c:v>100</c:v>
                </c:pt>
                <c:pt idx="5">
                  <c:v>90</c:v>
                </c:pt>
                <c:pt idx="6">
                  <c:v>43</c:v>
                </c:pt>
                <c:pt idx="7">
                  <c:v>85</c:v>
                </c:pt>
                <c:pt idx="8">
                  <c:v>100</c:v>
                </c:pt>
                <c:pt idx="9">
                  <c:v>90</c:v>
                </c:pt>
                <c:pt idx="10">
                  <c:v>43</c:v>
                </c:pt>
                <c:pt idx="11">
                  <c:v>85</c:v>
                </c:pt>
                <c:pt idx="12">
                  <c:v>100</c:v>
                </c:pt>
                <c:pt idx="13">
                  <c:v>90</c:v>
                </c:pt>
                <c:pt idx="14">
                  <c:v>43</c:v>
                </c:pt>
                <c:pt idx="15">
                  <c:v>85</c:v>
                </c:pt>
                <c:pt idx="16">
                  <c:v>100</c:v>
                </c:pt>
                <c:pt idx="17">
                  <c:v>90</c:v>
                </c:pt>
                <c:pt idx="18">
                  <c:v>43</c:v>
                </c:pt>
                <c:pt idx="19">
                  <c:v>85</c:v>
                </c:pt>
                <c:pt idx="20">
                  <c:v>100</c:v>
                </c:pt>
                <c:pt idx="21">
                  <c:v>90</c:v>
                </c:pt>
                <c:pt idx="22">
                  <c:v>43</c:v>
                </c:pt>
                <c:pt idx="23">
                  <c:v>85</c:v>
                </c:pt>
                <c:pt idx="24">
                  <c:v>43</c:v>
                </c:pt>
                <c:pt idx="25">
                  <c:v>85</c:v>
                </c:pt>
                <c:pt idx="26">
                  <c:v>100</c:v>
                </c:pt>
                <c:pt idx="27">
                  <c:v>90</c:v>
                </c:pt>
                <c:pt idx="28">
                  <c:v>43</c:v>
                </c:pt>
                <c:pt idx="29">
                  <c:v>90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67F9-4426-B924-123A6831AE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방문자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3월1일</c:v>
                </c:pt>
                <c:pt idx="1">
                  <c:v>3월2일</c:v>
                </c:pt>
                <c:pt idx="2">
                  <c:v>3월3일</c:v>
                </c:pt>
                <c:pt idx="3">
                  <c:v>3월4일</c:v>
                </c:pt>
                <c:pt idx="4">
                  <c:v>3월5일</c:v>
                </c:pt>
                <c:pt idx="5">
                  <c:v>3월6일</c:v>
                </c:pt>
                <c:pt idx="6">
                  <c:v>3월7일</c:v>
                </c:pt>
                <c:pt idx="7">
                  <c:v>3월8일</c:v>
                </c:pt>
                <c:pt idx="8">
                  <c:v>3월9일</c:v>
                </c:pt>
                <c:pt idx="9">
                  <c:v>3월10일</c:v>
                </c:pt>
                <c:pt idx="10">
                  <c:v>3월11일</c:v>
                </c:pt>
                <c:pt idx="11">
                  <c:v>3월12일</c:v>
                </c:pt>
                <c:pt idx="12">
                  <c:v>3월13일</c:v>
                </c:pt>
                <c:pt idx="13">
                  <c:v>3월14일</c:v>
                </c:pt>
                <c:pt idx="14">
                  <c:v>3월15일</c:v>
                </c:pt>
                <c:pt idx="15">
                  <c:v>3월16일</c:v>
                </c:pt>
                <c:pt idx="16">
                  <c:v>3월17일</c:v>
                </c:pt>
                <c:pt idx="17">
                  <c:v>3월18일</c:v>
                </c:pt>
                <c:pt idx="18">
                  <c:v>3월19일</c:v>
                </c:pt>
                <c:pt idx="19">
                  <c:v>3월20일</c:v>
                </c:pt>
                <c:pt idx="20">
                  <c:v>3월21일</c:v>
                </c:pt>
                <c:pt idx="21">
                  <c:v>3월22일</c:v>
                </c:pt>
                <c:pt idx="22">
                  <c:v>3월23일</c:v>
                </c:pt>
                <c:pt idx="23">
                  <c:v>3월24일</c:v>
                </c:pt>
                <c:pt idx="24">
                  <c:v>3월25일</c:v>
                </c:pt>
                <c:pt idx="25">
                  <c:v>3월26일</c:v>
                </c:pt>
                <c:pt idx="26">
                  <c:v>3월27일</c:v>
                </c:pt>
                <c:pt idx="27">
                  <c:v>3월28일</c:v>
                </c:pt>
                <c:pt idx="28">
                  <c:v>3월29일</c:v>
                </c:pt>
                <c:pt idx="29">
                  <c:v>3월30일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70</c:v>
                </c:pt>
                <c:pt idx="1">
                  <c:v>50</c:v>
                </c:pt>
                <c:pt idx="2">
                  <c:v>20</c:v>
                </c:pt>
                <c:pt idx="3">
                  <c:v>80</c:v>
                </c:pt>
                <c:pt idx="4">
                  <c:v>70</c:v>
                </c:pt>
                <c:pt idx="5">
                  <c:v>50</c:v>
                </c:pt>
                <c:pt idx="6">
                  <c:v>20</c:v>
                </c:pt>
                <c:pt idx="7">
                  <c:v>80</c:v>
                </c:pt>
                <c:pt idx="8">
                  <c:v>70</c:v>
                </c:pt>
                <c:pt idx="9">
                  <c:v>50</c:v>
                </c:pt>
                <c:pt idx="10">
                  <c:v>20</c:v>
                </c:pt>
                <c:pt idx="11">
                  <c:v>80</c:v>
                </c:pt>
                <c:pt idx="12">
                  <c:v>70</c:v>
                </c:pt>
                <c:pt idx="13">
                  <c:v>50</c:v>
                </c:pt>
                <c:pt idx="14">
                  <c:v>20</c:v>
                </c:pt>
                <c:pt idx="15">
                  <c:v>80</c:v>
                </c:pt>
                <c:pt idx="16">
                  <c:v>70</c:v>
                </c:pt>
                <c:pt idx="17">
                  <c:v>50</c:v>
                </c:pt>
                <c:pt idx="18">
                  <c:v>20</c:v>
                </c:pt>
                <c:pt idx="19">
                  <c:v>80</c:v>
                </c:pt>
                <c:pt idx="20">
                  <c:v>70</c:v>
                </c:pt>
                <c:pt idx="21">
                  <c:v>50</c:v>
                </c:pt>
                <c:pt idx="22">
                  <c:v>20</c:v>
                </c:pt>
                <c:pt idx="23">
                  <c:v>80</c:v>
                </c:pt>
                <c:pt idx="24">
                  <c:v>20</c:v>
                </c:pt>
                <c:pt idx="25">
                  <c:v>80</c:v>
                </c:pt>
                <c:pt idx="26">
                  <c:v>70</c:v>
                </c:pt>
                <c:pt idx="27">
                  <c:v>50</c:v>
                </c:pt>
                <c:pt idx="28">
                  <c:v>20</c:v>
                </c:pt>
                <c:pt idx="29">
                  <c:v>50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67F9-4426-B924-123A6831A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255680"/>
        <c:axId val="372376704"/>
      </c:lineChart>
      <c:catAx>
        <c:axId val="37325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2376704"/>
        <c:crosses val="autoZero"/>
        <c:auto val="1"/>
        <c:lblAlgn val="ctr"/>
        <c:lblOffset val="100"/>
        <c:noMultiLvlLbl val="0"/>
      </c:catAx>
      <c:valAx>
        <c:axId val="37237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325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dirty="0" err="1"/>
              <a:t>메뉴별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페이지뷰</a:t>
            </a:r>
            <a:r>
              <a:rPr lang="ko-KR" altLang="en-US" sz="1000" dirty="0"/>
              <a:t> </a:t>
            </a:r>
            <a:r>
              <a:rPr lang="en-US" altLang="ko-KR" sz="1000" dirty="0"/>
              <a:t>TOP 20</a:t>
            </a:r>
            <a:endParaRPr lang="ko-KR" altLang="en-US" sz="1000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페이지뷰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회사소개</c:v>
                </c:pt>
                <c:pt idx="1">
                  <c:v>워크샵</c:v>
                </c:pt>
                <c:pt idx="2">
                  <c:v>비즈니스</c:v>
                </c:pt>
                <c:pt idx="3">
                  <c:v>UCMS 2.0</c:v>
                </c:pt>
                <c:pt idx="4">
                  <c:v>CAREER</c:v>
                </c:pt>
                <c:pt idx="5">
                  <c:v>채용정보</c:v>
                </c:pt>
                <c:pt idx="6">
                  <c:v>파트너</c:v>
                </c:pt>
                <c:pt idx="7">
                  <c:v>갤러리</c:v>
                </c:pt>
                <c:pt idx="8">
                  <c:v>설문조사</c:v>
                </c:pt>
                <c:pt idx="9">
                  <c:v>회사소개</c:v>
                </c:pt>
                <c:pt idx="10">
                  <c:v>워크샵</c:v>
                </c:pt>
                <c:pt idx="11">
                  <c:v>비즈니스</c:v>
                </c:pt>
                <c:pt idx="12">
                  <c:v>UCMS 2.0</c:v>
                </c:pt>
                <c:pt idx="13">
                  <c:v>CAREER</c:v>
                </c:pt>
                <c:pt idx="14">
                  <c:v>채용정보</c:v>
                </c:pt>
                <c:pt idx="15">
                  <c:v>파트너</c:v>
                </c:pt>
                <c:pt idx="16">
                  <c:v>갤러리</c:v>
                </c:pt>
                <c:pt idx="17">
                  <c:v>설문조사</c:v>
                </c:pt>
                <c:pt idx="18">
                  <c:v>갤러리</c:v>
                </c:pt>
                <c:pt idx="19">
                  <c:v>설문조사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  <c:pt idx="3">
                  <c:v>100</c:v>
                </c:pt>
                <c:pt idx="4">
                  <c:v>30</c:v>
                </c:pt>
                <c:pt idx="5">
                  <c:v>40</c:v>
                </c:pt>
                <c:pt idx="6">
                  <c:v>70</c:v>
                </c:pt>
                <c:pt idx="7">
                  <c:v>30</c:v>
                </c:pt>
                <c:pt idx="8">
                  <c:v>80</c:v>
                </c:pt>
                <c:pt idx="9">
                  <c:v>100</c:v>
                </c:pt>
                <c:pt idx="10">
                  <c:v>80</c:v>
                </c:pt>
                <c:pt idx="11">
                  <c:v>30</c:v>
                </c:pt>
                <c:pt idx="12">
                  <c:v>100</c:v>
                </c:pt>
                <c:pt idx="13">
                  <c:v>30</c:v>
                </c:pt>
                <c:pt idx="14">
                  <c:v>40</c:v>
                </c:pt>
                <c:pt idx="15">
                  <c:v>70</c:v>
                </c:pt>
                <c:pt idx="16">
                  <c:v>30</c:v>
                </c:pt>
                <c:pt idx="17">
                  <c:v>80</c:v>
                </c:pt>
                <c:pt idx="18">
                  <c:v>30</c:v>
                </c:pt>
                <c:pt idx="19">
                  <c:v>80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A87-49C5-9D6D-4E6449818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3076480"/>
        <c:axId val="372380736"/>
      </c:barChart>
      <c:catAx>
        <c:axId val="373076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2380736"/>
        <c:crosses val="autoZero"/>
        <c:auto val="1"/>
        <c:lblAlgn val="ctr"/>
        <c:lblOffset val="100"/>
        <c:noMultiLvlLbl val="0"/>
      </c:catAx>
      <c:valAx>
        <c:axId val="372380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307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dirty="0"/>
              <a:t>운영체제별 접속통계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페이지뷰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윈도우7</c:v>
                </c:pt>
                <c:pt idx="1">
                  <c:v>윈도우10</c:v>
                </c:pt>
                <c:pt idx="2">
                  <c:v>안드로이드 4.1</c:v>
                </c:pt>
                <c:pt idx="3">
                  <c:v>IOS 9</c:v>
                </c:pt>
                <c:pt idx="4">
                  <c:v>IOS 9.2</c:v>
                </c:pt>
                <c:pt idx="5">
                  <c:v>window xp</c:v>
                </c:pt>
                <c:pt idx="6">
                  <c:v>안드로이드 3.3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  <c:pt idx="3">
                  <c:v>100</c:v>
                </c:pt>
                <c:pt idx="4">
                  <c:v>30</c:v>
                </c:pt>
                <c:pt idx="5">
                  <c:v>40</c:v>
                </c:pt>
                <c:pt idx="6">
                  <c:v>70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A87-49C5-9D6D-4E64498182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방문자수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윈도우7</c:v>
                </c:pt>
                <c:pt idx="1">
                  <c:v>윈도우10</c:v>
                </c:pt>
                <c:pt idx="2">
                  <c:v>안드로이드 4.1</c:v>
                </c:pt>
                <c:pt idx="3">
                  <c:v>IOS 9</c:v>
                </c:pt>
                <c:pt idx="4">
                  <c:v>IOS 9.2</c:v>
                </c:pt>
                <c:pt idx="5">
                  <c:v>window xp</c:v>
                </c:pt>
                <c:pt idx="6">
                  <c:v>안드로이드 3.3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</c:v>
                </c:pt>
                <c:pt idx="1">
                  <c:v>70</c:v>
                </c:pt>
                <c:pt idx="2">
                  <c:v>20</c:v>
                </c:pt>
                <c:pt idx="3">
                  <c:v>80</c:v>
                </c:pt>
                <c:pt idx="4">
                  <c:v>24</c:v>
                </c:pt>
                <c:pt idx="5">
                  <c:v>34</c:v>
                </c:pt>
                <c:pt idx="6">
                  <c:v>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A87-49C5-9D6D-4E6449818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5939072"/>
        <c:axId val="372381312"/>
      </c:barChart>
      <c:catAx>
        <c:axId val="375939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2381312"/>
        <c:crosses val="autoZero"/>
        <c:auto val="1"/>
        <c:lblAlgn val="ctr"/>
        <c:lblOffset val="100"/>
        <c:noMultiLvlLbl val="0"/>
      </c:catAx>
      <c:valAx>
        <c:axId val="3723813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5939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dirty="0"/>
              <a:t>운영체제별 접속통계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페이지뷰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IE11</c:v>
                </c:pt>
                <c:pt idx="1">
                  <c:v>크롬 10</c:v>
                </c:pt>
                <c:pt idx="2">
                  <c:v>사파리</c:v>
                </c:pt>
                <c:pt idx="3">
                  <c:v>IE10</c:v>
                </c:pt>
                <c:pt idx="4">
                  <c:v>IE8</c:v>
                </c:pt>
                <c:pt idx="5">
                  <c:v>IE9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  <c:pt idx="3">
                  <c:v>100</c:v>
                </c:pt>
                <c:pt idx="4">
                  <c:v>30</c:v>
                </c:pt>
                <c:pt idx="5">
                  <c:v>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A87-49C5-9D6D-4E64498182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방문자수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IE11</c:v>
                </c:pt>
                <c:pt idx="1">
                  <c:v>크롬 10</c:v>
                </c:pt>
                <c:pt idx="2">
                  <c:v>사파리</c:v>
                </c:pt>
                <c:pt idx="3">
                  <c:v>IE10</c:v>
                </c:pt>
                <c:pt idx="4">
                  <c:v>IE8</c:v>
                </c:pt>
                <c:pt idx="5">
                  <c:v>IE9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70</c:v>
                </c:pt>
                <c:pt idx="2">
                  <c:v>20</c:v>
                </c:pt>
                <c:pt idx="3">
                  <c:v>80</c:v>
                </c:pt>
                <c:pt idx="4">
                  <c:v>24</c:v>
                </c:pt>
                <c:pt idx="5">
                  <c:v>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A87-49C5-9D6D-4E6449818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5797760"/>
        <c:axId val="374861760"/>
      </c:barChart>
      <c:catAx>
        <c:axId val="375797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4861760"/>
        <c:crosses val="autoZero"/>
        <c:auto val="1"/>
        <c:lblAlgn val="ctr"/>
        <c:lblOffset val="100"/>
        <c:noMultiLvlLbl val="0"/>
      </c:catAx>
      <c:valAx>
        <c:axId val="374861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5797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dirty="0"/>
              <a:t>운영체제별 접속통계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페이지뷰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PC</c:v>
                </c:pt>
                <c:pt idx="1">
                  <c:v>모바일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700</c:v>
                </c:pt>
                <c:pt idx="1">
                  <c:v>400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A87-49C5-9D6D-4E64498182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방문자수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PC</c:v>
                </c:pt>
                <c:pt idx="1">
                  <c:v>모바일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532</c:v>
                </c:pt>
                <c:pt idx="1">
                  <c:v>212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A87-49C5-9D6D-4E6449818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7411584"/>
        <c:axId val="374864640"/>
      </c:barChart>
      <c:catAx>
        <c:axId val="377411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4864640"/>
        <c:crosses val="autoZero"/>
        <c:auto val="1"/>
        <c:lblAlgn val="ctr"/>
        <c:lblOffset val="100"/>
        <c:noMultiLvlLbl val="0"/>
      </c:catAx>
      <c:valAx>
        <c:axId val="37486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7411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dirty="0"/>
              <a:t>첨부파일 다운로드 </a:t>
            </a:r>
            <a:r>
              <a:rPr lang="en-US" altLang="ko-KR" sz="1000" dirty="0"/>
              <a:t>TOP 20</a:t>
            </a:r>
            <a:endParaRPr lang="ko-KR" altLang="en-US" sz="1000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다운로드수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매뉴얼.PDF</c:v>
                </c:pt>
                <c:pt idx="1">
                  <c:v>상해워크샵 사진1.zip</c:v>
                </c:pt>
                <c:pt idx="2">
                  <c:v>상해워크샵 사진2.zip</c:v>
                </c:pt>
                <c:pt idx="3">
                  <c:v>정보처리방침.PDF</c:v>
                </c:pt>
                <c:pt idx="4">
                  <c:v>워크샵 사진1.jpg</c:v>
                </c:pt>
                <c:pt idx="5">
                  <c:v>워크샵 사진2.jpg</c:v>
                </c:pt>
                <c:pt idx="6">
                  <c:v>워크샵 사진3.jpg</c:v>
                </c:pt>
                <c:pt idx="7">
                  <c:v>워크샵 사진4.jpg</c:v>
                </c:pt>
                <c:pt idx="8">
                  <c:v>워크샵 사진5.jpg</c:v>
                </c:pt>
                <c:pt idx="9">
                  <c:v>워크샵 사진6.jpg</c:v>
                </c:pt>
                <c:pt idx="10">
                  <c:v>UCMS 소개.PDF</c:v>
                </c:pt>
                <c:pt idx="11">
                  <c:v>유앤피플소개.PDF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80</c:v>
                </c:pt>
                <c:pt idx="2">
                  <c:v>30</c:v>
                </c:pt>
                <c:pt idx="3">
                  <c:v>100</c:v>
                </c:pt>
                <c:pt idx="4">
                  <c:v>30</c:v>
                </c:pt>
                <c:pt idx="5">
                  <c:v>40</c:v>
                </c:pt>
                <c:pt idx="6">
                  <c:v>70</c:v>
                </c:pt>
                <c:pt idx="7">
                  <c:v>30</c:v>
                </c:pt>
                <c:pt idx="8">
                  <c:v>80</c:v>
                </c:pt>
                <c:pt idx="9">
                  <c:v>100</c:v>
                </c:pt>
                <c:pt idx="10">
                  <c:v>80</c:v>
                </c:pt>
                <c:pt idx="11">
                  <c:v>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CA7-4635-96A4-F5E8F23F4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9028992"/>
        <c:axId val="222915968"/>
      </c:barChart>
      <c:catAx>
        <c:axId val="379028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22915968"/>
        <c:crosses val="autoZero"/>
        <c:auto val="1"/>
        <c:lblAlgn val="ctr"/>
        <c:lblOffset val="100"/>
        <c:noMultiLvlLbl val="0"/>
      </c:catAx>
      <c:valAx>
        <c:axId val="222915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9028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dirty="0"/>
              <a:t>회원가입 만족도</a:t>
            </a:r>
            <a:endParaRPr lang="en-US" altLang="ko-KR" sz="1100" dirty="0"/>
          </a:p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dirty="0"/>
              <a:t>기간</a:t>
            </a:r>
            <a:r>
              <a:rPr lang="en-US" altLang="ko-KR" sz="1100" dirty="0"/>
              <a:t>(2016.12.01</a:t>
            </a:r>
            <a:r>
              <a:rPr lang="en-US" altLang="ko-KR" sz="1100" baseline="0" dirty="0"/>
              <a:t> ~ 2016.12.31)</a:t>
            </a:r>
            <a:endParaRPr lang="ko-KR" altLang="en-US" sz="1100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029-4C84-BB73-5F9A01E72D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029-4C84-BB73-5F9A01E72D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029-4C84-BB73-5F9A01E72D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029-4C84-BB73-5F9A01E72D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매우만족</c:v>
                </c:pt>
                <c:pt idx="1">
                  <c:v>만족</c:v>
                </c:pt>
                <c:pt idx="2">
                  <c:v>불만</c:v>
                </c:pt>
                <c:pt idx="3">
                  <c:v>매우불만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5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C029-4C84-BB73-5F9A01E72D2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5C23-C6D6-4CE1-8AE6-867FAAD009AC}" type="datetimeFigureOut">
              <a:rPr lang="ko-KR" altLang="en-US" smtClean="0"/>
              <a:pPr/>
              <a:t>2017-06-27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7CC3-2585-4F2E-8C3A-DC4CEE1B19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63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57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01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45202684"/>
              </p:ext>
            </p:extLst>
          </p:nvPr>
        </p:nvGraphicFramePr>
        <p:xfrm>
          <a:off x="7835006" y="548681"/>
          <a:ext cx="1980392" cy="5976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20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48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48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TYPE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4816">
                <a:tc gridSpan="2">
                  <a:txBody>
                    <a:bodyPr/>
                    <a:lstStyle/>
                    <a:p>
                      <a:pPr marL="0" marR="0" indent="0" algn="ctr" defTabSz="12800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42215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16670565"/>
              </p:ext>
            </p:extLst>
          </p:nvPr>
        </p:nvGraphicFramePr>
        <p:xfrm>
          <a:off x="164468" y="543956"/>
          <a:ext cx="7670538" cy="344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0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88878768"/>
                    </a:ext>
                  </a:extLst>
                </a:gridCol>
                <a:gridCol w="4538190">
                  <a:extLst>
                    <a:ext uri="{9D8B030D-6E8A-4147-A177-3AD203B41FA5}">
                      <a16:colId xmlns:a16="http://schemas.microsoft.com/office/drawing/2014/main" xmlns="" val="616852080"/>
                    </a:ext>
                  </a:extLst>
                </a:gridCol>
              </a:tblGrid>
              <a:tr h="3448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화면경로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63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24908007"/>
              </p:ext>
            </p:extLst>
          </p:nvPr>
        </p:nvGraphicFramePr>
        <p:xfrm>
          <a:off x="7835006" y="554014"/>
          <a:ext cx="1980392" cy="590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37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20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06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06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0662">
                <a:tc gridSpan="2">
                  <a:txBody>
                    <a:bodyPr/>
                    <a:lstStyle/>
                    <a:p>
                      <a:pPr marL="0" marR="0" indent="0" algn="ctr" defTabSz="12800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2669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 userDrawn="1"/>
        </p:nvSpPr>
        <p:spPr>
          <a:xfrm>
            <a:off x="182563" y="554015"/>
            <a:ext cx="1440067" cy="590465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182470" y="554014"/>
            <a:ext cx="1440067" cy="40504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2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19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800872" y="6597352"/>
            <a:ext cx="2311400" cy="246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0D182-0E45-4451-AC01-D47C207148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164468" y="6597352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167728" y="476672"/>
            <a:ext cx="96490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_x221216880" descr="EMB00001dc42ed4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467" y="6633356"/>
            <a:ext cx="657073" cy="20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5129760" y="188640"/>
            <a:ext cx="4683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/>
              <a:t>프로젝트 사업명 </a:t>
            </a:r>
            <a:r>
              <a:rPr lang="en-US" altLang="ko-KR" sz="1200" b="1" dirty="0"/>
              <a:t>– </a:t>
            </a:r>
            <a:r>
              <a:rPr lang="ko-KR" altLang="en-US" sz="1200" b="1" dirty="0" err="1"/>
              <a:t>맑은고딕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12PT BOLD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76" y="229443"/>
            <a:ext cx="837392" cy="1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7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1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://192.168.0.23:8108/bos/member/admin/forLogin.do" TargetMode="Externa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slideLayout" Target="../slideLayouts/slideLayout3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0.xml"/><Relationship Id="rId9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hyperlink" Target="http://192.168.0.23:8108/bos/member/admin/forLogin.do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4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hyperlink" Target="http://192.168.0.23:8108/bos/member/admin/forLogin.do" TargetMode="External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4.pn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64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hyperlink" Target="http://192.168.0.23:8108/bos/member/admin/forLogin.do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9" Type="http://schemas.openxmlformats.org/officeDocument/2006/relationships/hyperlink" Target="http://192.168.0.23:8108/bos/member/admin/forLogin.do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91.xml"/><Relationship Id="rId9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98.xml"/><Relationship Id="rId7" Type="http://schemas.openxmlformats.org/officeDocument/2006/relationships/hyperlink" Target="http://192.168.0.23:8108/bos/member/admin/forLogin.do" TargetMode="Externa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00.xml"/><Relationship Id="rId4" Type="http://schemas.openxmlformats.org/officeDocument/2006/relationships/tags" Target="../tags/tag9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5" Type="http://schemas.openxmlformats.org/officeDocument/2006/relationships/tags" Target="../tags/tag105.xml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image" Target="../media/image8.png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tags" Target="../tags/tag134.xml"/><Relationship Id="rId2" Type="http://schemas.openxmlformats.org/officeDocument/2006/relationships/tags" Target="../tags/tag124.xml"/><Relationship Id="rId16" Type="http://schemas.openxmlformats.org/officeDocument/2006/relationships/image" Target="../media/image9.png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7.pn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hyperlink" Target="http://192.168.0.23:8108/bos/member/admin/forLogin.do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0" Type="http://schemas.openxmlformats.org/officeDocument/2006/relationships/tags" Target="../tags/tag144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6" Type="http://schemas.openxmlformats.org/officeDocument/2006/relationships/image" Target="../media/image10.png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7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hyperlink" Target="http://192.168.0.23:8108/bos/member/admin/forLogin.do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5" Type="http://schemas.openxmlformats.org/officeDocument/2006/relationships/tags" Target="../tags/tag173.xml"/><Relationship Id="rId15" Type="http://schemas.openxmlformats.org/officeDocument/2006/relationships/image" Target="../media/image8.png"/><Relationship Id="rId10" Type="http://schemas.openxmlformats.org/officeDocument/2006/relationships/tags" Target="../tags/tag178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12" Type="http://schemas.openxmlformats.org/officeDocument/2006/relationships/tags" Target="../tags/tag191.xml"/><Relationship Id="rId2" Type="http://schemas.openxmlformats.org/officeDocument/2006/relationships/tags" Target="../tags/tag181.xml"/><Relationship Id="rId16" Type="http://schemas.openxmlformats.org/officeDocument/2006/relationships/image" Target="../media/image9.png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5" Type="http://schemas.openxmlformats.org/officeDocument/2006/relationships/tags" Target="../tags/tag184.xml"/><Relationship Id="rId15" Type="http://schemas.openxmlformats.org/officeDocument/2006/relationships/image" Target="../media/image7.png"/><Relationship Id="rId10" Type="http://schemas.openxmlformats.org/officeDocument/2006/relationships/tags" Target="../tags/tag189.xml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hyperlink" Target="http://192.168.0.23:8108/bos/member/admin/forLogin.do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tags" Target="../tags/tag202.xml"/><Relationship Id="rId5" Type="http://schemas.openxmlformats.org/officeDocument/2006/relationships/tags" Target="../tags/tag196.xml"/><Relationship Id="rId10" Type="http://schemas.openxmlformats.org/officeDocument/2006/relationships/tags" Target="../tags/tag201.xml"/><Relationship Id="rId4" Type="http://schemas.openxmlformats.org/officeDocument/2006/relationships/tags" Target="../tags/tag195.xml"/><Relationship Id="rId9" Type="http://schemas.openxmlformats.org/officeDocument/2006/relationships/tags" Target="../tags/tag200.xml"/><Relationship Id="rId1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2" Type="http://schemas.openxmlformats.org/officeDocument/2006/relationships/tags" Target="../tags/tag204.xml"/><Relationship Id="rId16" Type="http://schemas.openxmlformats.org/officeDocument/2006/relationships/image" Target="../media/image10.png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5" Type="http://schemas.openxmlformats.org/officeDocument/2006/relationships/image" Target="../media/image7.png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hyperlink" Target="http://192.168.0.23:8108/bos/member/admin/forLogin.do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22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234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9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40.xml"/><Relationship Id="rId7" Type="http://schemas.openxmlformats.org/officeDocument/2006/relationships/hyperlink" Target="http://192.168.0.23:8108/bos/member/admin/forLogin.do" TargetMode="Externa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42.xml"/><Relationship Id="rId4" Type="http://schemas.openxmlformats.org/officeDocument/2006/relationships/tags" Target="../tags/tag24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24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9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56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251.xml"/><Relationship Id="rId7" Type="http://schemas.openxmlformats.org/officeDocument/2006/relationships/tags" Target="../tags/tag255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tags" Target="../tags/tag254.xml"/><Relationship Id="rId11" Type="http://schemas.openxmlformats.org/officeDocument/2006/relationships/tags" Target="../tags/tag259.xml"/><Relationship Id="rId5" Type="http://schemas.openxmlformats.org/officeDocument/2006/relationships/tags" Target="../tags/tag253.xml"/><Relationship Id="rId15" Type="http://schemas.openxmlformats.org/officeDocument/2006/relationships/image" Target="../media/image10.png"/><Relationship Id="rId10" Type="http://schemas.openxmlformats.org/officeDocument/2006/relationships/tags" Target="../tags/tag258.xml"/><Relationship Id="rId4" Type="http://schemas.openxmlformats.org/officeDocument/2006/relationships/tags" Target="../tags/tag252.xml"/><Relationship Id="rId9" Type="http://schemas.openxmlformats.org/officeDocument/2006/relationships/tags" Target="../tags/tag257.xml"/><Relationship Id="rId1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262.xml"/><Relationship Id="rId7" Type="http://schemas.openxmlformats.org/officeDocument/2006/relationships/hyperlink" Target="http://192.168.0.23:8108/bos/member/admin/forLogin.do" TargetMode="Externa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64.xml"/><Relationship Id="rId4" Type="http://schemas.openxmlformats.org/officeDocument/2006/relationships/tags" Target="../tags/tag26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72.xml"/><Relationship Id="rId3" Type="http://schemas.openxmlformats.org/officeDocument/2006/relationships/tags" Target="../tags/tag267.xml"/><Relationship Id="rId7" Type="http://schemas.openxmlformats.org/officeDocument/2006/relationships/tags" Target="../tags/tag271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268.xml"/><Relationship Id="rId9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75.xml"/><Relationship Id="rId7" Type="http://schemas.openxmlformats.org/officeDocument/2006/relationships/tags" Target="../tags/tag279.xml"/><Relationship Id="rId2" Type="http://schemas.openxmlformats.org/officeDocument/2006/relationships/tags" Target="../tags/tag274.xml"/><Relationship Id="rId1" Type="http://schemas.openxmlformats.org/officeDocument/2006/relationships/tags" Target="../tags/tag273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" Type="http://schemas.openxmlformats.org/officeDocument/2006/relationships/tags" Target="../tags/tag276.xml"/><Relationship Id="rId9" Type="http://schemas.openxmlformats.org/officeDocument/2006/relationships/hyperlink" Target="http://192.168.0.23:8108/bos/member/admin/forLogin.do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283.xml"/><Relationship Id="rId9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95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290.xml"/><Relationship Id="rId7" Type="http://schemas.openxmlformats.org/officeDocument/2006/relationships/tags" Target="../tags/tag294.xml"/><Relationship Id="rId12" Type="http://schemas.openxmlformats.org/officeDocument/2006/relationships/tags" Target="../tags/tag299.xml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6" Type="http://schemas.openxmlformats.org/officeDocument/2006/relationships/tags" Target="../tags/tag293.xml"/><Relationship Id="rId11" Type="http://schemas.openxmlformats.org/officeDocument/2006/relationships/tags" Target="../tags/tag298.xml"/><Relationship Id="rId5" Type="http://schemas.openxmlformats.org/officeDocument/2006/relationships/tags" Target="../tags/tag292.xml"/><Relationship Id="rId15" Type="http://schemas.openxmlformats.org/officeDocument/2006/relationships/image" Target="../media/image14.png"/><Relationship Id="rId10" Type="http://schemas.openxmlformats.org/officeDocument/2006/relationships/tags" Target="../tags/tag297.xml"/><Relationship Id="rId4" Type="http://schemas.openxmlformats.org/officeDocument/2006/relationships/tags" Target="../tags/tag291.xml"/><Relationship Id="rId9" Type="http://schemas.openxmlformats.org/officeDocument/2006/relationships/tags" Target="../tags/tag296.xml"/><Relationship Id="rId14" Type="http://schemas.openxmlformats.org/officeDocument/2006/relationships/hyperlink" Target="http://192.168.0.23:8108/bos/member/admin/forLogin.do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3" Type="http://schemas.openxmlformats.org/officeDocument/2006/relationships/tags" Target="../tags/tag302.xml"/><Relationship Id="rId7" Type="http://schemas.openxmlformats.org/officeDocument/2006/relationships/tags" Target="../tags/tag306.xml"/><Relationship Id="rId12" Type="http://schemas.openxmlformats.org/officeDocument/2006/relationships/image" Target="../media/image6.png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hyperlink" Target="http://www.naver.com/" TargetMode="External"/><Relationship Id="rId5" Type="http://schemas.openxmlformats.org/officeDocument/2006/relationships/tags" Target="../tags/tag304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03.xml"/><Relationship Id="rId9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2" Type="http://schemas.openxmlformats.org/officeDocument/2006/relationships/tags" Target="../tags/tag309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image" Target="../media/image6.png"/><Relationship Id="rId5" Type="http://schemas.openxmlformats.org/officeDocument/2006/relationships/tags" Target="../tags/tag312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11.xml"/><Relationship Id="rId9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23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318.xml"/><Relationship Id="rId7" Type="http://schemas.openxmlformats.org/officeDocument/2006/relationships/tags" Target="../tags/tag322.xml"/><Relationship Id="rId12" Type="http://schemas.openxmlformats.org/officeDocument/2006/relationships/tags" Target="../tags/tag327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6" Type="http://schemas.openxmlformats.org/officeDocument/2006/relationships/tags" Target="../tags/tag321.xml"/><Relationship Id="rId11" Type="http://schemas.openxmlformats.org/officeDocument/2006/relationships/tags" Target="../tags/tag326.xml"/><Relationship Id="rId5" Type="http://schemas.openxmlformats.org/officeDocument/2006/relationships/tags" Target="../tags/tag320.xml"/><Relationship Id="rId15" Type="http://schemas.openxmlformats.org/officeDocument/2006/relationships/image" Target="../media/image14.png"/><Relationship Id="rId10" Type="http://schemas.openxmlformats.org/officeDocument/2006/relationships/tags" Target="../tags/tag325.xml"/><Relationship Id="rId4" Type="http://schemas.openxmlformats.org/officeDocument/2006/relationships/tags" Target="../tags/tag319.xml"/><Relationship Id="rId9" Type="http://schemas.openxmlformats.org/officeDocument/2006/relationships/tags" Target="../tags/tag324.xml"/><Relationship Id="rId14" Type="http://schemas.openxmlformats.org/officeDocument/2006/relationships/hyperlink" Target="http://192.168.0.23:8108/bos/member/admin/forLogin.do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335.xml"/><Relationship Id="rId3" Type="http://schemas.openxmlformats.org/officeDocument/2006/relationships/tags" Target="../tags/tag330.xml"/><Relationship Id="rId7" Type="http://schemas.openxmlformats.org/officeDocument/2006/relationships/tags" Target="../tags/tag334.xml"/><Relationship Id="rId12" Type="http://schemas.openxmlformats.org/officeDocument/2006/relationships/image" Target="../media/image6.png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6" Type="http://schemas.openxmlformats.org/officeDocument/2006/relationships/tags" Target="../tags/tag333.xml"/><Relationship Id="rId11" Type="http://schemas.openxmlformats.org/officeDocument/2006/relationships/hyperlink" Target="http://www.naver.com/" TargetMode="External"/><Relationship Id="rId5" Type="http://schemas.openxmlformats.org/officeDocument/2006/relationships/tags" Target="../tags/tag332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31.xml"/><Relationship Id="rId9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343.xml"/><Relationship Id="rId3" Type="http://schemas.openxmlformats.org/officeDocument/2006/relationships/tags" Target="../tags/tag338.xml"/><Relationship Id="rId7" Type="http://schemas.openxmlformats.org/officeDocument/2006/relationships/tags" Target="../tags/tag342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1" Type="http://schemas.openxmlformats.org/officeDocument/2006/relationships/image" Target="../media/image6.png"/><Relationship Id="rId5" Type="http://schemas.openxmlformats.org/officeDocument/2006/relationships/tags" Target="../tags/tag340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39.xml"/><Relationship Id="rId9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51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346.xml"/><Relationship Id="rId7" Type="http://schemas.openxmlformats.org/officeDocument/2006/relationships/tags" Target="../tags/tag350.xml"/><Relationship Id="rId12" Type="http://schemas.openxmlformats.org/officeDocument/2006/relationships/tags" Target="../tags/tag355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tags" Target="../tags/tag354.xml"/><Relationship Id="rId5" Type="http://schemas.openxmlformats.org/officeDocument/2006/relationships/tags" Target="../tags/tag348.xml"/><Relationship Id="rId15" Type="http://schemas.openxmlformats.org/officeDocument/2006/relationships/hyperlink" Target="http://www.naver.com/" TargetMode="External"/><Relationship Id="rId10" Type="http://schemas.openxmlformats.org/officeDocument/2006/relationships/tags" Target="../tags/tag353.xml"/><Relationship Id="rId4" Type="http://schemas.openxmlformats.org/officeDocument/2006/relationships/tags" Target="../tags/tag347.xml"/><Relationship Id="rId9" Type="http://schemas.openxmlformats.org/officeDocument/2006/relationships/tags" Target="../tags/tag352.xml"/><Relationship Id="rId14" Type="http://schemas.openxmlformats.org/officeDocument/2006/relationships/hyperlink" Target="http://192.168.0.23:8108/bos/member/admin/forLogin.do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3" Type="http://schemas.openxmlformats.org/officeDocument/2006/relationships/tags" Target="../tags/tag358.xml"/><Relationship Id="rId7" Type="http://schemas.openxmlformats.org/officeDocument/2006/relationships/tags" Target="../tags/tag362.xml"/><Relationship Id="rId12" Type="http://schemas.openxmlformats.org/officeDocument/2006/relationships/image" Target="../media/image6.png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11" Type="http://schemas.openxmlformats.org/officeDocument/2006/relationships/hyperlink" Target="http://www.naver.com/" TargetMode="External"/><Relationship Id="rId5" Type="http://schemas.openxmlformats.org/officeDocument/2006/relationships/tags" Target="../tags/tag360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59.xml"/><Relationship Id="rId9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tags" Target="../tags/tag369.xml"/><Relationship Id="rId11" Type="http://schemas.openxmlformats.org/officeDocument/2006/relationships/image" Target="../media/image6.png"/><Relationship Id="rId5" Type="http://schemas.openxmlformats.org/officeDocument/2006/relationships/tags" Target="../tags/tag368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67.xml"/><Relationship Id="rId9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379.xml"/><Relationship Id="rId3" Type="http://schemas.openxmlformats.org/officeDocument/2006/relationships/tags" Target="../tags/tag374.xml"/><Relationship Id="rId7" Type="http://schemas.openxmlformats.org/officeDocument/2006/relationships/tags" Target="../tags/tag378.xml"/><Relationship Id="rId2" Type="http://schemas.openxmlformats.org/officeDocument/2006/relationships/tags" Target="../tags/tag373.xml"/><Relationship Id="rId1" Type="http://schemas.openxmlformats.org/officeDocument/2006/relationships/tags" Target="../tags/tag372.xml"/><Relationship Id="rId6" Type="http://schemas.openxmlformats.org/officeDocument/2006/relationships/tags" Target="../tags/tag377.xml"/><Relationship Id="rId11" Type="http://schemas.openxmlformats.org/officeDocument/2006/relationships/image" Target="../media/image6.png"/><Relationship Id="rId5" Type="http://schemas.openxmlformats.org/officeDocument/2006/relationships/tags" Target="../tags/tag376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75.xml"/><Relationship Id="rId9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387.xml"/><Relationship Id="rId3" Type="http://schemas.openxmlformats.org/officeDocument/2006/relationships/tags" Target="../tags/tag382.xml"/><Relationship Id="rId7" Type="http://schemas.openxmlformats.org/officeDocument/2006/relationships/tags" Target="../tags/tag386.xml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6" Type="http://schemas.openxmlformats.org/officeDocument/2006/relationships/tags" Target="../tags/tag385.xml"/><Relationship Id="rId11" Type="http://schemas.openxmlformats.org/officeDocument/2006/relationships/image" Target="../media/image15.png"/><Relationship Id="rId5" Type="http://schemas.openxmlformats.org/officeDocument/2006/relationships/tags" Target="../tags/tag384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83.xml"/><Relationship Id="rId9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3" Type="http://schemas.openxmlformats.org/officeDocument/2006/relationships/tags" Target="../tags/tag390.xml"/><Relationship Id="rId7" Type="http://schemas.openxmlformats.org/officeDocument/2006/relationships/tags" Target="../tags/tag394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391.xml"/><Relationship Id="rId9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398.xml"/><Relationship Id="rId7" Type="http://schemas.openxmlformats.org/officeDocument/2006/relationships/tags" Target="../tags/tag402.xml"/><Relationship Id="rId2" Type="http://schemas.openxmlformats.org/officeDocument/2006/relationships/tags" Target="../tags/tag397.xml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tags" Target="../tags/tag399.xml"/><Relationship Id="rId9" Type="http://schemas.openxmlformats.org/officeDocument/2006/relationships/hyperlink" Target="http://192.168.0.23:8108/bos/member/admin/forLogin.do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405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404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5" Type="http://schemas.openxmlformats.org/officeDocument/2006/relationships/tags" Target="../tags/tag407.xml"/><Relationship Id="rId4" Type="http://schemas.openxmlformats.org/officeDocument/2006/relationships/tags" Target="../tags/tag406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411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410.xml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5" Type="http://schemas.openxmlformats.org/officeDocument/2006/relationships/tags" Target="../tags/tag413.xml"/><Relationship Id="rId4" Type="http://schemas.openxmlformats.org/officeDocument/2006/relationships/tags" Target="../tags/tag412.xml"/><Relationship Id="rId9" Type="http://schemas.openxmlformats.org/officeDocument/2006/relationships/hyperlink" Target="mailto:tes***@naver.com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41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9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2" Type="http://schemas.openxmlformats.org/officeDocument/2006/relationships/tags" Target="../tags/tag422.xml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11" Type="http://schemas.openxmlformats.org/officeDocument/2006/relationships/image" Target="../media/image17.png"/><Relationship Id="rId5" Type="http://schemas.openxmlformats.org/officeDocument/2006/relationships/tags" Target="../tags/tag425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424.xml"/><Relationship Id="rId9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hyperlink" Target="http://192.168.0.23:8108/bos/member/admin/forLogin.do" TargetMode="Externa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43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9" Type="http://schemas.openxmlformats.org/officeDocument/2006/relationships/hyperlink" Target="http://192.168.0.23:8108/bos/member/admin/forLogin.do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447.xml"/><Relationship Id="rId3" Type="http://schemas.openxmlformats.org/officeDocument/2006/relationships/tags" Target="../tags/tag442.xml"/><Relationship Id="rId7" Type="http://schemas.openxmlformats.org/officeDocument/2006/relationships/tags" Target="../tags/tag446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443.xml"/><Relationship Id="rId9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455.xml"/><Relationship Id="rId13" Type="http://schemas.openxmlformats.org/officeDocument/2006/relationships/image" Target="../media/image17.png"/><Relationship Id="rId3" Type="http://schemas.openxmlformats.org/officeDocument/2006/relationships/tags" Target="../tags/tag450.xml"/><Relationship Id="rId7" Type="http://schemas.openxmlformats.org/officeDocument/2006/relationships/tags" Target="../tags/tag454.xml"/><Relationship Id="rId12" Type="http://schemas.openxmlformats.org/officeDocument/2006/relationships/image" Target="../media/image6.png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tags" Target="../tags/tag453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452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451.xml"/><Relationship Id="rId9" Type="http://schemas.openxmlformats.org/officeDocument/2006/relationships/tags" Target="../tags/tag45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459.xml"/><Relationship Id="rId7" Type="http://schemas.openxmlformats.org/officeDocument/2006/relationships/tags" Target="../tags/tag463.xml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9" Type="http://schemas.openxmlformats.org/officeDocument/2006/relationships/hyperlink" Target="http://192.168.0.23:8108/bos/member/admin/forLogin.do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0" Type="http://schemas.openxmlformats.org/officeDocument/2006/relationships/tags" Target="../tags/tag473.xml"/><Relationship Id="rId4" Type="http://schemas.openxmlformats.org/officeDocument/2006/relationships/tags" Target="../tags/tag467.xml"/><Relationship Id="rId9" Type="http://schemas.openxmlformats.org/officeDocument/2006/relationships/tags" Target="../tags/tag472.xml"/><Relationship Id="rId1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482.xml"/><Relationship Id="rId13" Type="http://schemas.openxmlformats.org/officeDocument/2006/relationships/image" Target="../media/image17.png"/><Relationship Id="rId3" Type="http://schemas.openxmlformats.org/officeDocument/2006/relationships/tags" Target="../tags/tag477.xml"/><Relationship Id="rId7" Type="http://schemas.openxmlformats.org/officeDocument/2006/relationships/tags" Target="../tags/tag481.xml"/><Relationship Id="rId12" Type="http://schemas.openxmlformats.org/officeDocument/2006/relationships/image" Target="../media/image6.png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tags" Target="../tags/tag480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479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478.xml"/><Relationship Id="rId9" Type="http://schemas.openxmlformats.org/officeDocument/2006/relationships/tags" Target="../tags/tag48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486.xml"/><Relationship Id="rId7" Type="http://schemas.openxmlformats.org/officeDocument/2006/relationships/tags" Target="../tags/tag490.xml"/><Relationship Id="rId2" Type="http://schemas.openxmlformats.org/officeDocument/2006/relationships/tags" Target="../tags/tag485.xml"/><Relationship Id="rId1" Type="http://schemas.openxmlformats.org/officeDocument/2006/relationships/tags" Target="../tags/tag484.xml"/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9" Type="http://schemas.openxmlformats.org/officeDocument/2006/relationships/hyperlink" Target="http://192.168.0.23:8108/bos/member/admin/forLogin.do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498.xml"/><Relationship Id="rId3" Type="http://schemas.openxmlformats.org/officeDocument/2006/relationships/tags" Target="../tags/tag493.xml"/><Relationship Id="rId7" Type="http://schemas.openxmlformats.org/officeDocument/2006/relationships/tags" Target="../tags/tag497.xml"/><Relationship Id="rId2" Type="http://schemas.openxmlformats.org/officeDocument/2006/relationships/tags" Target="../tags/tag492.xml"/><Relationship Id="rId1" Type="http://schemas.openxmlformats.org/officeDocument/2006/relationships/tags" Target="../tags/tag491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494.xml"/><Relationship Id="rId9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506.xml"/><Relationship Id="rId13" Type="http://schemas.openxmlformats.org/officeDocument/2006/relationships/image" Target="../media/image17.png"/><Relationship Id="rId3" Type="http://schemas.openxmlformats.org/officeDocument/2006/relationships/tags" Target="../tags/tag501.xml"/><Relationship Id="rId7" Type="http://schemas.openxmlformats.org/officeDocument/2006/relationships/tags" Target="../tags/tag505.xml"/><Relationship Id="rId12" Type="http://schemas.openxmlformats.org/officeDocument/2006/relationships/image" Target="../media/image6.png"/><Relationship Id="rId2" Type="http://schemas.openxmlformats.org/officeDocument/2006/relationships/tags" Target="../tags/tag500.xml"/><Relationship Id="rId1" Type="http://schemas.openxmlformats.org/officeDocument/2006/relationships/tags" Target="../tags/tag499.xml"/><Relationship Id="rId6" Type="http://schemas.openxmlformats.org/officeDocument/2006/relationships/tags" Target="../tags/tag504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503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02.xml"/><Relationship Id="rId9" Type="http://schemas.openxmlformats.org/officeDocument/2006/relationships/tags" Target="../tags/tag50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10.xml"/><Relationship Id="rId7" Type="http://schemas.openxmlformats.org/officeDocument/2006/relationships/tags" Target="../tags/tag514.xml"/><Relationship Id="rId2" Type="http://schemas.openxmlformats.org/officeDocument/2006/relationships/tags" Target="../tags/tag509.xml"/><Relationship Id="rId1" Type="http://schemas.openxmlformats.org/officeDocument/2006/relationships/tags" Target="../tags/tag508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9" Type="http://schemas.openxmlformats.org/officeDocument/2006/relationships/hyperlink" Target="http://192.168.0.23:8108/bos/member/admin/forLogin.do" TargetMode="Externa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522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517.xml"/><Relationship Id="rId7" Type="http://schemas.openxmlformats.org/officeDocument/2006/relationships/tags" Target="../tags/tag521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516.xml"/><Relationship Id="rId1" Type="http://schemas.openxmlformats.org/officeDocument/2006/relationships/tags" Target="../tags/tag515.xml"/><Relationship Id="rId6" Type="http://schemas.openxmlformats.org/officeDocument/2006/relationships/tags" Target="../tags/tag520.xml"/><Relationship Id="rId11" Type="http://schemas.openxmlformats.org/officeDocument/2006/relationships/tags" Target="../tags/tag525.xml"/><Relationship Id="rId5" Type="http://schemas.openxmlformats.org/officeDocument/2006/relationships/tags" Target="../tags/tag519.xml"/><Relationship Id="rId10" Type="http://schemas.openxmlformats.org/officeDocument/2006/relationships/tags" Target="../tags/tag524.xml"/><Relationship Id="rId4" Type="http://schemas.openxmlformats.org/officeDocument/2006/relationships/tags" Target="../tags/tag518.xml"/><Relationship Id="rId9" Type="http://schemas.openxmlformats.org/officeDocument/2006/relationships/tags" Target="../tags/tag523.xml"/><Relationship Id="rId1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533.xml"/><Relationship Id="rId13" Type="http://schemas.openxmlformats.org/officeDocument/2006/relationships/image" Target="../media/image17.png"/><Relationship Id="rId3" Type="http://schemas.openxmlformats.org/officeDocument/2006/relationships/tags" Target="../tags/tag528.xml"/><Relationship Id="rId7" Type="http://schemas.openxmlformats.org/officeDocument/2006/relationships/tags" Target="../tags/tag532.xml"/><Relationship Id="rId12" Type="http://schemas.openxmlformats.org/officeDocument/2006/relationships/image" Target="../media/image6.png"/><Relationship Id="rId2" Type="http://schemas.openxmlformats.org/officeDocument/2006/relationships/tags" Target="../tags/tag527.xml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530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29.xml"/><Relationship Id="rId9" Type="http://schemas.openxmlformats.org/officeDocument/2006/relationships/tags" Target="../tags/tag53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542.xml"/><Relationship Id="rId13" Type="http://schemas.openxmlformats.org/officeDocument/2006/relationships/image" Target="../media/image17.png"/><Relationship Id="rId3" Type="http://schemas.openxmlformats.org/officeDocument/2006/relationships/tags" Target="../tags/tag537.xml"/><Relationship Id="rId7" Type="http://schemas.openxmlformats.org/officeDocument/2006/relationships/tags" Target="../tags/tag541.xml"/><Relationship Id="rId12" Type="http://schemas.openxmlformats.org/officeDocument/2006/relationships/image" Target="../media/image6.png"/><Relationship Id="rId2" Type="http://schemas.openxmlformats.org/officeDocument/2006/relationships/tags" Target="../tags/tag536.xml"/><Relationship Id="rId1" Type="http://schemas.openxmlformats.org/officeDocument/2006/relationships/tags" Target="../tags/tag535.xml"/><Relationship Id="rId6" Type="http://schemas.openxmlformats.org/officeDocument/2006/relationships/tags" Target="../tags/tag540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539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38.xml"/><Relationship Id="rId9" Type="http://schemas.openxmlformats.org/officeDocument/2006/relationships/tags" Target="../tags/tag54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46.xml"/><Relationship Id="rId7" Type="http://schemas.openxmlformats.org/officeDocument/2006/relationships/tags" Target="../tags/tag550.xml"/><Relationship Id="rId2" Type="http://schemas.openxmlformats.org/officeDocument/2006/relationships/tags" Target="../tags/tag545.xml"/><Relationship Id="rId1" Type="http://schemas.openxmlformats.org/officeDocument/2006/relationships/tags" Target="../tags/tag544.xml"/><Relationship Id="rId6" Type="http://schemas.openxmlformats.org/officeDocument/2006/relationships/tags" Target="../tags/tag549.xml"/><Relationship Id="rId5" Type="http://schemas.openxmlformats.org/officeDocument/2006/relationships/tags" Target="../tags/tag548.xml"/><Relationship Id="rId4" Type="http://schemas.openxmlformats.org/officeDocument/2006/relationships/tags" Target="../tags/tag547.xml"/><Relationship Id="rId9" Type="http://schemas.openxmlformats.org/officeDocument/2006/relationships/hyperlink" Target="http://192.168.0.23:8108/bos/member/admin/forLogin.do" TargetMode="Externa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558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553.xml"/><Relationship Id="rId7" Type="http://schemas.openxmlformats.org/officeDocument/2006/relationships/tags" Target="../tags/tag557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552.xml"/><Relationship Id="rId1" Type="http://schemas.openxmlformats.org/officeDocument/2006/relationships/tags" Target="../tags/tag551.xml"/><Relationship Id="rId6" Type="http://schemas.openxmlformats.org/officeDocument/2006/relationships/tags" Target="../tags/tag556.xml"/><Relationship Id="rId11" Type="http://schemas.openxmlformats.org/officeDocument/2006/relationships/tags" Target="../tags/tag561.xml"/><Relationship Id="rId5" Type="http://schemas.openxmlformats.org/officeDocument/2006/relationships/tags" Target="../tags/tag555.xml"/><Relationship Id="rId10" Type="http://schemas.openxmlformats.org/officeDocument/2006/relationships/tags" Target="../tags/tag560.xml"/><Relationship Id="rId4" Type="http://schemas.openxmlformats.org/officeDocument/2006/relationships/tags" Target="../tags/tag554.xml"/><Relationship Id="rId9" Type="http://schemas.openxmlformats.org/officeDocument/2006/relationships/tags" Target="../tags/tag559.xml"/><Relationship Id="rId1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569.xml"/><Relationship Id="rId13" Type="http://schemas.openxmlformats.org/officeDocument/2006/relationships/image" Target="../media/image17.png"/><Relationship Id="rId3" Type="http://schemas.openxmlformats.org/officeDocument/2006/relationships/tags" Target="../tags/tag564.xml"/><Relationship Id="rId7" Type="http://schemas.openxmlformats.org/officeDocument/2006/relationships/tags" Target="../tags/tag568.xml"/><Relationship Id="rId12" Type="http://schemas.openxmlformats.org/officeDocument/2006/relationships/image" Target="../media/image6.png"/><Relationship Id="rId2" Type="http://schemas.openxmlformats.org/officeDocument/2006/relationships/tags" Target="../tags/tag563.xml"/><Relationship Id="rId1" Type="http://schemas.openxmlformats.org/officeDocument/2006/relationships/tags" Target="../tags/tag562.xml"/><Relationship Id="rId6" Type="http://schemas.openxmlformats.org/officeDocument/2006/relationships/tags" Target="../tags/tag567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566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65.xml"/><Relationship Id="rId9" Type="http://schemas.openxmlformats.org/officeDocument/2006/relationships/tags" Target="../tags/tag570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73.xml"/><Relationship Id="rId7" Type="http://schemas.openxmlformats.org/officeDocument/2006/relationships/tags" Target="../tags/tag577.xml"/><Relationship Id="rId2" Type="http://schemas.openxmlformats.org/officeDocument/2006/relationships/tags" Target="../tags/tag572.xml"/><Relationship Id="rId1" Type="http://schemas.openxmlformats.org/officeDocument/2006/relationships/tags" Target="../tags/tag571.xml"/><Relationship Id="rId6" Type="http://schemas.openxmlformats.org/officeDocument/2006/relationships/tags" Target="../tags/tag576.xml"/><Relationship Id="rId5" Type="http://schemas.openxmlformats.org/officeDocument/2006/relationships/tags" Target="../tags/tag575.xml"/><Relationship Id="rId4" Type="http://schemas.openxmlformats.org/officeDocument/2006/relationships/tags" Target="../tags/tag574.xml"/><Relationship Id="rId9" Type="http://schemas.openxmlformats.org/officeDocument/2006/relationships/hyperlink" Target="http://192.168.0.23:8108/bos/member/admin/forLogin.do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585.xml"/><Relationship Id="rId13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580.xml"/><Relationship Id="rId7" Type="http://schemas.openxmlformats.org/officeDocument/2006/relationships/tags" Target="../tags/tag584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579.xml"/><Relationship Id="rId1" Type="http://schemas.openxmlformats.org/officeDocument/2006/relationships/tags" Target="../tags/tag578.xml"/><Relationship Id="rId6" Type="http://schemas.openxmlformats.org/officeDocument/2006/relationships/tags" Target="../tags/tag583.xml"/><Relationship Id="rId11" Type="http://schemas.openxmlformats.org/officeDocument/2006/relationships/tags" Target="../tags/tag588.xml"/><Relationship Id="rId5" Type="http://schemas.openxmlformats.org/officeDocument/2006/relationships/tags" Target="../tags/tag582.xml"/><Relationship Id="rId10" Type="http://schemas.openxmlformats.org/officeDocument/2006/relationships/tags" Target="../tags/tag587.xml"/><Relationship Id="rId4" Type="http://schemas.openxmlformats.org/officeDocument/2006/relationships/tags" Target="../tags/tag581.xml"/><Relationship Id="rId9" Type="http://schemas.openxmlformats.org/officeDocument/2006/relationships/tags" Target="../tags/tag586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596.xml"/><Relationship Id="rId13" Type="http://schemas.openxmlformats.org/officeDocument/2006/relationships/image" Target="../media/image17.png"/><Relationship Id="rId3" Type="http://schemas.openxmlformats.org/officeDocument/2006/relationships/tags" Target="../tags/tag591.xml"/><Relationship Id="rId7" Type="http://schemas.openxmlformats.org/officeDocument/2006/relationships/tags" Target="../tags/tag595.xml"/><Relationship Id="rId12" Type="http://schemas.openxmlformats.org/officeDocument/2006/relationships/image" Target="../media/image6.png"/><Relationship Id="rId2" Type="http://schemas.openxmlformats.org/officeDocument/2006/relationships/tags" Target="../tags/tag590.xml"/><Relationship Id="rId1" Type="http://schemas.openxmlformats.org/officeDocument/2006/relationships/tags" Target="../tags/tag589.xml"/><Relationship Id="rId6" Type="http://schemas.openxmlformats.org/officeDocument/2006/relationships/tags" Target="../tags/tag594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593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92.xml"/><Relationship Id="rId9" Type="http://schemas.openxmlformats.org/officeDocument/2006/relationships/tags" Target="../tags/tag59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605.xml"/><Relationship Id="rId3" Type="http://schemas.openxmlformats.org/officeDocument/2006/relationships/tags" Target="../tags/tag600.xml"/><Relationship Id="rId7" Type="http://schemas.openxmlformats.org/officeDocument/2006/relationships/tags" Target="../tags/tag604.xml"/><Relationship Id="rId12" Type="http://schemas.openxmlformats.org/officeDocument/2006/relationships/hyperlink" Target="http://192.168.0.23:8108/bos/member/admin/forLogin.do" TargetMode="External"/><Relationship Id="rId2" Type="http://schemas.openxmlformats.org/officeDocument/2006/relationships/tags" Target="../tags/tag599.xml"/><Relationship Id="rId1" Type="http://schemas.openxmlformats.org/officeDocument/2006/relationships/tags" Target="../tags/tag598.xml"/><Relationship Id="rId6" Type="http://schemas.openxmlformats.org/officeDocument/2006/relationships/tags" Target="../tags/tag603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602.xml"/><Relationship Id="rId10" Type="http://schemas.openxmlformats.org/officeDocument/2006/relationships/tags" Target="../tags/tag607.xml"/><Relationship Id="rId4" Type="http://schemas.openxmlformats.org/officeDocument/2006/relationships/tags" Target="../tags/tag601.xml"/><Relationship Id="rId9" Type="http://schemas.openxmlformats.org/officeDocument/2006/relationships/tags" Target="../tags/tag606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615.xml"/><Relationship Id="rId13" Type="http://schemas.openxmlformats.org/officeDocument/2006/relationships/image" Target="../media/image17.png"/><Relationship Id="rId3" Type="http://schemas.openxmlformats.org/officeDocument/2006/relationships/tags" Target="../tags/tag610.xml"/><Relationship Id="rId7" Type="http://schemas.openxmlformats.org/officeDocument/2006/relationships/tags" Target="../tags/tag614.xml"/><Relationship Id="rId12" Type="http://schemas.openxmlformats.org/officeDocument/2006/relationships/image" Target="../media/image6.png"/><Relationship Id="rId2" Type="http://schemas.openxmlformats.org/officeDocument/2006/relationships/tags" Target="../tags/tag609.xml"/><Relationship Id="rId1" Type="http://schemas.openxmlformats.org/officeDocument/2006/relationships/tags" Target="../tags/tag608.xml"/><Relationship Id="rId6" Type="http://schemas.openxmlformats.org/officeDocument/2006/relationships/tags" Target="../tags/tag613.xml"/><Relationship Id="rId11" Type="http://schemas.openxmlformats.org/officeDocument/2006/relationships/hyperlink" Target="http://192.168.0.23:8108/bos/member/admin/forLogin.do" TargetMode="External"/><Relationship Id="rId5" Type="http://schemas.openxmlformats.org/officeDocument/2006/relationships/tags" Target="../tags/tag612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611.xml"/><Relationship Id="rId9" Type="http://schemas.openxmlformats.org/officeDocument/2006/relationships/tags" Target="../tags/tag616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619.xml"/><Relationship Id="rId7" Type="http://schemas.openxmlformats.org/officeDocument/2006/relationships/tags" Target="../tags/tag623.xml"/><Relationship Id="rId2" Type="http://schemas.openxmlformats.org/officeDocument/2006/relationships/tags" Target="../tags/tag618.xml"/><Relationship Id="rId1" Type="http://schemas.openxmlformats.org/officeDocument/2006/relationships/tags" Target="../tags/tag617.xml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tags" Target="../tags/tag620.xml"/><Relationship Id="rId9" Type="http://schemas.openxmlformats.org/officeDocument/2006/relationships/hyperlink" Target="http://192.168.0.23:8108/bos/member/admin/forLogin.do" TargetMode="Externa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631.xml"/><Relationship Id="rId3" Type="http://schemas.openxmlformats.org/officeDocument/2006/relationships/tags" Target="../tags/tag626.xml"/><Relationship Id="rId7" Type="http://schemas.openxmlformats.org/officeDocument/2006/relationships/tags" Target="../tags/tag630.xml"/><Relationship Id="rId12" Type="http://schemas.openxmlformats.org/officeDocument/2006/relationships/hyperlink" Target="http://192.168.0.23:8108/bos/member/admin/forLogin.do" TargetMode="External"/><Relationship Id="rId2" Type="http://schemas.openxmlformats.org/officeDocument/2006/relationships/tags" Target="../tags/tag625.xml"/><Relationship Id="rId1" Type="http://schemas.openxmlformats.org/officeDocument/2006/relationships/tags" Target="../tags/tag624.xml"/><Relationship Id="rId6" Type="http://schemas.openxmlformats.org/officeDocument/2006/relationships/tags" Target="../tags/tag629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628.xml"/><Relationship Id="rId10" Type="http://schemas.openxmlformats.org/officeDocument/2006/relationships/tags" Target="../tags/tag633.xml"/><Relationship Id="rId4" Type="http://schemas.openxmlformats.org/officeDocument/2006/relationships/tags" Target="../tags/tag627.xml"/><Relationship Id="rId9" Type="http://schemas.openxmlformats.org/officeDocument/2006/relationships/tags" Target="../tags/tag63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636.xml"/><Relationship Id="rId7" Type="http://schemas.openxmlformats.org/officeDocument/2006/relationships/tags" Target="../tags/tag640.xml"/><Relationship Id="rId2" Type="http://schemas.openxmlformats.org/officeDocument/2006/relationships/tags" Target="../tags/tag635.xml"/><Relationship Id="rId1" Type="http://schemas.openxmlformats.org/officeDocument/2006/relationships/tags" Target="../tags/tag634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10" Type="http://schemas.openxmlformats.org/officeDocument/2006/relationships/image" Target="../media/image17.png"/><Relationship Id="rId4" Type="http://schemas.openxmlformats.org/officeDocument/2006/relationships/tags" Target="../tags/tag637.xml"/><Relationship Id="rId9" Type="http://schemas.openxmlformats.org/officeDocument/2006/relationships/hyperlink" Target="http://192.168.0.23:8108/bos/member/admin/forLogin.do" TargetMode="Externa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648.xml"/><Relationship Id="rId3" Type="http://schemas.openxmlformats.org/officeDocument/2006/relationships/tags" Target="../tags/tag643.xml"/><Relationship Id="rId7" Type="http://schemas.openxmlformats.org/officeDocument/2006/relationships/tags" Target="../tags/tag647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6" Type="http://schemas.openxmlformats.org/officeDocument/2006/relationships/tags" Target="../tags/tag646.xml"/><Relationship Id="rId11" Type="http://schemas.openxmlformats.org/officeDocument/2006/relationships/chart" Target="../charts/chart1.xml"/><Relationship Id="rId5" Type="http://schemas.openxmlformats.org/officeDocument/2006/relationships/tags" Target="../tags/tag645.xml"/><Relationship Id="rId10" Type="http://schemas.openxmlformats.org/officeDocument/2006/relationships/hyperlink" Target="http://192.168.0.23:8108/bos/member/admin/forLogin.do" TargetMode="External"/><Relationship Id="rId4" Type="http://schemas.openxmlformats.org/officeDocument/2006/relationships/tags" Target="../tags/tag644.xml"/><Relationship Id="rId9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51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50.xml"/><Relationship Id="rId1" Type="http://schemas.openxmlformats.org/officeDocument/2006/relationships/tags" Target="../tags/tag649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9" Type="http://schemas.openxmlformats.org/officeDocument/2006/relationships/chart" Target="../charts/char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5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56.xml"/><Relationship Id="rId1" Type="http://schemas.openxmlformats.org/officeDocument/2006/relationships/tags" Target="../tags/tag655.xml"/><Relationship Id="rId6" Type="http://schemas.openxmlformats.org/officeDocument/2006/relationships/tags" Target="../tags/tag660.xml"/><Relationship Id="rId5" Type="http://schemas.openxmlformats.org/officeDocument/2006/relationships/tags" Target="../tags/tag659.xml"/><Relationship Id="rId4" Type="http://schemas.openxmlformats.org/officeDocument/2006/relationships/tags" Target="../tags/tag658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63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62.xml"/><Relationship Id="rId1" Type="http://schemas.openxmlformats.org/officeDocument/2006/relationships/tags" Target="../tags/tag661.xml"/><Relationship Id="rId6" Type="http://schemas.openxmlformats.org/officeDocument/2006/relationships/tags" Target="../tags/tag666.xml"/><Relationship Id="rId5" Type="http://schemas.openxmlformats.org/officeDocument/2006/relationships/tags" Target="../tags/tag665.xml"/><Relationship Id="rId4" Type="http://schemas.openxmlformats.org/officeDocument/2006/relationships/tags" Target="../tags/tag664.xml"/><Relationship Id="rId9" Type="http://schemas.openxmlformats.org/officeDocument/2006/relationships/chart" Target="../charts/chart3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69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68.xml"/><Relationship Id="rId1" Type="http://schemas.openxmlformats.org/officeDocument/2006/relationships/tags" Target="../tags/tag667.xml"/><Relationship Id="rId6" Type="http://schemas.openxmlformats.org/officeDocument/2006/relationships/tags" Target="../tags/tag672.xml"/><Relationship Id="rId5" Type="http://schemas.openxmlformats.org/officeDocument/2006/relationships/tags" Target="../tags/tag671.xml"/><Relationship Id="rId4" Type="http://schemas.openxmlformats.org/officeDocument/2006/relationships/tags" Target="../tags/tag670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675.xml"/><Relationship Id="rId7" Type="http://schemas.openxmlformats.org/officeDocument/2006/relationships/tags" Target="../tags/tag679.xml"/><Relationship Id="rId2" Type="http://schemas.openxmlformats.org/officeDocument/2006/relationships/tags" Target="../tags/tag674.xml"/><Relationship Id="rId1" Type="http://schemas.openxmlformats.org/officeDocument/2006/relationships/tags" Target="../tags/tag673.xml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10" Type="http://schemas.openxmlformats.org/officeDocument/2006/relationships/chart" Target="../charts/chart4.xml"/><Relationship Id="rId4" Type="http://schemas.openxmlformats.org/officeDocument/2006/relationships/tags" Target="../tags/tag676.xml"/><Relationship Id="rId9" Type="http://schemas.openxmlformats.org/officeDocument/2006/relationships/hyperlink" Target="http://192.168.0.23:8108/bos/member/admin/forLogin.do" TargetMode="Externa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82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81.xml"/><Relationship Id="rId1" Type="http://schemas.openxmlformats.org/officeDocument/2006/relationships/tags" Target="../tags/tag680.xml"/><Relationship Id="rId6" Type="http://schemas.openxmlformats.org/officeDocument/2006/relationships/tags" Target="../tags/tag685.xml"/><Relationship Id="rId5" Type="http://schemas.openxmlformats.org/officeDocument/2006/relationships/tags" Target="../tags/tag684.xml"/><Relationship Id="rId4" Type="http://schemas.openxmlformats.org/officeDocument/2006/relationships/tags" Target="../tags/tag683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8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87.xml"/><Relationship Id="rId1" Type="http://schemas.openxmlformats.org/officeDocument/2006/relationships/tags" Target="../tags/tag686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9" Type="http://schemas.openxmlformats.org/officeDocument/2006/relationships/chart" Target="../charts/chart5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694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93.xml"/><Relationship Id="rId1" Type="http://schemas.openxmlformats.org/officeDocument/2006/relationships/tags" Target="../tags/tag692.xml"/><Relationship Id="rId6" Type="http://schemas.openxmlformats.org/officeDocument/2006/relationships/tags" Target="../tags/tag697.xml"/><Relationship Id="rId5" Type="http://schemas.openxmlformats.org/officeDocument/2006/relationships/tags" Target="../tags/tag696.xml"/><Relationship Id="rId4" Type="http://schemas.openxmlformats.org/officeDocument/2006/relationships/tags" Target="../tags/tag695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70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99.xml"/><Relationship Id="rId1" Type="http://schemas.openxmlformats.org/officeDocument/2006/relationships/tags" Target="../tags/tag698.xml"/><Relationship Id="rId6" Type="http://schemas.openxmlformats.org/officeDocument/2006/relationships/tags" Target="../tags/tag703.xml"/><Relationship Id="rId5" Type="http://schemas.openxmlformats.org/officeDocument/2006/relationships/tags" Target="../tags/tag702.xml"/><Relationship Id="rId4" Type="http://schemas.openxmlformats.org/officeDocument/2006/relationships/tags" Target="../tags/tag701.xml"/><Relationship Id="rId9" Type="http://schemas.openxmlformats.org/officeDocument/2006/relationships/chart" Target="../charts/chart6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706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05.xml"/><Relationship Id="rId1" Type="http://schemas.openxmlformats.org/officeDocument/2006/relationships/tags" Target="../tags/tag704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" Type="http://schemas.openxmlformats.org/officeDocument/2006/relationships/tags" Target="../tags/tag707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712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11.xml"/><Relationship Id="rId1" Type="http://schemas.openxmlformats.org/officeDocument/2006/relationships/tags" Target="../tags/tag710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tags" Target="../tags/tag713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http://192.168.0.23:8108/bos/member/admin/forLogin.do" TargetMode="External"/><Relationship Id="rId3" Type="http://schemas.openxmlformats.org/officeDocument/2006/relationships/tags" Target="../tags/tag71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17.xml"/><Relationship Id="rId1" Type="http://schemas.openxmlformats.org/officeDocument/2006/relationships/tags" Target="../tags/tag716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Relationship Id="rId9" Type="http://schemas.openxmlformats.org/officeDocument/2006/relationships/chart" Target="../charts/chart7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724.xml"/><Relationship Id="rId7" Type="http://schemas.openxmlformats.org/officeDocument/2006/relationships/tags" Target="../tags/tag728.xml"/><Relationship Id="rId2" Type="http://schemas.openxmlformats.org/officeDocument/2006/relationships/tags" Target="../tags/tag723.xml"/><Relationship Id="rId1" Type="http://schemas.openxmlformats.org/officeDocument/2006/relationships/tags" Target="../tags/tag722.xml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4" Type="http://schemas.openxmlformats.org/officeDocument/2006/relationships/tags" Target="../tags/tag725.xml"/><Relationship Id="rId9" Type="http://schemas.openxmlformats.org/officeDocument/2006/relationships/image" Target="../media/image18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tags" Target="../tags/tag736.xml"/><Relationship Id="rId3" Type="http://schemas.openxmlformats.org/officeDocument/2006/relationships/tags" Target="../tags/tag731.xml"/><Relationship Id="rId7" Type="http://schemas.openxmlformats.org/officeDocument/2006/relationships/tags" Target="../tags/tag735.xml"/><Relationship Id="rId2" Type="http://schemas.openxmlformats.org/officeDocument/2006/relationships/tags" Target="../tags/tag730.xml"/><Relationship Id="rId1" Type="http://schemas.openxmlformats.org/officeDocument/2006/relationships/tags" Target="../tags/tag729.xml"/><Relationship Id="rId6" Type="http://schemas.openxmlformats.org/officeDocument/2006/relationships/tags" Target="../tags/tag734.xml"/><Relationship Id="rId5" Type="http://schemas.openxmlformats.org/officeDocument/2006/relationships/tags" Target="../tags/tag733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732.xml"/><Relationship Id="rId9" Type="http://schemas.openxmlformats.org/officeDocument/2006/relationships/tags" Target="../tags/tag737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tags" Target="../tags/tag745.xml"/><Relationship Id="rId3" Type="http://schemas.openxmlformats.org/officeDocument/2006/relationships/tags" Target="../tags/tag740.xml"/><Relationship Id="rId7" Type="http://schemas.openxmlformats.org/officeDocument/2006/relationships/tags" Target="../tags/tag744.xml"/><Relationship Id="rId12" Type="http://schemas.openxmlformats.org/officeDocument/2006/relationships/image" Target="../media/image6.png"/><Relationship Id="rId2" Type="http://schemas.openxmlformats.org/officeDocument/2006/relationships/tags" Target="../tags/tag739.xml"/><Relationship Id="rId1" Type="http://schemas.openxmlformats.org/officeDocument/2006/relationships/tags" Target="../tags/tag738.xml"/><Relationship Id="rId6" Type="http://schemas.openxmlformats.org/officeDocument/2006/relationships/tags" Target="../tags/tag743.xml"/><Relationship Id="rId11" Type="http://schemas.openxmlformats.org/officeDocument/2006/relationships/image" Target="../media/image17.png"/><Relationship Id="rId5" Type="http://schemas.openxmlformats.org/officeDocument/2006/relationships/tags" Target="../tags/tag742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741.xml"/><Relationship Id="rId9" Type="http://schemas.openxmlformats.org/officeDocument/2006/relationships/tags" Target="../tags/tag746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749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48.xml"/><Relationship Id="rId1" Type="http://schemas.openxmlformats.org/officeDocument/2006/relationships/tags" Target="../tags/tag747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tags" Target="../tags/tag750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760.xml"/><Relationship Id="rId13" Type="http://schemas.openxmlformats.org/officeDocument/2006/relationships/tags" Target="../tags/tag765.xml"/><Relationship Id="rId3" Type="http://schemas.openxmlformats.org/officeDocument/2006/relationships/tags" Target="../tags/tag755.xml"/><Relationship Id="rId7" Type="http://schemas.openxmlformats.org/officeDocument/2006/relationships/tags" Target="../tags/tag759.xml"/><Relationship Id="rId12" Type="http://schemas.openxmlformats.org/officeDocument/2006/relationships/tags" Target="../tags/tag764.xml"/><Relationship Id="rId2" Type="http://schemas.openxmlformats.org/officeDocument/2006/relationships/tags" Target="../tags/tag754.xml"/><Relationship Id="rId1" Type="http://schemas.openxmlformats.org/officeDocument/2006/relationships/tags" Target="../tags/tag753.xml"/><Relationship Id="rId6" Type="http://schemas.openxmlformats.org/officeDocument/2006/relationships/tags" Target="../tags/tag758.xml"/><Relationship Id="rId11" Type="http://schemas.openxmlformats.org/officeDocument/2006/relationships/tags" Target="../tags/tag763.xml"/><Relationship Id="rId5" Type="http://schemas.openxmlformats.org/officeDocument/2006/relationships/tags" Target="../tags/tag757.xml"/><Relationship Id="rId15" Type="http://schemas.openxmlformats.org/officeDocument/2006/relationships/image" Target="../media/image19.png"/><Relationship Id="rId10" Type="http://schemas.openxmlformats.org/officeDocument/2006/relationships/tags" Target="../tags/tag762.xml"/><Relationship Id="rId4" Type="http://schemas.openxmlformats.org/officeDocument/2006/relationships/tags" Target="../tags/tag756.xml"/><Relationship Id="rId9" Type="http://schemas.openxmlformats.org/officeDocument/2006/relationships/tags" Target="../tags/tag761.xml"/><Relationship Id="rId14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773.xml"/><Relationship Id="rId13" Type="http://schemas.openxmlformats.org/officeDocument/2006/relationships/tags" Target="../tags/tag778.xml"/><Relationship Id="rId3" Type="http://schemas.openxmlformats.org/officeDocument/2006/relationships/tags" Target="../tags/tag768.xml"/><Relationship Id="rId7" Type="http://schemas.openxmlformats.org/officeDocument/2006/relationships/tags" Target="../tags/tag772.xml"/><Relationship Id="rId12" Type="http://schemas.openxmlformats.org/officeDocument/2006/relationships/tags" Target="../tags/tag777.xml"/><Relationship Id="rId17" Type="http://schemas.openxmlformats.org/officeDocument/2006/relationships/image" Target="../media/image19.png"/><Relationship Id="rId2" Type="http://schemas.openxmlformats.org/officeDocument/2006/relationships/tags" Target="../tags/tag767.xml"/><Relationship Id="rId16" Type="http://schemas.openxmlformats.org/officeDocument/2006/relationships/slideLayout" Target="../slideLayouts/slideLayout3.xml"/><Relationship Id="rId1" Type="http://schemas.openxmlformats.org/officeDocument/2006/relationships/tags" Target="../tags/tag766.xml"/><Relationship Id="rId6" Type="http://schemas.openxmlformats.org/officeDocument/2006/relationships/tags" Target="../tags/tag771.xml"/><Relationship Id="rId11" Type="http://schemas.openxmlformats.org/officeDocument/2006/relationships/tags" Target="../tags/tag776.xml"/><Relationship Id="rId5" Type="http://schemas.openxmlformats.org/officeDocument/2006/relationships/tags" Target="../tags/tag770.xml"/><Relationship Id="rId15" Type="http://schemas.openxmlformats.org/officeDocument/2006/relationships/tags" Target="../tags/tag780.xml"/><Relationship Id="rId10" Type="http://schemas.openxmlformats.org/officeDocument/2006/relationships/tags" Target="../tags/tag775.xml"/><Relationship Id="rId4" Type="http://schemas.openxmlformats.org/officeDocument/2006/relationships/tags" Target="../tags/tag769.xml"/><Relationship Id="rId9" Type="http://schemas.openxmlformats.org/officeDocument/2006/relationships/tags" Target="../tags/tag774.xml"/><Relationship Id="rId14" Type="http://schemas.openxmlformats.org/officeDocument/2006/relationships/tags" Target="../tags/tag7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16596" y="1774567"/>
            <a:ext cx="7374467" cy="57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8224" tIns="59113" rIns="118224" bIns="59113">
            <a:spAutoFit/>
          </a:bodyPr>
          <a:lstStyle>
            <a:lvl1pPr defTabSz="1174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87375" defTabSz="1174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74750" defTabSz="1174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60538" defTabSz="1174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347913" defTabSz="1174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805113" defTabSz="1174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62313" defTabSz="1174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719513" defTabSz="1174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76713" defTabSz="11747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>
              <a:lnSpc>
                <a:spcPct val="140000"/>
              </a:lnSpc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화면설계서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1784647" y="1412776"/>
            <a:ext cx="6480721" cy="1650353"/>
          </a:xfrm>
          <a:prstGeom prst="rect">
            <a:avLst/>
          </a:prstGeom>
          <a:noFill/>
          <a:ln w="1270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74603"/>
              </p:ext>
            </p:extLst>
          </p:nvPr>
        </p:nvGraphicFramePr>
        <p:xfrm>
          <a:off x="3733851" y="4193460"/>
          <a:ext cx="2623305" cy="675700"/>
        </p:xfrm>
        <a:graphic>
          <a:graphicData uri="http://schemas.openxmlformats.org/drawingml/2006/table">
            <a:tbl>
              <a:tblPr/>
              <a:tblGrid>
                <a:gridCol w="8345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87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32080" marR="132080" marT="31652" marB="3165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단계명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맑은고딕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12PT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32080" marR="132080" marT="31652" marB="3165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구분명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맑은고딕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12PT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10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373082"/>
              </p:ext>
            </p:extLst>
          </p:nvPr>
        </p:nvGraphicFramePr>
        <p:xfrm>
          <a:off x="7093796" y="160403"/>
          <a:ext cx="2628292" cy="604302"/>
        </p:xfrm>
        <a:graphic>
          <a:graphicData uri="http://schemas.openxmlformats.org/drawingml/2006/table">
            <a:tbl>
              <a:tblPr/>
              <a:tblGrid>
                <a:gridCol w="912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157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2852">
                <a:tc>
                  <a:txBody>
                    <a:bodyPr/>
                    <a:lstStyle>
                      <a:lvl1pPr defTabSz="1230313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614363" defTabSz="1230313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230313" defTabSz="1230313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84467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46062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9178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33750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8322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42894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12303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30313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614363" defTabSz="1230313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230313" defTabSz="1230313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84467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46062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9178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33750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8322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42894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12303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 </a:t>
                      </a: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고객제출용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1450">
                <a:tc>
                  <a:txBody>
                    <a:bodyPr/>
                    <a:lstStyle>
                      <a:lvl1pPr defTabSz="1230313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614363" defTabSz="1230313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230313" defTabSz="1230313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84467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46062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9178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33750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8322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42894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12303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보안등급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1230313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marL="614363" defTabSz="1230313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marL="1230313" defTabSz="1230313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marL="184467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marL="2460625" defTabSz="12303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marL="29178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marL="33750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marL="38322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marL="4289425" defTabSz="12303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12303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1" name="Rectangle 42"/>
          <p:cNvSpPr>
            <a:spLocks noChangeArrowheads="1"/>
          </p:cNvSpPr>
          <p:nvPr/>
        </p:nvSpPr>
        <p:spPr bwMode="auto">
          <a:xfrm>
            <a:off x="8697416" y="204456"/>
            <a:ext cx="864096" cy="2067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ectangle 131"/>
          <p:cNvSpPr>
            <a:spLocks noChangeArrowheads="1"/>
          </p:cNvSpPr>
          <p:nvPr/>
        </p:nvSpPr>
        <p:spPr bwMode="auto">
          <a:xfrm>
            <a:off x="1785972" y="2528900"/>
            <a:ext cx="6435715" cy="550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rot="0" vert="horz" wrap="square" lIns="118224" tIns="59113" rIns="118224" bIns="59113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1400" b="1" dirty="0">
                <a:solidFill>
                  <a:srgbClr val="000000"/>
                </a:solidFill>
                <a:latin typeface="+mn-ea"/>
                <a:cs typeface="굴림"/>
              </a:rPr>
              <a:t>SC-2220</a:t>
            </a:r>
          </a:p>
          <a:p>
            <a:pPr algn="ctr">
              <a:spcAft>
                <a:spcPts val="0"/>
              </a:spcAft>
            </a:pPr>
            <a:r>
              <a:rPr lang="en-US" altLang="ko-KR" sz="1400" b="1" dirty="0">
                <a:solidFill>
                  <a:srgbClr val="000000"/>
                </a:solidFill>
                <a:latin typeface="+mn-ea"/>
                <a:cs typeface="굴림"/>
              </a:rPr>
              <a:t>V1.0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3078326" y="3320902"/>
            <a:ext cx="3946594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latinLnBrk="0"/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사업명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맑은고딕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20PT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ectangle 27"/>
          <p:cNvSpPr>
            <a:spLocks noChangeArrowheads="1"/>
          </p:cNvSpPr>
          <p:nvPr/>
        </p:nvSpPr>
        <p:spPr bwMode="auto">
          <a:xfrm>
            <a:off x="4390423" y="5007345"/>
            <a:ext cx="3679725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5715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145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86000" defTabSz="7620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latinLnBrk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YYYY.MM.DD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맑은고딕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20PT</a:t>
            </a:r>
          </a:p>
        </p:txBody>
      </p:sp>
      <p:sp>
        <p:nvSpPr>
          <p:cNvPr id="19" name="Text Box 34"/>
          <p:cNvSpPr txBox="1">
            <a:spLocks noChangeArrowheads="1"/>
          </p:cNvSpPr>
          <p:nvPr/>
        </p:nvSpPr>
        <p:spPr bwMode="auto">
          <a:xfrm>
            <a:off x="779463" y="6309320"/>
            <a:ext cx="8347075" cy="269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dirty="0">
                <a:latin typeface="+mn-ea"/>
              </a:rPr>
              <a:t>주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 err="1">
                <a:latin typeface="+mn-ea"/>
              </a:rPr>
              <a:t>유앤피플의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사전 승인 없이 본 내용의 전부 또는 일부에 대한 복사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전재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배포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+mn-ea"/>
              </a:rPr>
              <a:t>사용을 금합니다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ctr">
              <a:lnSpc>
                <a:spcPts val="900"/>
              </a:lnSpc>
              <a:defRPr sz="1000"/>
            </a:pPr>
            <a:endParaRPr lang="en-US" altLang="ko-KR" sz="100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1" name="_x225824800" descr="EMB00003444286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336" y="5634245"/>
            <a:ext cx="1094342" cy="33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248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152148"/>
              </p:ext>
            </p:extLst>
          </p:nvPr>
        </p:nvGraphicFramePr>
        <p:xfrm>
          <a:off x="344488" y="1016732"/>
          <a:ext cx="9339365" cy="4824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3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323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572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5546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88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24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변경일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변경사유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 경 내 용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승인자</a:t>
                      </a:r>
                      <a:endParaRPr lang="ko-KR" sz="1000" b="1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맑은 고딕" pitchFamily="50" charset="-127"/>
                          <a:ea typeface="+mn-ea"/>
                        </a:rPr>
                        <a:t>1.0</a:t>
                      </a:r>
                      <a:endParaRPr lang="ko-KR" altLang="ko-KR" sz="1000" dirty="0">
                        <a:effectLst/>
                        <a:latin typeface="맑은 고딕" pitchFamily="50" charset="-127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맑은 고딕" pitchFamily="50" charset="-127"/>
                          <a:ea typeface="+mn-ea"/>
                        </a:rPr>
                        <a:t>2017.02.15</a:t>
                      </a:r>
                      <a:endParaRPr lang="ko-KR" altLang="ko-KR" sz="1000" dirty="0">
                        <a:effectLst/>
                        <a:latin typeface="맑은 고딕" pitchFamily="50" charset="-127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effectLst/>
                          <a:latin typeface="맑은 고딕" pitchFamily="50" charset="-127"/>
                          <a:ea typeface="+mn-ea"/>
                        </a:rPr>
                        <a:t>최초작성</a:t>
                      </a:r>
                      <a:endParaRPr lang="ko-KR" altLang="ko-KR" sz="1000" dirty="0">
                        <a:effectLst/>
                        <a:latin typeface="맑은 고딕" pitchFamily="50" charset="-127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맑은 고딕" pitchFamily="50" charset="-127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dirty="0">
                        <a:effectLst/>
                        <a:latin typeface="맑은 고딕" pitchFamily="50" charset="-127"/>
                        <a:ea typeface="+mn-ea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241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맑은 고딕" pitchFamily="50" charset="-127"/>
                        <a:ea typeface="맑은 고딕" pitchFamily="50" charset="-127"/>
                        <a:cs typeface="굴림"/>
                      </a:endParaRPr>
                    </a:p>
                  </a:txBody>
                  <a:tcPr marL="41138" marR="4113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2480" y="656692"/>
            <a:ext cx="12218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개 정 이 </a:t>
            </a:r>
            <a:r>
              <a:rPr kumimoji="1" lang="ko-KR" altLang="ko-KR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굴림" pitchFamily="50" charset="-127"/>
              </a:rPr>
              <a:t>력</a:t>
            </a:r>
            <a:endParaRPr kumimoji="1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0472" y="6093296"/>
            <a:ext cx="92890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* 문서 버전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: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최초 버전은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1.0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으로 시작하되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변경 사항이 오류수정 등 미비할 경우 소수점 자리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 추가 등 중대한 변경이 발생한 경우는 정수 자리의 버전 번호 증가로 구분   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* 변경 사유 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: 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최초작성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내용수정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내용추가</a:t>
            </a:r>
            <a:r>
              <a:rPr kumimoji="1" lang="en-US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/</a:t>
            </a:r>
            <a:r>
              <a:rPr kumimoji="1" lang="ko-K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굴림" pitchFamily="50" charset="-127"/>
              </a:rPr>
              <a:t>내용삭제로 구분하여 기입</a:t>
            </a:r>
          </a:p>
        </p:txBody>
      </p:sp>
    </p:spTree>
    <p:extLst>
      <p:ext uri="{BB962C8B-B14F-4D97-AF65-F5344CB8AC3E}">
        <p14:creationId xmlns:p14="http://schemas.microsoft.com/office/powerpoint/2010/main" val="297457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203452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2depth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의 색 변경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4depth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메뉴는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3depth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에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접혀있다가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en-US" altLang="ko-KR" sz="1000" b="1" dirty="0"/>
              <a:t>2Detph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en-US" altLang="ko-KR" sz="1000" b="1" dirty="0"/>
              <a:t>2Detph</a:t>
            </a:r>
            <a:endParaRPr lang="ko-KR" altLang="en-US" sz="1000" b="1" dirty="0"/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en-US" altLang="ko-KR" sz="1000" b="1" dirty="0"/>
              <a:t>2Detph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1000" b="1" dirty="0"/>
              <a:t>3Depth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▷ </a:t>
            </a:r>
            <a:r>
              <a:rPr lang="en-US" altLang="ko-KR" sz="1000" b="1" dirty="0"/>
              <a:t>3Depth</a:t>
            </a:r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1000" b="1" dirty="0"/>
              <a:t>3Depth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346584" y="2142381"/>
            <a:ext cx="103645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en-US" altLang="ko-KR" sz="1000" dirty="0"/>
              <a:t>4Depth</a:t>
            </a:r>
          </a:p>
          <a:p>
            <a:pPr defTabSz="895350">
              <a:lnSpc>
                <a:spcPct val="150000"/>
              </a:lnSpc>
              <a:defRPr/>
            </a:pPr>
            <a:r>
              <a:rPr lang="en-US" altLang="ko-KR" sz="1000" dirty="0"/>
              <a:t>4Depth</a:t>
            </a:r>
          </a:p>
          <a:p>
            <a:pPr defTabSz="895350">
              <a:lnSpc>
                <a:spcPct val="150000"/>
              </a:lnSpc>
              <a:defRPr/>
            </a:pPr>
            <a:r>
              <a:rPr lang="en-US" altLang="ko-KR" sz="1000" dirty="0"/>
              <a:t>4Depth</a:t>
            </a:r>
          </a:p>
          <a:p>
            <a:pPr defTabSz="895350">
              <a:lnSpc>
                <a:spcPct val="150000"/>
              </a:lnSpc>
              <a:defRPr/>
            </a:pPr>
            <a:r>
              <a:rPr lang="en-US" altLang="ko-KR" sz="1000" dirty="0"/>
              <a:t>4Depth</a:t>
            </a:r>
          </a:p>
        </p:txBody>
      </p:sp>
      <p:sp>
        <p:nvSpPr>
          <p:cNvPr id="61" name="타원 60"/>
          <p:cNvSpPr/>
          <p:nvPr/>
        </p:nvSpPr>
        <p:spPr>
          <a:xfrm>
            <a:off x="1285128" y="136123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2" name="타원 61"/>
          <p:cNvSpPr/>
          <p:nvPr/>
        </p:nvSpPr>
        <p:spPr>
          <a:xfrm>
            <a:off x="141119" y="16635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6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6" name="사각형: 둥근 모서리 25"/>
          <p:cNvSpPr/>
          <p:nvPr/>
        </p:nvSpPr>
        <p:spPr>
          <a:xfrm>
            <a:off x="1484158" y="1794982"/>
            <a:ext cx="6205145" cy="4337276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콘텐츠 영역</a:t>
            </a:r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164468" y="5265204"/>
            <a:ext cx="75248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3052998" y="4971790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rgbClr val="0070C0"/>
                </a:solidFill>
              </a:rPr>
              <a:t>1600px</a:t>
            </a:r>
          </a:p>
        </p:txBody>
      </p:sp>
      <p:sp>
        <p:nvSpPr>
          <p:cNvPr id="24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1Depth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1Depth</a:t>
            </a:r>
          </a:p>
        </p:txBody>
      </p:sp>
      <p:sp>
        <p:nvSpPr>
          <p:cNvPr id="29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0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9534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버튼</a:t>
            </a:r>
          </a:p>
        </p:txBody>
      </p:sp>
      <p:sp>
        <p:nvSpPr>
          <p:cNvPr id="5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915445" y="1304764"/>
            <a:ext cx="972108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기본버튼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915445" y="1680796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쓰기</a:t>
            </a:r>
            <a:r>
              <a:rPr lang="en-US" altLang="ko-KR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, 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0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915445" y="2056828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915445" y="2432860"/>
            <a:ext cx="972108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취소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915445" y="2808892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3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915445" y="3184924"/>
            <a:ext cx="972108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915445" y="3560956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이동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5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915445" y="3936988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답글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6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915445" y="4313020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5445" y="4689052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확인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8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15445" y="5065084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비활성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9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108684" y="1304764"/>
            <a:ext cx="972108" cy="260358"/>
          </a:xfrm>
          <a:prstGeom prst="rect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다운로드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0" name="Search Button Rectangle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108684" y="1680796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리셋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1" name="Search Button Rectangle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2108684" y="2056828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2" name="Search Button Rectangle"/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108684" y="2432860"/>
            <a:ext cx="972108" cy="260358"/>
          </a:xfrm>
          <a:prstGeom prst="rect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보기</a:t>
            </a:r>
            <a:r>
              <a:rPr lang="en-US" altLang="ko-KR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, 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미리보기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3" name="Search Button Rectangle"/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2108684" y="2808892"/>
            <a:ext cx="972108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뒤로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4" name="Search Button Rectangle"/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2108684" y="3184924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저장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108684" y="3560956"/>
            <a:ext cx="972108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종료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2108684" y="3936988"/>
            <a:ext cx="972108" cy="260358"/>
          </a:xfrm>
          <a:prstGeom prst="rect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설정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108684" y="4313020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열기</a:t>
            </a:r>
            <a:r>
              <a:rPr lang="en-US" altLang="ko-KR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,</a:t>
            </a:r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새창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2108684" y="4689052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9" name="Search Button Rectangle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2108684" y="5065084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해제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24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35603"/>
              </p:ext>
            </p:extLst>
          </p:nvPr>
        </p:nvGraphicFramePr>
        <p:xfrm>
          <a:off x="7835006" y="1583443"/>
          <a:ext cx="1973077" cy="158330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검색조건 입력 후 검색버튼 클릭 시 검색에 맞는 게시물을 목록에 표시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선택박스 클릭 후 삭제버튼 클릭 시 관리자 삭제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계정관리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권한관리</a:t>
            </a:r>
            <a:endParaRPr lang="en-US" altLang="ko-KR" sz="6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090876"/>
              </p:ext>
            </p:extLst>
          </p:nvPr>
        </p:nvGraphicFramePr>
        <p:xfrm>
          <a:off x="1507354" y="2769763"/>
          <a:ext cx="6253957" cy="21126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16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15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682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753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859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58598">
                  <a:extLst>
                    <a:ext uri="{9D8B030D-6E8A-4147-A177-3AD203B41FA5}">
                      <a16:colId xmlns:a16="http://schemas.microsoft.com/office/drawing/2014/main" xmlns="" val="3225761749"/>
                    </a:ext>
                  </a:extLst>
                </a:gridCol>
                <a:gridCol w="39561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아이디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관리자명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부서명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latin typeface="맑은 고딕" pitchFamily="50" charset="-127"/>
                          <a:ea typeface="맑은 고딕" pitchFamily="50" charset="-127"/>
                        </a:rPr>
                        <a:t>권한명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상태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Admin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슈퍼관리자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전산팀</a:t>
                      </a:r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슈퍼관리자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Honggd11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기획팀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게시판관리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ssinLee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이순신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마케팅부서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홈페이지관리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비정상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</a:tbl>
          </a:graphicData>
        </a:graphic>
      </p:graphicFrame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계정관리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계정관리</a:t>
            </a:r>
            <a:endParaRPr lang="en-US" altLang="ko-KR" sz="700" dirty="0"/>
          </a:p>
        </p:txBody>
      </p:sp>
      <p:sp>
        <p:nvSpPr>
          <p:cNvPr id="33" name="TextBox 32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06576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45" name="직사각형 44"/>
          <p:cNvSpPr/>
          <p:nvPr/>
        </p:nvSpPr>
        <p:spPr>
          <a:xfrm>
            <a:off x="3035173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TEXT</a:t>
            </a:r>
            <a:endParaRPr lang="ko-KR" altLang="en-US" sz="900" dirty="0"/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394096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7002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아이디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관리자명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부서명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권한명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618633" y="5042484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02599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cxnSp>
        <p:nvCxnSpPr>
          <p:cNvPr id="54" name="직선 화살표 연결선 53"/>
          <p:cNvCxnSpPr>
            <a:cxnSpLocks/>
          </p:cNvCxnSpPr>
          <p:nvPr/>
        </p:nvCxnSpPr>
        <p:spPr>
          <a:xfrm>
            <a:off x="2698105" y="2772238"/>
            <a:ext cx="0" cy="2110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720752" y="4266618"/>
            <a:ext cx="913543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rgbClr val="0070C0"/>
                </a:solidFill>
              </a:rPr>
              <a:t>10</a:t>
            </a:r>
            <a:r>
              <a:rPr lang="ko-KR" altLang="en-US" sz="1000" dirty="0">
                <a:solidFill>
                  <a:srgbClr val="0070C0"/>
                </a:solidFill>
              </a:rPr>
              <a:t>개씩 표시</a:t>
            </a:r>
            <a:endParaRPr lang="en-US" altLang="ko-KR" sz="1000" dirty="0">
              <a:solidFill>
                <a:srgbClr val="0070C0"/>
              </a:solidFill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541727" y="5038133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4332333" y="21878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2836117" y="337714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1430614" y="49270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7110335" y="49270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94273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131629"/>
              </p:ext>
            </p:extLst>
          </p:nvPr>
        </p:nvGraphicFramePr>
        <p:xfrm>
          <a:off x="7835006" y="158179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중복확인 필수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권한추가버튼 클릭 시 권한 선택 박스를 추가하여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관리자 목록으로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필수값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체크 후 관리자 등록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계정관리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계정관리</a:t>
            </a:r>
            <a:endParaRPr lang="en-US" altLang="ko-KR" sz="700" dirty="0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932945"/>
              </p:ext>
            </p:extLst>
          </p:nvPr>
        </p:nvGraphicFramePr>
        <p:xfrm>
          <a:off x="1507354" y="2216332"/>
          <a:ext cx="6244384" cy="2613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160822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971526">
                  <a:extLst>
                    <a:ext uri="{9D8B030D-6E8A-4147-A177-3AD203B41FA5}">
                      <a16:colId xmlns:a16="http://schemas.microsoft.com/office/drawing/2014/main" xmlns="" val="2335226857"/>
                    </a:ext>
                  </a:extLst>
                </a:gridCol>
                <a:gridCol w="2150666">
                  <a:extLst>
                    <a:ext uri="{9D8B030D-6E8A-4147-A177-3AD203B41FA5}">
                      <a16:colId xmlns:a16="http://schemas.microsoft.com/office/drawing/2014/main" xmlns="" val="2653013818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비밀번호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휴대전화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-                  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자리번호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   @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5149082"/>
                  </a:ext>
                </a:extLst>
              </a:tr>
            </a:tbl>
          </a:graphicData>
        </a:graphic>
      </p:graphicFrame>
      <p:sp>
        <p:nvSpPr>
          <p:cNvPr id="63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237450" y="489381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32044" y="4893817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527412" y="2248902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527412" y="2579617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663156" y="2579617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527412" y="3239045"/>
            <a:ext cx="44536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663156" y="3239045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527412" y="3567782"/>
            <a:ext cx="1129444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527412" y="3896519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권한 선택     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527412" y="4513581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상태 선택     ▼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119758" y="3239045"/>
            <a:ext cx="60910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875841" y="3239045"/>
            <a:ext cx="60910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971752" y="3567782"/>
            <a:ext cx="1269279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527412" y="2900633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663156" y="2900633"/>
            <a:ext cx="101803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032731" y="2248902"/>
            <a:ext cx="603603" cy="260358"/>
          </a:xfrm>
          <a:prstGeom prst="rect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중복확인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761445" y="2913541"/>
            <a:ext cx="38155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192868" y="2909556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999847" y="3896519"/>
            <a:ext cx="636487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권한추가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52" name="직사각형 51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계정관리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권한관리</a:t>
            </a:r>
            <a:endParaRPr lang="en-US" altLang="ko-KR" sz="600" b="1" dirty="0"/>
          </a:p>
        </p:txBody>
      </p:sp>
      <p:sp>
        <p:nvSpPr>
          <p:cNvPr id="53" name="직사각형 52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3927397" y="213469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6676831" y="28147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3888734" y="38179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6562249" y="48078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8" name="타원 57"/>
          <p:cNvSpPr/>
          <p:nvPr/>
        </p:nvSpPr>
        <p:spPr>
          <a:xfrm>
            <a:off x="7139694" y="48078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61" name="직사각형 60"/>
          <p:cNvSpPr/>
          <p:nvPr/>
        </p:nvSpPr>
        <p:spPr>
          <a:xfrm>
            <a:off x="2527412" y="4197580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게시판관리자</a:t>
            </a: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012777" y="4211144"/>
            <a:ext cx="636487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92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270359"/>
              </p:ext>
            </p:extLst>
          </p:nvPr>
        </p:nvGraphicFramePr>
        <p:xfrm>
          <a:off x="7835006" y="1575842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 선택 후 선택버튼 클릭 시 해당 부서에 대한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선택값을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부서에 입력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창닫기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팝업 닫기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5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계정관리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계정관리</a:t>
            </a:r>
            <a:endParaRPr lang="en-US" altLang="ko-KR" sz="700" dirty="0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1507354" y="2216332"/>
          <a:ext cx="6244384" cy="2302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160822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971526">
                  <a:extLst>
                    <a:ext uri="{9D8B030D-6E8A-4147-A177-3AD203B41FA5}">
                      <a16:colId xmlns:a16="http://schemas.microsoft.com/office/drawing/2014/main" xmlns="" val="2335226857"/>
                    </a:ext>
                  </a:extLst>
                </a:gridCol>
                <a:gridCol w="2150666">
                  <a:extLst>
                    <a:ext uri="{9D8B030D-6E8A-4147-A177-3AD203B41FA5}">
                      <a16:colId xmlns:a16="http://schemas.microsoft.com/office/drawing/2014/main" xmlns="" val="2653013818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비밀번호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휴대전화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-                  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자리번호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   @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권한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85149082"/>
                  </a:ext>
                </a:extLst>
              </a:tr>
            </a:tbl>
          </a:graphicData>
        </a:graphic>
      </p:graphicFrame>
      <p:sp>
        <p:nvSpPr>
          <p:cNvPr id="63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237450" y="4593082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32044" y="4593082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527412" y="2248902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527412" y="2579617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663156" y="2579617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527412" y="3239045"/>
            <a:ext cx="44536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663156" y="3239045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527412" y="3567782"/>
            <a:ext cx="1129444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527412" y="3896519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권한 선택     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527412" y="4212846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상태 선택 ▼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119758" y="3239045"/>
            <a:ext cx="60910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875841" y="3239045"/>
            <a:ext cx="60910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971752" y="3567782"/>
            <a:ext cx="1269279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527412" y="2900633"/>
            <a:ext cx="13721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663156" y="2900633"/>
            <a:ext cx="101803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032731" y="2248902"/>
            <a:ext cx="603603" cy="260358"/>
          </a:xfrm>
          <a:prstGeom prst="rect">
            <a:avLst/>
          </a:prstGeom>
          <a:solidFill>
            <a:schemeClr val="accent5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중복확인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761445" y="2913541"/>
            <a:ext cx="38155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192868" y="2909556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999847" y="3896519"/>
            <a:ext cx="636487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권한추가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65049" y="2734893"/>
            <a:ext cx="3470529" cy="20375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65049" y="2518570"/>
            <a:ext cx="3470529" cy="2262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91368" y="2746269"/>
            <a:ext cx="244210" cy="20313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794834" y="2784313"/>
            <a:ext cx="244210" cy="25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90334" y="3178385"/>
            <a:ext cx="3167126" cy="1237237"/>
          </a:xfrm>
          <a:prstGeom prst="rect">
            <a:avLst/>
          </a:prstGeom>
        </p:spPr>
      </p:pic>
      <p:grpSp>
        <p:nvGrpSpPr>
          <p:cNvPr id="52" name="그룹 51"/>
          <p:cNvGrpSpPr/>
          <p:nvPr/>
        </p:nvGrpSpPr>
        <p:grpSpPr>
          <a:xfrm>
            <a:off x="2621716" y="2832296"/>
            <a:ext cx="3073660" cy="288032"/>
            <a:chOff x="236772" y="6165304"/>
            <a:chExt cx="2569282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부서목록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54" name="직선 연결선 53"/>
            <p:cNvCxnSpPr>
              <a:cxnSpLocks/>
            </p:cNvCxnSpPr>
            <p:nvPr/>
          </p:nvCxnSpPr>
          <p:spPr>
            <a:xfrm>
              <a:off x="236772" y="6453336"/>
              <a:ext cx="2569282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609360" y="4413295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선택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5183066" y="4415622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창닫기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3" name="Search Button Rectangle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85" name="직사각형 84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계정관리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권한관리</a:t>
            </a:r>
            <a:endParaRPr lang="en-US" altLang="ko-KR" sz="600" b="1" dirty="0"/>
          </a:p>
        </p:txBody>
      </p:sp>
      <p:sp>
        <p:nvSpPr>
          <p:cNvPr id="86" name="직사각형 8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55" name="타원 54"/>
          <p:cNvSpPr/>
          <p:nvPr/>
        </p:nvSpPr>
        <p:spPr>
          <a:xfrm>
            <a:off x="5116120" y="42822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4493431" y="42822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55688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42705"/>
              </p:ext>
            </p:extLst>
          </p:nvPr>
        </p:nvGraphicFramePr>
        <p:xfrm>
          <a:off x="7835006" y="1576265"/>
          <a:ext cx="1973077" cy="1885061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선택된 부서 위치 하위의 신규부서를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부서명 클릭 시 하단의 부서내용을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부서코드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부서명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정렬순서의 데이터를 초기화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 선택 후 삭제버튼 클릭 시 해당 부서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수정된 내용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부서관리는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 depth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까지 관리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3227163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부서관리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부서관리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6310" y="2489466"/>
            <a:ext cx="2935370" cy="132741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839916" y="2741034"/>
            <a:ext cx="2429008" cy="147830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768773"/>
              </p:ext>
            </p:extLst>
          </p:nvPr>
        </p:nvGraphicFramePr>
        <p:xfrm>
          <a:off x="4484948" y="2524714"/>
          <a:ext cx="3266790" cy="341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366690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4034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4034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13934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부서업무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381616"/>
                  </a:ext>
                </a:extLst>
              </a:tr>
              <a:tr h="4034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부서전화번호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-                  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3422246"/>
                  </a:ext>
                </a:extLst>
              </a:tr>
              <a:tr h="4034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팩스번호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-                  -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4034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</a:tbl>
          </a:graphicData>
        </a:graphic>
      </p:graphicFrame>
      <p:sp>
        <p:nvSpPr>
          <p:cNvPr id="5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538676" y="2201080"/>
            <a:ext cx="121720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신규부서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237450" y="613225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63965" y="612744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090480" y="612744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458200" y="2607274"/>
            <a:ext cx="2231104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458200" y="2996952"/>
            <a:ext cx="2231104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3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8" name="직사각형 37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계정관리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부서관리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권한관리</a:t>
            </a:r>
            <a:endParaRPr lang="en-US" altLang="ko-KR" sz="600" b="1" dirty="0"/>
          </a:p>
        </p:txBody>
      </p:sp>
      <p:sp>
        <p:nvSpPr>
          <p:cNvPr id="41" name="직사각형 40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4" name="타원 43"/>
          <p:cNvSpPr/>
          <p:nvPr/>
        </p:nvSpPr>
        <p:spPr>
          <a:xfrm>
            <a:off x="1933351" y="274103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6424781" y="21177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8" name="타원 47"/>
          <p:cNvSpPr/>
          <p:nvPr/>
        </p:nvSpPr>
        <p:spPr>
          <a:xfrm>
            <a:off x="5983224" y="601448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631349" y="601448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7221448" y="601448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5477541" y="478969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285148" y="478969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065426" y="478969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 rot="16200000">
            <a:off x="1559007" y="2231455"/>
            <a:ext cx="301949" cy="2598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ysClr val="windowText" lastClr="000000"/>
                </a:solidFill>
              </a:rPr>
              <a:t>&gt;&gt;</a:t>
            </a:r>
            <a:endParaRPr lang="ko-KR" altLang="en-US" sz="600" b="1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 rot="16200000">
            <a:off x="1871620" y="2231455"/>
            <a:ext cx="301949" cy="2598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00" b="1" dirty="0">
                <a:solidFill>
                  <a:sysClr val="windowText" lastClr="000000"/>
                </a:solidFill>
              </a:rPr>
              <a:t>&gt;</a:t>
            </a:r>
            <a:endParaRPr lang="ko-KR" altLang="en-US" sz="600" b="1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 rot="5400000">
            <a:off x="2507633" y="2231456"/>
            <a:ext cx="301949" cy="2598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ysClr val="windowText" lastClr="000000"/>
                </a:solidFill>
              </a:rPr>
              <a:t>&gt;&gt;</a:t>
            </a:r>
            <a:endParaRPr lang="ko-KR" altLang="en-US" sz="600" b="1" dirty="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 rot="5400000">
            <a:off x="2187815" y="2231456"/>
            <a:ext cx="301949" cy="2598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00" b="1" dirty="0">
                <a:solidFill>
                  <a:sysClr val="windowText" lastClr="000000"/>
                </a:solidFill>
              </a:rPr>
              <a:t>&gt;</a:t>
            </a:r>
            <a:endParaRPr lang="ko-KR" altLang="en-US" sz="600" b="1" dirty="0">
              <a:solidFill>
                <a:sysClr val="windowText" lastClr="00000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5477541" y="519485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285148" y="519485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065426" y="5194857"/>
            <a:ext cx="62387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458200" y="3367330"/>
            <a:ext cx="2231104" cy="1275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66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84630"/>
              </p:ext>
            </p:extLst>
          </p:nvPr>
        </p:nvGraphicFramePr>
        <p:xfrm>
          <a:off x="7835006" y="1563565"/>
          <a:ext cx="1973077" cy="1508760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권한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권한아이디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메뉴권한설정 버튼 클릭 시 메뉴권한 설정화면으로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선택된 체크박스의 권한목록을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권한관리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권한관리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54593"/>
              </p:ext>
            </p:extLst>
          </p:nvPr>
        </p:nvGraphicFramePr>
        <p:xfrm>
          <a:off x="1507354" y="2852936"/>
          <a:ext cx="6253958" cy="21126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930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871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877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639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220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권한 아이디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권한 명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사용여부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메뉴권한설정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ROLE_SUPER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슈퍼관리자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ROLE_ADMIN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어드민권한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ROLE_MARKET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마케팅팀 권한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ROLE_DEV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개발팀 권한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444589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TEXT</a:t>
            </a:r>
            <a:endParaRPr lang="ko-KR" altLang="en-US" sz="900" dirty="0"/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3803512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556418" y="2298950"/>
            <a:ext cx="843165" cy="41407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권한아이디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권한명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573180" y="3148605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메뉴권한설정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573180" y="3454993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메뉴권한설정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573180" y="3761381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메뉴권한설정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573180" y="4067769"/>
            <a:ext cx="972108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메뉴권한설정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618633" y="5054622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03813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cxnSp>
        <p:nvCxnSpPr>
          <p:cNvPr id="64" name="직선 화살표 연결선 63"/>
          <p:cNvCxnSpPr>
            <a:cxnSpLocks/>
          </p:cNvCxnSpPr>
          <p:nvPr/>
        </p:nvCxnSpPr>
        <p:spPr>
          <a:xfrm>
            <a:off x="2698105" y="2855411"/>
            <a:ext cx="0" cy="2110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2720752" y="4266618"/>
            <a:ext cx="913543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rgbClr val="0070C0"/>
                </a:solidFill>
              </a:rPr>
              <a:t>10</a:t>
            </a:r>
            <a:r>
              <a:rPr lang="ko-KR" altLang="en-US" sz="1000" dirty="0">
                <a:solidFill>
                  <a:srgbClr val="0070C0"/>
                </a:solidFill>
              </a:rPr>
              <a:t>개씩 표시</a:t>
            </a:r>
            <a:endParaRPr lang="en-US" altLang="ko-KR" sz="1000" dirty="0">
              <a:solidFill>
                <a:srgbClr val="0070C0"/>
              </a:solidFill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53" name="직사각형 52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계정관리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권한관리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541727" y="5038133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186294" y="223924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2030956" y="310867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6462067" y="310867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1430614" y="49270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8" name="타원 57"/>
          <p:cNvSpPr/>
          <p:nvPr/>
        </p:nvSpPr>
        <p:spPr>
          <a:xfrm>
            <a:off x="7110335" y="49270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93855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126069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권한관리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신규게시판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권한관리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권한관리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53" name="직사각형 52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계정관리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권한관리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841896"/>
              </p:ext>
            </p:extLst>
          </p:nvPr>
        </p:nvGraphicFramePr>
        <p:xfrm>
          <a:off x="1520132" y="2238353"/>
          <a:ext cx="6231604" cy="92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61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06698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권한코드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권한명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</a:tbl>
          </a:graphicData>
        </a:graphic>
      </p:graphicFrame>
      <p:sp>
        <p:nvSpPr>
          <p:cNvPr id="67" name="직사각형 66"/>
          <p:cNvSpPr/>
          <p:nvPr/>
        </p:nvSpPr>
        <p:spPr>
          <a:xfrm>
            <a:off x="2733271" y="2265082"/>
            <a:ext cx="3515873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2733271" y="2573461"/>
            <a:ext cx="3515873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733271" y="2881840"/>
            <a:ext cx="3515873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240891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2044" y="3240891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7178156" y="314884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6520931" y="314884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20637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727863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권한관리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권한관리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53" name="직사각형 52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계정관리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권한관리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275457"/>
              </p:ext>
            </p:extLst>
          </p:nvPr>
        </p:nvGraphicFramePr>
        <p:xfrm>
          <a:off x="1520132" y="2238353"/>
          <a:ext cx="6231604" cy="92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61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06698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권한코드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ROLE_ADMIN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권한명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어드민권한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어드민권한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</a:tbl>
          </a:graphicData>
        </a:graphic>
      </p:graphicFrame>
      <p:sp>
        <p:nvSpPr>
          <p:cNvPr id="33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639068" y="3239196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65583" y="3234386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5918711" y="31409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7" name="타원 36"/>
          <p:cNvSpPr/>
          <p:nvPr/>
        </p:nvSpPr>
        <p:spPr>
          <a:xfrm>
            <a:off x="6537411" y="31409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3233015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7142954" y="31409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8553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05601"/>
              </p:ext>
            </p:extLst>
          </p:nvPr>
        </p:nvGraphicFramePr>
        <p:xfrm>
          <a:off x="7835006" y="1572032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권한적용 버튼 클릭 시 해당 권한에 메뉴접근권한 부여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권한목록으로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체크박스 선택 시 해당 체크박스에 해당하는 메뉴접근권한 부여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7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권한관리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관리자 권한관리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183" y="2205299"/>
            <a:ext cx="6213140" cy="2382933"/>
          </a:xfrm>
          <a:prstGeom prst="rect">
            <a:avLst/>
          </a:prstGeom>
        </p:spPr>
      </p:pic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직사각형 33"/>
          <p:cNvSpPr/>
          <p:nvPr/>
        </p:nvSpPr>
        <p:spPr>
          <a:xfrm>
            <a:off x="167115" y="1707439"/>
            <a:ext cx="121592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계정관리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관리자 부서관리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관리자 권한관리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38" name="타원 37"/>
          <p:cNvSpPr/>
          <p:nvPr/>
        </p:nvSpPr>
        <p:spPr>
          <a:xfrm>
            <a:off x="6753200" y="247702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1" name="타원 40"/>
          <p:cNvSpPr/>
          <p:nvPr/>
        </p:nvSpPr>
        <p:spPr>
          <a:xfrm>
            <a:off x="7289269" y="24623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3" name="타원 42"/>
          <p:cNvSpPr/>
          <p:nvPr/>
        </p:nvSpPr>
        <p:spPr>
          <a:xfrm>
            <a:off x="1528876" y="294154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30740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80448"/>
              </p:ext>
            </p:extLst>
          </p:nvPr>
        </p:nvGraphicFramePr>
        <p:xfrm>
          <a:off x="7835006" y="1563565"/>
          <a:ext cx="1973077" cy="273786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이미지파일만 등록 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콘텐츠는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Footer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영역에 표시되지 않음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해당 콘텐츠는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Footer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영역에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사이트기본정보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사이트기본정보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167115" y="1707439"/>
            <a:ext cx="1215926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037080"/>
              </p:ext>
            </p:extLst>
          </p:nvPr>
        </p:nvGraphicFramePr>
        <p:xfrm>
          <a:off x="1507354" y="2475371"/>
          <a:ext cx="6244384" cy="657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홈페이지명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유앤피플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홈페이지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홈페이지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http://www.unpl.co.kr/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</a:tbl>
          </a:graphicData>
        </a:graphic>
      </p:graphicFrame>
      <p:sp>
        <p:nvSpPr>
          <p:cNvPr id="93" name="직사각형 92"/>
          <p:cNvSpPr/>
          <p:nvPr/>
        </p:nvSpPr>
        <p:spPr>
          <a:xfrm>
            <a:off x="1507354" y="2219316"/>
            <a:ext cx="14285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홈페이지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기본정보</a:t>
            </a:r>
            <a:endParaRPr lang="en-US" altLang="ko-KR" sz="1000" b="1" dirty="0"/>
          </a:p>
        </p:txBody>
      </p:sp>
      <p:sp>
        <p:nvSpPr>
          <p:cNvPr id="94" name="직사각형 93"/>
          <p:cNvSpPr/>
          <p:nvPr/>
        </p:nvSpPr>
        <p:spPr>
          <a:xfrm>
            <a:off x="1507354" y="3294967"/>
            <a:ext cx="14734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홈페이지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로고 변경</a:t>
            </a:r>
            <a:endParaRPr lang="en-US" altLang="ko-KR" sz="1000" b="1" dirty="0"/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334305"/>
              </p:ext>
            </p:extLst>
          </p:nvPr>
        </p:nvGraphicFramePr>
        <p:xfrm>
          <a:off x="1507354" y="3584850"/>
          <a:ext cx="6244384" cy="328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로고이미지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로고 이미지 사이즈는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****x****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입니다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3117008" y="3620431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rgbClr val="FF0000"/>
                </a:solidFill>
              </a:rPr>
              <a:t>IMG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3297" y="3620431"/>
            <a:ext cx="209073" cy="257907"/>
          </a:xfrm>
          <a:prstGeom prst="rect">
            <a:avLst/>
          </a:prstGeom>
        </p:spPr>
      </p:pic>
      <p:sp>
        <p:nvSpPr>
          <p:cNvPr id="9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504728" y="3624972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507354" y="4151659"/>
            <a:ext cx="135806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</a:t>
            </a:r>
            <a:r>
              <a:rPr lang="en-US" altLang="ko-KR" sz="1000" b="1" dirty="0"/>
              <a:t>Footer </a:t>
            </a:r>
            <a:r>
              <a:rPr lang="ko-KR" altLang="en-US" sz="1000" b="1" dirty="0"/>
              <a:t>영역 관리</a:t>
            </a:r>
            <a:endParaRPr lang="en-US" altLang="ko-KR" sz="1000" b="1" dirty="0"/>
          </a:p>
        </p:txBody>
      </p:sp>
      <p:graphicFrame>
        <p:nvGraphicFramePr>
          <p:cNvPr id="148" name="표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16845"/>
              </p:ext>
            </p:extLst>
          </p:nvPr>
        </p:nvGraphicFramePr>
        <p:xfrm>
          <a:off x="1507354" y="4428188"/>
          <a:ext cx="6244382" cy="225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382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926528">
                  <a:extLst>
                    <a:ext uri="{9D8B030D-6E8A-4147-A177-3AD203B41FA5}">
                      <a16:colId xmlns:a16="http://schemas.microsoft.com/office/drawing/2014/main" xmlns="" val="3118668371"/>
                    </a:ext>
                  </a:extLst>
                </a:gridCol>
              </a:tblGrid>
              <a:tr h="375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75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기관명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375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COPYRIGHT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62218891"/>
                  </a:ext>
                </a:extLst>
              </a:tr>
              <a:tr h="375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41756937"/>
                  </a:ext>
                </a:extLst>
              </a:tr>
              <a:tr h="375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71819379"/>
                  </a:ext>
                </a:extLst>
              </a:tr>
              <a:tr h="375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팩스번호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91768844"/>
                  </a:ext>
                </a:extLst>
              </a:tr>
            </a:tbl>
          </a:graphicData>
        </a:graphic>
      </p:graphicFrame>
      <p:sp>
        <p:nvSpPr>
          <p:cNvPr id="194" name="타원 193"/>
          <p:cNvSpPr/>
          <p:nvPr/>
        </p:nvSpPr>
        <p:spPr>
          <a:xfrm>
            <a:off x="2465532" y="349870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2" name="직사각형 51"/>
          <p:cNvSpPr/>
          <p:nvPr/>
        </p:nvSpPr>
        <p:spPr>
          <a:xfrm>
            <a:off x="2612741" y="4852993"/>
            <a:ext cx="40682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612741" y="5238702"/>
            <a:ext cx="40682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938522" y="4860533"/>
            <a:ext cx="67877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612741" y="5605262"/>
            <a:ext cx="40682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612741" y="5996349"/>
            <a:ext cx="40682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612741" y="6332601"/>
            <a:ext cx="40682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938522" y="5238702"/>
            <a:ext cx="67877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사용중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938522" y="5602811"/>
            <a:ext cx="67877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사용중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6938522" y="6002870"/>
            <a:ext cx="67877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사용중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8522" y="6330150"/>
            <a:ext cx="67877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6827409" y="473277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6827409" y="516511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4" name="타원 73"/>
          <p:cNvSpPr/>
          <p:nvPr/>
        </p:nvSpPr>
        <p:spPr>
          <a:xfrm>
            <a:off x="6827409" y="552344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타원 74"/>
          <p:cNvSpPr/>
          <p:nvPr/>
        </p:nvSpPr>
        <p:spPr>
          <a:xfrm>
            <a:off x="6827409" y="592679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6827409" y="62918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580587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2486787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준비중 페이지 선택 시 메뉴링크 자동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21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960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45208574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36832" y="3881982"/>
            <a:ext cx="1933143" cy="19077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ready.jsp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3881982"/>
            <a:ext cx="646331" cy="190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51397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97515" y="2154922"/>
            <a:ext cx="1036458" cy="3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>
                <a:solidFill>
                  <a:srgbClr val="FF0000"/>
                </a:solidFill>
              </a:rPr>
              <a:t>홈페이지 관리자 메뉴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/>
              <a:t>홈페이지 메뉴</a:t>
            </a:r>
            <a:endParaRPr lang="en-US" altLang="ko-KR" sz="600" dirty="0"/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22436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935009" y="4407857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83" name="타원 82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4" name="타원 83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5" name="타원 84"/>
          <p:cNvSpPr/>
          <p:nvPr/>
        </p:nvSpPr>
        <p:spPr>
          <a:xfrm>
            <a:off x="601584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6" name="타원 85"/>
          <p:cNvSpPr/>
          <p:nvPr/>
        </p:nvSpPr>
        <p:spPr>
          <a:xfrm>
            <a:off x="659229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7" name="타원 86"/>
          <p:cNvSpPr/>
          <p:nvPr/>
        </p:nvSpPr>
        <p:spPr>
          <a:xfrm>
            <a:off x="7110335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2" name="직사각형 1"/>
          <p:cNvSpPr/>
          <p:nvPr/>
        </p:nvSpPr>
        <p:spPr>
          <a:xfrm>
            <a:off x="1484420" y="3916347"/>
            <a:ext cx="2172436" cy="592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관리자메뉴 적용을 위해 재로그인이 필요합니다</a:t>
            </a:r>
            <a:r>
              <a:rPr lang="en-US" altLang="ko-KR" sz="7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로그아웃 하시겠습니까</a:t>
            </a:r>
            <a:r>
              <a:rPr lang="en-US" altLang="ko-KR" sz="700" dirty="0">
                <a:solidFill>
                  <a:schemeClr val="tx1"/>
                </a:solidFill>
              </a:rPr>
              <a:t>?</a:t>
            </a:r>
          </a:p>
          <a:p>
            <a:pPr algn="ctr"/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020341" y="4275707"/>
            <a:ext cx="486127" cy="194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2564694" y="4275707"/>
            <a:ext cx="486127" cy="194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4" name="연결선: 꺾임 3"/>
          <p:cNvCxnSpPr>
            <a:stCxn id="57" idx="2"/>
            <a:endCxn id="2" idx="0"/>
          </p:cNvCxnSpPr>
          <p:nvPr/>
        </p:nvCxnSpPr>
        <p:spPr>
          <a:xfrm rot="5400000">
            <a:off x="2231831" y="2833357"/>
            <a:ext cx="1421797" cy="74418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1825859" y="5032614"/>
            <a:ext cx="1783124" cy="1182715"/>
            <a:chOff x="1825859" y="5032614"/>
            <a:chExt cx="1783124" cy="118271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25859" y="5209757"/>
              <a:ext cx="1783124" cy="1005572"/>
            </a:xfrm>
            <a:prstGeom prst="rect">
              <a:avLst/>
            </a:prstGeom>
          </p:spPr>
        </p:pic>
        <p:sp>
          <p:nvSpPr>
            <p:cNvPr id="90" name="직사각형 89"/>
            <p:cNvSpPr/>
            <p:nvPr/>
          </p:nvSpPr>
          <p:spPr>
            <a:xfrm>
              <a:off x="1828064" y="5032614"/>
              <a:ext cx="1780919" cy="1691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>
                  <a:solidFill>
                    <a:schemeClr val="tx1"/>
                  </a:solidFill>
                </a:rPr>
                <a:t>담당자지정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1" name="연결선: 꺾임 90"/>
          <p:cNvCxnSpPr>
            <a:cxnSpLocks/>
            <a:stCxn id="80" idx="1"/>
            <a:endCxn id="90" idx="0"/>
          </p:cNvCxnSpPr>
          <p:nvPr/>
        </p:nvCxnSpPr>
        <p:spPr>
          <a:xfrm rot="10800000" flipV="1">
            <a:off x="2718525" y="4252614"/>
            <a:ext cx="2228191" cy="77999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956291" y="3720842"/>
            <a:ext cx="1134189" cy="173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준비중 페이지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55" name="직사각형 54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3881605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64677"/>
              </p:ext>
            </p:extLst>
          </p:nvPr>
        </p:nvGraphicFramePr>
        <p:xfrm>
          <a:off x="7835006" y="1563565"/>
          <a:ext cx="1973077" cy="2563114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선택 팝업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선택 후 자동으로 메뉴링크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87911"/>
              </p:ext>
            </p:extLst>
          </p:nvPr>
        </p:nvGraphicFramePr>
        <p:xfrm>
          <a:off x="4028159" y="2240633"/>
          <a:ext cx="3723578" cy="353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438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9372" y="3730010"/>
            <a:ext cx="130832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프로그램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36832" y="4176753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program.jsp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419657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237450" y="5840407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63965" y="583559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090480" y="583559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●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50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946715" y="4449858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935009" y="473527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58" name="타원 57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4774711" y="363125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601584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659229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7110335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8</a:t>
            </a:r>
            <a:endParaRPr lang="ko-KR" altLang="en-US" sz="1100" b="1" dirty="0"/>
          </a:p>
        </p:txBody>
      </p:sp>
      <p:sp>
        <p:nvSpPr>
          <p:cNvPr id="77" name="타원 76"/>
          <p:cNvSpPr/>
          <p:nvPr/>
        </p:nvSpPr>
        <p:spPr>
          <a:xfrm>
            <a:off x="4774711" y="427839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9911" y="4191183"/>
            <a:ext cx="1573345" cy="1214730"/>
          </a:xfrm>
          <a:prstGeom prst="rect">
            <a:avLst/>
          </a:prstGeom>
        </p:spPr>
      </p:pic>
      <p:cxnSp>
        <p:nvCxnSpPr>
          <p:cNvPr id="78" name="연결선: 꺾임 77"/>
          <p:cNvCxnSpPr>
            <a:cxnSpLocks/>
            <a:stCxn id="37" idx="1"/>
            <a:endCxn id="3" idx="3"/>
          </p:cNvCxnSpPr>
          <p:nvPr/>
        </p:nvCxnSpPr>
        <p:spPr>
          <a:xfrm rot="10800000" flipV="1">
            <a:off x="3593256" y="3860188"/>
            <a:ext cx="1366116" cy="93835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4956291" y="4029294"/>
            <a:ext cx="1134189" cy="190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게시판속성관리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51" name="직사각형 50"/>
          <p:cNvSpPr/>
          <p:nvPr/>
        </p:nvSpPr>
        <p:spPr>
          <a:xfrm>
            <a:off x="397515" y="2154922"/>
            <a:ext cx="1036458" cy="3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>
                <a:solidFill>
                  <a:srgbClr val="FF0000"/>
                </a:solidFill>
              </a:rPr>
              <a:t>홈페이지 관리자 메뉴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/>
              <a:t>홈페이지 메뉴</a:t>
            </a:r>
            <a:endParaRPr lang="en-US" altLang="ko-KR" sz="600" dirty="0"/>
          </a:p>
        </p:txBody>
      </p:sp>
      <p:sp>
        <p:nvSpPr>
          <p:cNvPr id="52" name="직사각형 51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3552575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4164"/>
              </p:ext>
            </p:extLst>
          </p:nvPr>
        </p:nvGraphicFramePr>
        <p:xfrm>
          <a:off x="7835006" y="1563565"/>
          <a:ext cx="1973077" cy="263766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선택 시 신규 콘텐츠 페이지 자동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21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960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45208574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36832" y="3841558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contents.jsp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3861375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51397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938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●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생성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22436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935009" y="4407857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83" name="타원 82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4" name="타원 83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5" name="타원 84"/>
          <p:cNvSpPr/>
          <p:nvPr/>
        </p:nvSpPr>
        <p:spPr>
          <a:xfrm>
            <a:off x="601584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6" name="타원 85"/>
          <p:cNvSpPr/>
          <p:nvPr/>
        </p:nvSpPr>
        <p:spPr>
          <a:xfrm>
            <a:off x="659229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7" name="타원 86"/>
          <p:cNvSpPr/>
          <p:nvPr/>
        </p:nvSpPr>
        <p:spPr>
          <a:xfrm>
            <a:off x="7110335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58" name="직사각형 57"/>
          <p:cNvSpPr/>
          <p:nvPr/>
        </p:nvSpPr>
        <p:spPr>
          <a:xfrm>
            <a:off x="4956291" y="3692140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회사소개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49" name="직사각형 48"/>
          <p:cNvSpPr/>
          <p:nvPr/>
        </p:nvSpPr>
        <p:spPr>
          <a:xfrm>
            <a:off x="397515" y="2154922"/>
            <a:ext cx="1036458" cy="3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>
                <a:solidFill>
                  <a:srgbClr val="FF0000"/>
                </a:solidFill>
              </a:rPr>
              <a:t>홈페이지 관리자 메뉴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/>
              <a:t>홈페이지 메뉴</a:t>
            </a:r>
            <a:endParaRPr lang="en-US" altLang="ko-KR" sz="600" dirty="0"/>
          </a:p>
        </p:txBody>
      </p:sp>
      <p:sp>
        <p:nvSpPr>
          <p:cNvPr id="50" name="직사각형 49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1179776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49349"/>
              </p:ext>
            </p:extLst>
          </p:nvPr>
        </p:nvGraphicFramePr>
        <p:xfrm>
          <a:off x="4028159" y="2240633"/>
          <a:ext cx="3723578" cy="353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23863695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46715" y="3726419"/>
            <a:ext cx="130832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게시판 선택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736832" y="4174480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bbs.jsp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4194297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946715" y="4449858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7237450" y="5848327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663965" y="584351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090480" y="584351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게시판    ○외부링크</a:t>
            </a:r>
            <a:endParaRPr lang="ko-KR" altLang="en-US" sz="900" dirty="0"/>
          </a:p>
        </p:txBody>
      </p:sp>
      <p:sp>
        <p:nvSpPr>
          <p:cNvPr id="44" name="직사각형 43"/>
          <p:cNvSpPr/>
          <p:nvPr/>
        </p:nvSpPr>
        <p:spPr>
          <a:xfrm>
            <a:off x="4935009" y="473527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1613" y="4278147"/>
            <a:ext cx="2367268" cy="1778485"/>
          </a:xfrm>
          <a:prstGeom prst="rect">
            <a:avLst/>
          </a:prstGeom>
        </p:spPr>
      </p:pic>
      <p:cxnSp>
        <p:nvCxnSpPr>
          <p:cNvPr id="49" name="연결선: 꺾임 48"/>
          <p:cNvCxnSpPr>
            <a:cxnSpLocks/>
            <a:stCxn id="38" idx="1"/>
            <a:endCxn id="2" idx="0"/>
          </p:cNvCxnSpPr>
          <p:nvPr/>
        </p:nvCxnSpPr>
        <p:spPr>
          <a:xfrm rot="10800000" flipV="1">
            <a:off x="2385247" y="3856597"/>
            <a:ext cx="2561468" cy="4215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560316"/>
              </p:ext>
            </p:extLst>
          </p:nvPr>
        </p:nvGraphicFramePr>
        <p:xfrm>
          <a:off x="7835006" y="1563565"/>
          <a:ext cx="1973077" cy="241223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선택 팝업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선택 후 자동으로 메뉴링크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5" name="타원 54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8" name="타원 57"/>
          <p:cNvSpPr/>
          <p:nvPr/>
        </p:nvSpPr>
        <p:spPr>
          <a:xfrm>
            <a:off x="4774711" y="363125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601584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659229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7110335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8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4774711" y="427839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77" name="직사각형 76"/>
          <p:cNvSpPr/>
          <p:nvPr/>
        </p:nvSpPr>
        <p:spPr>
          <a:xfrm>
            <a:off x="4956291" y="4009263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자유게시판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52" name="직사각형 51"/>
          <p:cNvSpPr/>
          <p:nvPr/>
        </p:nvSpPr>
        <p:spPr>
          <a:xfrm>
            <a:off x="397515" y="2154922"/>
            <a:ext cx="1036458" cy="3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>
                <a:solidFill>
                  <a:srgbClr val="FF0000"/>
                </a:solidFill>
              </a:rPr>
              <a:t>홈페이지 관리자 메뉴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/>
              <a:t>홈페이지 메뉴</a:t>
            </a:r>
            <a:endParaRPr lang="en-US" altLang="ko-KR" sz="600" dirty="0"/>
          </a:p>
        </p:txBody>
      </p:sp>
      <p:sp>
        <p:nvSpPr>
          <p:cNvPr id="78" name="직사각형 77"/>
          <p:cNvSpPr/>
          <p:nvPr/>
        </p:nvSpPr>
        <p:spPr>
          <a:xfrm>
            <a:off x="167115" y="1707439"/>
            <a:ext cx="1215926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4226126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28304"/>
              </p:ext>
            </p:extLst>
          </p:nvPr>
        </p:nvGraphicFramePr>
        <p:xfrm>
          <a:off x="4028159" y="2240633"/>
          <a:ext cx="3723578" cy="337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6004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4860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07488006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452934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878774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873964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873964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● 외부링크</a:t>
            </a:r>
            <a:endParaRPr lang="ko-KR" altLang="en-US" sz="900" dirty="0"/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58133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558899" y="3775160"/>
            <a:ext cx="20871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NUM,</a:t>
            </a:r>
            <a:r>
              <a:rPr lang="ko-KR" altLang="en-US" sz="800" dirty="0">
                <a:solidFill>
                  <a:srgbClr val="FF0000"/>
                </a:solidFill>
              </a:rPr>
              <a:t> 특수문자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4935009" y="3791693"/>
            <a:ext cx="62388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900" dirty="0"/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076299"/>
              </p:ext>
            </p:extLst>
          </p:nvPr>
        </p:nvGraphicFramePr>
        <p:xfrm>
          <a:off x="7835006" y="1563565"/>
          <a:ext cx="1973077" cy="2486787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외부링크 선택 시 외부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URL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 창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78" name="타원 77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9" name="타원 78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0" name="타원 79"/>
          <p:cNvSpPr/>
          <p:nvPr/>
        </p:nvSpPr>
        <p:spPr>
          <a:xfrm>
            <a:off x="6015840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1" name="타원 80"/>
          <p:cNvSpPr/>
          <p:nvPr/>
        </p:nvSpPr>
        <p:spPr>
          <a:xfrm>
            <a:off x="6592290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2" name="타원 81"/>
          <p:cNvSpPr/>
          <p:nvPr/>
        </p:nvSpPr>
        <p:spPr>
          <a:xfrm>
            <a:off x="7110335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397515" y="2154922"/>
            <a:ext cx="1036458" cy="351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>
                <a:solidFill>
                  <a:srgbClr val="FF0000"/>
                </a:solidFill>
              </a:rPr>
              <a:t>홈페이지 관리자 메뉴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/>
              <a:t>홈페이지 메뉴</a:t>
            </a:r>
            <a:endParaRPr lang="en-US" altLang="ko-KR" sz="600" dirty="0"/>
          </a:p>
        </p:txBody>
      </p:sp>
      <p:sp>
        <p:nvSpPr>
          <p:cNvPr id="52" name="직사각형 51"/>
          <p:cNvSpPr/>
          <p:nvPr/>
        </p:nvSpPr>
        <p:spPr>
          <a:xfrm>
            <a:off x="167115" y="1707439"/>
            <a:ext cx="1215926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888473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072107"/>
              </p:ext>
            </p:extLst>
          </p:nvPr>
        </p:nvGraphicFramePr>
        <p:xfrm>
          <a:off x="7835006" y="1563565"/>
          <a:ext cx="1973077" cy="2486787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정상적으로 메뉴가 적용되었습니다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준비중 페이지 선택 시 메뉴링크 자동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21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960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45208574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51397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22436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935009" y="4407857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83" name="타원 82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4" name="타원 83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5" name="타원 84"/>
          <p:cNvSpPr/>
          <p:nvPr/>
        </p:nvSpPr>
        <p:spPr>
          <a:xfrm>
            <a:off x="601584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6" name="타원 85"/>
          <p:cNvSpPr/>
          <p:nvPr/>
        </p:nvSpPr>
        <p:spPr>
          <a:xfrm>
            <a:off x="659229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7" name="타원 86"/>
          <p:cNvSpPr/>
          <p:nvPr/>
        </p:nvSpPr>
        <p:spPr>
          <a:xfrm>
            <a:off x="7110335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2" name="직사각형 1"/>
          <p:cNvSpPr/>
          <p:nvPr/>
        </p:nvSpPr>
        <p:spPr>
          <a:xfrm>
            <a:off x="1484420" y="3916347"/>
            <a:ext cx="2172436" cy="592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정상적으로 메뉴가 적용되었습니다</a:t>
            </a:r>
            <a:r>
              <a:rPr lang="en-US" altLang="ko-KR" sz="700" dirty="0">
                <a:solidFill>
                  <a:schemeClr val="tx1"/>
                </a:solidFill>
              </a:rPr>
              <a:t>. </a:t>
            </a:r>
          </a:p>
          <a:p>
            <a:pPr algn="ctr"/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327574" y="4222367"/>
            <a:ext cx="486127" cy="194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확인</a:t>
            </a:r>
          </a:p>
        </p:txBody>
      </p:sp>
      <p:cxnSp>
        <p:nvCxnSpPr>
          <p:cNvPr id="4" name="연결선: 꺾임 3"/>
          <p:cNvCxnSpPr>
            <a:cxnSpLocks/>
            <a:stCxn id="57" idx="2"/>
            <a:endCxn id="2" idx="0"/>
          </p:cNvCxnSpPr>
          <p:nvPr/>
        </p:nvCxnSpPr>
        <p:spPr>
          <a:xfrm rot="5400000">
            <a:off x="2231831" y="2833357"/>
            <a:ext cx="1421797" cy="74418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1825859" y="5032614"/>
            <a:ext cx="1783124" cy="1182715"/>
            <a:chOff x="1825859" y="5032614"/>
            <a:chExt cx="1783124" cy="118271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825859" y="5209757"/>
              <a:ext cx="1783124" cy="1005572"/>
            </a:xfrm>
            <a:prstGeom prst="rect">
              <a:avLst/>
            </a:prstGeom>
          </p:spPr>
        </p:pic>
        <p:sp>
          <p:nvSpPr>
            <p:cNvPr id="90" name="직사각형 89"/>
            <p:cNvSpPr/>
            <p:nvPr/>
          </p:nvSpPr>
          <p:spPr>
            <a:xfrm>
              <a:off x="1828064" y="5032614"/>
              <a:ext cx="1780919" cy="1691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>
                  <a:solidFill>
                    <a:schemeClr val="tx1"/>
                  </a:solidFill>
                </a:rPr>
                <a:t>담당자지정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1" name="연결선: 꺾임 90"/>
          <p:cNvCxnSpPr>
            <a:cxnSpLocks/>
            <a:stCxn id="80" idx="1"/>
            <a:endCxn id="90" idx="0"/>
          </p:cNvCxnSpPr>
          <p:nvPr/>
        </p:nvCxnSpPr>
        <p:spPr>
          <a:xfrm rot="10800000" flipV="1">
            <a:off x="2718525" y="4252614"/>
            <a:ext cx="2228191" cy="77999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8" name="직사각형 57"/>
          <p:cNvSpPr/>
          <p:nvPr/>
        </p:nvSpPr>
        <p:spPr>
          <a:xfrm>
            <a:off x="397515" y="2154922"/>
            <a:ext cx="103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/>
              <a:t>홈페이지 관리자 메뉴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>
                <a:solidFill>
                  <a:srgbClr val="FF0000"/>
                </a:solidFill>
              </a:rPr>
              <a:t>홈페이지 메뉴</a:t>
            </a:r>
            <a:endParaRPr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5736832" y="3881982"/>
            <a:ext cx="1933143" cy="19077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ready.jsp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935009" y="3881982"/>
            <a:ext cx="646331" cy="190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73" name="직사각형 72"/>
          <p:cNvSpPr/>
          <p:nvPr/>
        </p:nvSpPr>
        <p:spPr>
          <a:xfrm>
            <a:off x="4956291" y="3720842"/>
            <a:ext cx="1134189" cy="173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준비중 페이지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82794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2563114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선택 팝업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 선택 후 자동으로 메뉴링크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53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544438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9372" y="3730010"/>
            <a:ext cx="130832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프로그램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237450" y="5840407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63965" y="583559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090480" y="583559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●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50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946715" y="4449858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935009" y="473527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58" name="타원 57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4774711" y="363125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601584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659229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7110335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8</a:t>
            </a:r>
            <a:endParaRPr lang="ko-KR" altLang="en-US" sz="1100" b="1" dirty="0"/>
          </a:p>
        </p:txBody>
      </p:sp>
      <p:sp>
        <p:nvSpPr>
          <p:cNvPr id="77" name="타원 76"/>
          <p:cNvSpPr/>
          <p:nvPr/>
        </p:nvSpPr>
        <p:spPr>
          <a:xfrm>
            <a:off x="4774711" y="427839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9911" y="4191183"/>
            <a:ext cx="1573345" cy="1214730"/>
          </a:xfrm>
          <a:prstGeom prst="rect">
            <a:avLst/>
          </a:prstGeom>
        </p:spPr>
      </p:pic>
      <p:cxnSp>
        <p:nvCxnSpPr>
          <p:cNvPr id="78" name="연결선: 꺾임 77"/>
          <p:cNvCxnSpPr>
            <a:cxnSpLocks/>
            <a:stCxn id="37" idx="1"/>
            <a:endCxn id="3" idx="3"/>
          </p:cNvCxnSpPr>
          <p:nvPr/>
        </p:nvCxnSpPr>
        <p:spPr>
          <a:xfrm rot="10800000" flipV="1">
            <a:off x="3593256" y="3860188"/>
            <a:ext cx="1366116" cy="93835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2" name="직사각형 51"/>
          <p:cNvSpPr/>
          <p:nvPr/>
        </p:nvSpPr>
        <p:spPr>
          <a:xfrm>
            <a:off x="397515" y="2154922"/>
            <a:ext cx="103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/>
              <a:t>홈페이지 관리자 메뉴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>
                <a:solidFill>
                  <a:srgbClr val="FF0000"/>
                </a:solidFill>
              </a:rPr>
              <a:t>홈페이지 메뉴</a:t>
            </a:r>
            <a:endParaRPr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736832" y="4176753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program.jsp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935009" y="419657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81" name="직사각형 80"/>
          <p:cNvSpPr/>
          <p:nvPr/>
        </p:nvSpPr>
        <p:spPr>
          <a:xfrm>
            <a:off x="4956291" y="4029294"/>
            <a:ext cx="1134189" cy="190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게시판속성관리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39707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263766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선택 시 신규 콘텐츠 페이지 자동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214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960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45208574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51397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50916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938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●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생성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○외부링크</a:t>
            </a:r>
            <a:endParaRPr lang="ko-KR" altLang="en-US" sz="900" dirty="0"/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22436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935009" y="4407857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83" name="타원 82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84" name="타원 83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5" name="타원 84"/>
          <p:cNvSpPr/>
          <p:nvPr/>
        </p:nvSpPr>
        <p:spPr>
          <a:xfrm>
            <a:off x="601584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6" name="타원 85"/>
          <p:cNvSpPr/>
          <p:nvPr/>
        </p:nvSpPr>
        <p:spPr>
          <a:xfrm>
            <a:off x="6592290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7" name="타원 86"/>
          <p:cNvSpPr/>
          <p:nvPr/>
        </p:nvSpPr>
        <p:spPr>
          <a:xfrm>
            <a:off x="7110335" y="54302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50" name="직사각형 49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1" name="직사각형 50"/>
          <p:cNvSpPr/>
          <p:nvPr/>
        </p:nvSpPr>
        <p:spPr>
          <a:xfrm>
            <a:off x="397515" y="2154922"/>
            <a:ext cx="103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/>
              <a:t>홈페이지 관리자 메뉴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>
                <a:solidFill>
                  <a:srgbClr val="FF0000"/>
                </a:solidFill>
              </a:rPr>
              <a:t>홈페이지 메뉴</a:t>
            </a:r>
            <a:endParaRPr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736832" y="3841558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contents.jsp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935009" y="3861375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4956291" y="3692140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회사소개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21688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53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28943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911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23863695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46715" y="3726419"/>
            <a:ext cx="1308324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게시판 선택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946715" y="4449858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7237450" y="5848327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663965" y="584351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090480" y="584351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● 게시판    ○외부링크</a:t>
            </a:r>
            <a:endParaRPr lang="ko-KR" altLang="en-US" sz="900" dirty="0"/>
          </a:p>
        </p:txBody>
      </p:sp>
      <p:sp>
        <p:nvSpPr>
          <p:cNvPr id="44" name="직사각형 43"/>
          <p:cNvSpPr/>
          <p:nvPr/>
        </p:nvSpPr>
        <p:spPr>
          <a:xfrm>
            <a:off x="4935009" y="473527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1613" y="4278147"/>
            <a:ext cx="2367268" cy="1778485"/>
          </a:xfrm>
          <a:prstGeom prst="rect">
            <a:avLst/>
          </a:prstGeom>
        </p:spPr>
      </p:pic>
      <p:cxnSp>
        <p:nvCxnSpPr>
          <p:cNvPr id="49" name="연결선: 꺾임 48"/>
          <p:cNvCxnSpPr>
            <a:cxnSpLocks/>
            <a:stCxn id="38" idx="1"/>
            <a:endCxn id="2" idx="0"/>
          </p:cNvCxnSpPr>
          <p:nvPr/>
        </p:nvCxnSpPr>
        <p:spPr>
          <a:xfrm rot="10800000" flipV="1">
            <a:off x="2385247" y="3856597"/>
            <a:ext cx="2561468" cy="4215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241223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선택 팝업 생성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선택 후 자동으로 메뉴링크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5" name="타원 54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8" name="타원 57"/>
          <p:cNvSpPr/>
          <p:nvPr/>
        </p:nvSpPr>
        <p:spPr>
          <a:xfrm>
            <a:off x="4774711" y="363125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601584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6592290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7110335" y="56796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8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4774711" y="427839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77" name="직사각형 76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78" name="직사각형 77"/>
          <p:cNvSpPr/>
          <p:nvPr/>
        </p:nvSpPr>
        <p:spPr>
          <a:xfrm>
            <a:off x="397515" y="2154922"/>
            <a:ext cx="103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/>
              <a:t>홈페이지 관리자 메뉴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>
                <a:solidFill>
                  <a:srgbClr val="FF0000"/>
                </a:solidFill>
              </a:rPr>
              <a:t>홈페이지 메뉴</a:t>
            </a:r>
            <a:endParaRPr lang="en-US" altLang="ko-KR" sz="6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736832" y="4174480"/>
            <a:ext cx="1933143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ucms</a:t>
            </a:r>
            <a:r>
              <a:rPr lang="en-US" altLang="ko-KR" sz="800" dirty="0">
                <a:solidFill>
                  <a:schemeClr val="tx1"/>
                </a:solidFill>
              </a:rPr>
              <a:t>/home/</a:t>
            </a:r>
            <a:r>
              <a:rPr lang="en-US" altLang="ko-KR" sz="800" dirty="0" err="1">
                <a:solidFill>
                  <a:schemeClr val="tx1"/>
                </a:solidFill>
              </a:rPr>
              <a:t>bbs.jsp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935009" y="4194297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endParaRPr lang="ko-KR" altLang="en-US" sz="900" dirty="0"/>
          </a:p>
        </p:txBody>
      </p:sp>
      <p:sp>
        <p:nvSpPr>
          <p:cNvPr id="81" name="직사각형 80"/>
          <p:cNvSpPr/>
          <p:nvPr/>
        </p:nvSpPr>
        <p:spPr>
          <a:xfrm>
            <a:off x="4956291" y="4009263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자유게시판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2788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관리자 메뉴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관리자 메뉴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7357" y="2599421"/>
            <a:ext cx="2437533" cy="1192272"/>
          </a:xfrm>
          <a:prstGeom prst="rect">
            <a:avLst/>
          </a:prstGeom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4028159" y="2240633"/>
          <a:ext cx="3723578" cy="337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52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876053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100001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7356323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45356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9525698"/>
                  </a:ext>
                </a:extLst>
              </a:tr>
              <a:tr h="36004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담당자 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4860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07488006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새창열기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56739177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2192842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38344" y="2594358"/>
            <a:ext cx="70213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Number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35009" y="2934256"/>
            <a:ext cx="1540128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number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935009" y="4529349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     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이메일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ko-KR" altLang="en-US" sz="900" dirty="0"/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7237450" y="5878774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63965" y="5873964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090480" y="5873964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07355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하위 신규메뉴 추가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1373307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726123" y="2234192"/>
            <a:ext cx="1177393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메뉴적용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56904" y="2154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4818037" y="3258033"/>
            <a:ext cx="282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준비중 페이지     ○ 프로그램    ○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웹콘텐츠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게시판    ● 외부링크</a:t>
            </a:r>
            <a:endParaRPr lang="ko-KR" altLang="en-US" sz="900" dirty="0"/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946715" y="4158133"/>
            <a:ext cx="1528422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담당자 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558899" y="3775160"/>
            <a:ext cx="208715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NUM,</a:t>
            </a:r>
            <a:r>
              <a:rPr lang="ko-KR" altLang="en-US" sz="800" dirty="0">
                <a:solidFill>
                  <a:srgbClr val="FF0000"/>
                </a:solidFill>
              </a:rPr>
              <a:t> 특수문자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4935009" y="3791693"/>
            <a:ext cx="62388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900" dirty="0"/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2486787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 신규메뉴 추가 버튼 클릭 시 선택된 메뉴에 하위 메뉴 추가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 적용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재로그인시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변경된 메뉴가 적용됩니다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.’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얼럿팝업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생성 후 로그아웃 처리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선택에 따라 하위의 콘텐츠 선택 양식이 변경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외부링크 선택 시 외부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URL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 창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 선택 팝업 생성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초기화 버튼 클릭 시 내용 모두 초기화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해당 메뉴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메뉴내용 수정 후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78" name="타원 77"/>
          <p:cNvSpPr/>
          <p:nvPr/>
        </p:nvSpPr>
        <p:spPr>
          <a:xfrm>
            <a:off x="4774711" y="31394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9" name="타원 78"/>
          <p:cNvSpPr/>
          <p:nvPr/>
        </p:nvSpPr>
        <p:spPr>
          <a:xfrm>
            <a:off x="4774711" y="400014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0" name="타원 79"/>
          <p:cNvSpPr/>
          <p:nvPr/>
        </p:nvSpPr>
        <p:spPr>
          <a:xfrm>
            <a:off x="6015840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81" name="타원 80"/>
          <p:cNvSpPr/>
          <p:nvPr/>
        </p:nvSpPr>
        <p:spPr>
          <a:xfrm>
            <a:off x="6592290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82" name="타원 81"/>
          <p:cNvSpPr/>
          <p:nvPr/>
        </p:nvSpPr>
        <p:spPr>
          <a:xfrm>
            <a:off x="7110335" y="57630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7</a:t>
            </a:r>
            <a:endParaRPr lang="ko-KR" altLang="en-US" sz="1100" b="1" dirty="0"/>
          </a:p>
        </p:txBody>
      </p:sp>
      <p:sp>
        <p:nvSpPr>
          <p:cNvPr id="52" name="직사각형 51"/>
          <p:cNvSpPr/>
          <p:nvPr/>
        </p:nvSpPr>
        <p:spPr>
          <a:xfrm>
            <a:off x="167115" y="1707439"/>
            <a:ext cx="1215926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5" name="직사각형 54"/>
          <p:cNvSpPr/>
          <p:nvPr/>
        </p:nvSpPr>
        <p:spPr>
          <a:xfrm>
            <a:off x="397515" y="2154922"/>
            <a:ext cx="103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600" b="1" dirty="0"/>
              <a:t>홈페이지 관리자 메뉴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600" dirty="0">
                <a:solidFill>
                  <a:srgbClr val="FF0000"/>
                </a:solidFill>
              </a:rPr>
              <a:t>홈페이지 메뉴</a:t>
            </a:r>
            <a:endParaRPr lang="en-US" altLang="ko-KR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상단 가이드 메뉴관리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상단 가이드 메뉴관리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52895"/>
              </p:ext>
            </p:extLst>
          </p:nvPr>
        </p:nvGraphicFramePr>
        <p:xfrm>
          <a:off x="7835006" y="1563565"/>
          <a:ext cx="1973077" cy="1803400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상단가이드메뉴관리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6735" y="2223684"/>
            <a:ext cx="6298226" cy="1313328"/>
          </a:xfrm>
          <a:prstGeom prst="rect">
            <a:avLst/>
          </a:prstGeom>
        </p:spPr>
      </p:pic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584506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676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하단 가이드 메뉴관리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하단 가이드 메뉴관리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803400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하단가이드메뉴관리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825044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7354" y="2157062"/>
            <a:ext cx="6221029" cy="155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71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7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메인관리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메인관리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65748"/>
              </p:ext>
            </p:extLst>
          </p:nvPr>
        </p:nvGraphicFramePr>
        <p:xfrm>
          <a:off x="7835006" y="1563565"/>
          <a:ext cx="1973077" cy="1956054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메인비주얼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영역 선택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메인비주얼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페이지로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영역 선택 시 콘텐츠 등록 페이지로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메인관리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6315" y="2348880"/>
            <a:ext cx="4446459" cy="34571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504728" y="2398422"/>
            <a:ext cx="4284476" cy="112335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메인 비주얼 변경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864768" y="3645024"/>
            <a:ext cx="828092" cy="1116124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3" name="직사각형 32"/>
          <p:cNvSpPr/>
          <p:nvPr/>
        </p:nvSpPr>
        <p:spPr>
          <a:xfrm>
            <a:off x="5571455" y="3645024"/>
            <a:ext cx="828092" cy="1116124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5571455" y="4813171"/>
            <a:ext cx="828092" cy="956089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2864768" y="4813171"/>
            <a:ext cx="828092" cy="956089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3737266" y="4813171"/>
            <a:ext cx="1755793" cy="956089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7" name="직사각형 36"/>
          <p:cNvSpPr/>
          <p:nvPr/>
        </p:nvSpPr>
        <p:spPr>
          <a:xfrm>
            <a:off x="3737266" y="3645024"/>
            <a:ext cx="1755793" cy="1116124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콘텐츠</a:t>
            </a:r>
            <a:endParaRPr lang="en-US" altLang="ko-KR" sz="1200" dirty="0"/>
          </a:p>
          <a:p>
            <a:pPr algn="ctr"/>
            <a:r>
              <a:rPr lang="ko-KR" altLang="en-US" sz="1200" dirty="0"/>
              <a:t>변경</a:t>
            </a:r>
            <a:endParaRPr lang="en-US" altLang="ko-KR" sz="1200" dirty="0"/>
          </a:p>
        </p:txBody>
      </p:sp>
      <p:sp>
        <p:nvSpPr>
          <p:cNvPr id="38" name="타원 37"/>
          <p:cNvSpPr/>
          <p:nvPr/>
        </p:nvSpPr>
        <p:spPr>
          <a:xfrm>
            <a:off x="2441158" y="232196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2" name="타원 41"/>
          <p:cNvSpPr/>
          <p:nvPr/>
        </p:nvSpPr>
        <p:spPr>
          <a:xfrm>
            <a:off x="2761735" y="360899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3" name="타원 42"/>
          <p:cNvSpPr/>
          <p:nvPr/>
        </p:nvSpPr>
        <p:spPr>
          <a:xfrm>
            <a:off x="3664412" y="360899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4" name="타원 43"/>
          <p:cNvSpPr/>
          <p:nvPr/>
        </p:nvSpPr>
        <p:spPr>
          <a:xfrm>
            <a:off x="5482542" y="360899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2761735" y="47880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3664412" y="47880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5482542" y="478806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045470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메인관리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메인관리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956054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메인비주얼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영역 선택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메인비주얼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페이지로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영역 선택 시 콘텐츠 등록 페이지로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메인관리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013894"/>
              </p:ext>
            </p:extLst>
          </p:nvPr>
        </p:nvGraphicFramePr>
        <p:xfrm>
          <a:off x="1507354" y="2489106"/>
          <a:ext cx="6244384" cy="328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메인비주얼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메인비주얼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이미지 사이즈는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****x****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입니다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3117008" y="2524687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rgbClr val="FF0000"/>
                </a:solidFill>
              </a:rPr>
              <a:t>IMG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48" name="그림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3297" y="2524687"/>
            <a:ext cx="209073" cy="257907"/>
          </a:xfrm>
          <a:prstGeom prst="rect">
            <a:avLst/>
          </a:prstGeom>
        </p:spPr>
      </p:pic>
      <p:sp>
        <p:nvSpPr>
          <p:cNvPr id="4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504728" y="2529228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465532" y="248910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8" name="직사각형 27"/>
          <p:cNvSpPr/>
          <p:nvPr/>
        </p:nvSpPr>
        <p:spPr>
          <a:xfrm>
            <a:off x="1507354" y="2198931"/>
            <a:ext cx="13003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</a:t>
            </a:r>
            <a:r>
              <a:rPr lang="ko-KR" altLang="en-US" sz="1000" b="1" dirty="0" err="1"/>
              <a:t>메인비주얼</a:t>
            </a:r>
            <a:r>
              <a:rPr lang="ko-KR" altLang="en-US" sz="1000" b="1" dirty="0"/>
              <a:t> 변경</a:t>
            </a:r>
            <a:endParaRPr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2998301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메인관리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메인관리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844674"/>
              </p:ext>
            </p:extLst>
          </p:nvPr>
        </p:nvGraphicFramePr>
        <p:xfrm>
          <a:off x="7835006" y="1563565"/>
          <a:ext cx="1973077" cy="248500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콘텐츠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구분값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선택 시 각각의 콘텐츠 별로 콘텐츠 선택 방식이 변경됨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선택 버튼 클릭 시 게시판 유형 목록 팝업이 표시되며 일반형 게시판 유형만 선택가능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게시판 선택 버튼 클릭 시 게시판 유형 목록 팝업이 표시되며 포토형 게시판 유형만 선택가능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 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메인관리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81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메인관리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79955"/>
              </p:ext>
            </p:extLst>
          </p:nvPr>
        </p:nvGraphicFramePr>
        <p:xfrm>
          <a:off x="1507354" y="2489106"/>
          <a:ext cx="6244384" cy="657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일반형 게시판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포토형게시판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내부콘텐츠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링크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알림영역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34535265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1507354" y="2198931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콘텐츠 변경</a:t>
            </a:r>
            <a:endParaRPr lang="en-US" altLang="ko-KR" sz="1000" b="1" dirty="0"/>
          </a:p>
        </p:txBody>
      </p:sp>
      <p:sp>
        <p:nvSpPr>
          <p:cNvPr id="35" name="직사각형 34"/>
          <p:cNvSpPr/>
          <p:nvPr/>
        </p:nvSpPr>
        <p:spPr>
          <a:xfrm>
            <a:off x="4019246" y="2855444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공지사항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531257" y="2863274"/>
            <a:ext cx="1308324" cy="215172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게시판 선택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106733"/>
              </p:ext>
            </p:extLst>
          </p:nvPr>
        </p:nvGraphicFramePr>
        <p:xfrm>
          <a:off x="1507354" y="3714829"/>
          <a:ext cx="6244384" cy="657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일반형 게시판    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포토형게시판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내부콘텐츠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링크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알림영역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34535265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1507354" y="3424654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콘텐츠 변경</a:t>
            </a:r>
            <a:endParaRPr lang="en-US" altLang="ko-KR" sz="1000" b="1" dirty="0"/>
          </a:p>
        </p:txBody>
      </p:sp>
      <p:sp>
        <p:nvSpPr>
          <p:cNvPr id="42" name="직사각형 41"/>
          <p:cNvSpPr/>
          <p:nvPr/>
        </p:nvSpPr>
        <p:spPr>
          <a:xfrm>
            <a:off x="4019246" y="4081167"/>
            <a:ext cx="1134189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워크샵  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ko-KR" altLang="en-US" sz="900" dirty="0"/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531257" y="4088997"/>
            <a:ext cx="1308324" cy="215172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게시판 선택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719372"/>
              </p:ext>
            </p:extLst>
          </p:nvPr>
        </p:nvGraphicFramePr>
        <p:xfrm>
          <a:off x="1507354" y="4940552"/>
          <a:ext cx="6244384" cy="100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07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일반형 게시판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포토형게시판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 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웹콘텐츠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링크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알림영역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7017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34535265"/>
                  </a:ext>
                </a:extLst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1507354" y="4650377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콘텐츠 변경</a:t>
            </a:r>
            <a:endParaRPr lang="en-US" altLang="ko-KR" sz="1000" b="1" dirty="0"/>
          </a:p>
        </p:txBody>
      </p:sp>
      <p:sp>
        <p:nvSpPr>
          <p:cNvPr id="55" name="직사각형 54"/>
          <p:cNvSpPr/>
          <p:nvPr/>
        </p:nvSpPr>
        <p:spPr>
          <a:xfrm>
            <a:off x="3117008" y="5625244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en-US" altLang="ko-KR" sz="800" dirty="0">
                <a:solidFill>
                  <a:srgbClr val="FF0000"/>
                </a:solidFill>
              </a:rPr>
              <a:t>IMG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3297" y="5625244"/>
            <a:ext cx="209073" cy="257907"/>
          </a:xfrm>
          <a:prstGeom prst="rect">
            <a:avLst/>
          </a:prstGeom>
        </p:spPr>
      </p:pic>
      <p:sp>
        <p:nvSpPr>
          <p:cNvPr id="5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504728" y="5629785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420825" y="6229642"/>
            <a:ext cx="6330911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다음페이지에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계속</a:t>
            </a: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237450" y="317867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237450" y="441304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237450" y="5993234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7126337" y="30672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7126337" y="434296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7126337" y="590118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pic>
        <p:nvPicPr>
          <p:cNvPr id="74" name="그림 7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1097108" y="3401708"/>
            <a:ext cx="2367268" cy="1778485"/>
          </a:xfrm>
          <a:prstGeom prst="rect">
            <a:avLst/>
          </a:prstGeom>
        </p:spPr>
      </p:pic>
      <p:cxnSp>
        <p:nvCxnSpPr>
          <p:cNvPr id="75" name="연결선: 꺾임 74"/>
          <p:cNvCxnSpPr>
            <a:cxnSpLocks/>
            <a:stCxn id="36" idx="1"/>
            <a:endCxn id="74" idx="0"/>
          </p:cNvCxnSpPr>
          <p:nvPr/>
        </p:nvCxnSpPr>
        <p:spPr>
          <a:xfrm rot="10800000" flipV="1">
            <a:off x="86527" y="2970860"/>
            <a:ext cx="2444731" cy="43084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/>
          <p:cNvCxnSpPr>
            <a:cxnSpLocks/>
            <a:stCxn id="43" idx="1"/>
            <a:endCxn id="74" idx="0"/>
          </p:cNvCxnSpPr>
          <p:nvPr/>
        </p:nvCxnSpPr>
        <p:spPr>
          <a:xfrm rot="10800000">
            <a:off x="86527" y="3401709"/>
            <a:ext cx="2444731" cy="794875"/>
          </a:xfrm>
          <a:prstGeom prst="bentConnector4">
            <a:avLst>
              <a:gd name="adj1" fmla="val 25792"/>
              <a:gd name="adj2" fmla="val 12875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3188804" y="5277901"/>
            <a:ext cx="4428492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NUM,</a:t>
            </a:r>
            <a:r>
              <a:rPr lang="ko-KR" altLang="en-US" sz="800" dirty="0">
                <a:solidFill>
                  <a:srgbClr val="FF0000"/>
                </a:solidFill>
              </a:rPr>
              <a:t> 특수문자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463602" y="5294434"/>
            <a:ext cx="73930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콘텐츠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900" dirty="0"/>
          </a:p>
        </p:txBody>
      </p:sp>
      <p:sp>
        <p:nvSpPr>
          <p:cNvPr id="80" name="타원 79"/>
          <p:cNvSpPr/>
          <p:nvPr/>
        </p:nvSpPr>
        <p:spPr>
          <a:xfrm>
            <a:off x="2427536" y="276970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81" name="타원 80"/>
          <p:cNvSpPr/>
          <p:nvPr/>
        </p:nvSpPr>
        <p:spPr>
          <a:xfrm>
            <a:off x="2426419" y="39449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2497786" y="235214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253640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7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6" name="직사각형 6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aphicFrame>
        <p:nvGraphicFramePr>
          <p:cNvPr id="7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47134"/>
              </p:ext>
            </p:extLst>
          </p:nvPr>
        </p:nvGraphicFramePr>
        <p:xfrm>
          <a:off x="7835006" y="1563565"/>
          <a:ext cx="1973077" cy="205803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 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메인관리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알림영역일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경우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알림영역관리에서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처리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6717571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656899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823227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메인관리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4537"/>
              </p:ext>
            </p:extLst>
          </p:nvPr>
        </p:nvGraphicFramePr>
        <p:xfrm>
          <a:off x="1507354" y="2427831"/>
          <a:ext cx="6244384" cy="307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07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콘텐츠 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일반형 게시판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포토형게시판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내부콘텐츠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링크     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알림영역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1507354" y="2137656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콘텐츠 변경</a:t>
            </a:r>
            <a:endParaRPr lang="en-US" altLang="ko-KR" sz="1000" b="1" dirty="0"/>
          </a:p>
        </p:txBody>
      </p:sp>
      <p:sp>
        <p:nvSpPr>
          <p:cNvPr id="59" name="직사각형 58"/>
          <p:cNvSpPr/>
          <p:nvPr/>
        </p:nvSpPr>
        <p:spPr>
          <a:xfrm>
            <a:off x="1420825" y="1779526"/>
            <a:ext cx="6330911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이전페이지에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계속</a:t>
            </a: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237450" y="2821020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7126337" y="27449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434447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13461"/>
              </p:ext>
            </p:extLst>
          </p:nvPr>
        </p:nvGraphicFramePr>
        <p:xfrm>
          <a:off x="7835006" y="1582693"/>
          <a:ext cx="1973077" cy="143243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게시판명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체크박스 선택 후 삭제버튼 클릭 시 게시물 삭제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게시판 속성관리</a:t>
              </a:r>
              <a:r>
                <a:rPr lang="en-US" altLang="ko-KR" sz="1200" b="1" dirty="0">
                  <a:latin typeface="+mn-ea"/>
                </a:rPr>
                <a:t> </a:t>
              </a: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 정보관리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01134"/>
              </p:ext>
            </p:extLst>
          </p:nvPr>
        </p:nvGraphicFramePr>
        <p:xfrm>
          <a:off x="1507354" y="2745114"/>
          <a:ext cx="6253958" cy="333968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314">
                  <a:extLst>
                    <a:ext uri="{9D8B030D-6E8A-4147-A177-3AD203B41FA5}">
                      <a16:colId xmlns:a16="http://schemas.microsoft.com/office/drawing/2014/main" xmlns="" val="1372672098"/>
                    </a:ext>
                  </a:extLst>
                </a:gridCol>
                <a:gridCol w="9902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523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94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149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596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게시판명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게시판유형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게시판</a:t>
                      </a:r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URL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생성일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일반게시판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/bos/bbs/B0000242/list.do</a:t>
                      </a:r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2017.03.06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워크샵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포토게시판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/bos/bbs/B0000243/list.do</a:t>
                      </a:r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채용정보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일반게시판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/bos/bbs/B0000243/list.do</a:t>
                      </a:r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2532419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51013916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5440939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20320961"/>
                  </a:ext>
                </a:extLst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653039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TEXT</a:t>
            </a:r>
            <a:endParaRPr lang="ko-KR" altLang="en-US" sz="900" dirty="0"/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030085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764868" y="2298950"/>
            <a:ext cx="843165" cy="5539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게시판명   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게시판유형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304296" y="230412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구분</a:t>
            </a:r>
            <a:endParaRPr lang="ko-KR" altLang="en-US" sz="900" dirty="0"/>
          </a:p>
        </p:txBody>
      </p:sp>
      <p:sp>
        <p:nvSpPr>
          <p:cNvPr id="69" name="직사각형 68"/>
          <p:cNvSpPr/>
          <p:nvPr/>
        </p:nvSpPr>
        <p:spPr>
          <a:xfrm>
            <a:off x="1527096" y="2304126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게시판유형</a:t>
            </a:r>
            <a:endParaRPr lang="ko-KR" altLang="en-US" sz="900" dirty="0"/>
          </a:p>
        </p:txBody>
      </p:sp>
      <p:sp>
        <p:nvSpPr>
          <p:cNvPr id="70" name="직사각형 69"/>
          <p:cNvSpPr/>
          <p:nvPr/>
        </p:nvSpPr>
        <p:spPr>
          <a:xfrm>
            <a:off x="2263307" y="2298950"/>
            <a:ext cx="1025945" cy="6619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일반게시판    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포토게시판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답변게시판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18633" y="6139662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237450" y="6144970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8" name="직사각형 3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541727" y="6139662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5956391" y="219076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1468033" y="603285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4" name="타원 73"/>
          <p:cNvSpPr/>
          <p:nvPr/>
        </p:nvSpPr>
        <p:spPr>
          <a:xfrm>
            <a:off x="3304296" y="30140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5" name="타원 74"/>
          <p:cNvSpPr/>
          <p:nvPr/>
        </p:nvSpPr>
        <p:spPr>
          <a:xfrm>
            <a:off x="7110335" y="604116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45" name="직사각형 44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게시판속성관리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1384099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342051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신규게시판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080072"/>
              </p:ext>
            </p:extLst>
          </p:nvPr>
        </p:nvGraphicFramePr>
        <p:xfrm>
          <a:off x="1520132" y="2238353"/>
          <a:ext cx="6231604" cy="3260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61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68899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688996">
                  <a:extLst>
                    <a:ext uri="{9D8B030D-6E8A-4147-A177-3AD203B41FA5}">
                      <a16:colId xmlns:a16="http://schemas.microsoft.com/office/drawing/2014/main" xmlns="" val="1597682905"/>
                    </a:ext>
                  </a:extLst>
                </a:gridCol>
                <a:gridCol w="1688996">
                  <a:extLst>
                    <a:ext uri="{9D8B030D-6E8A-4147-A177-3AD203B41FA5}">
                      <a16:colId xmlns:a16="http://schemas.microsoft.com/office/drawing/2014/main" xmlns="" val="3853765742"/>
                    </a:ext>
                  </a:extLst>
                </a:gridCol>
              </a:tblGrid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게시판유형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12919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게시판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12029966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 가능여부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파일첨부 기능여부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이전글다음글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기능여부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49341293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리스트수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8537847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733271" y="2265082"/>
            <a:ext cx="3515873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6" name="직사각형 3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2" name="TextBox 41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게시판 속성관리</a:t>
              </a:r>
              <a:r>
                <a:rPr lang="en-US" altLang="ko-KR" sz="1200" b="1" dirty="0">
                  <a:latin typeface="+mn-ea"/>
                </a:rPr>
                <a:t> </a:t>
              </a: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직사각형 43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 정보관리</a:t>
            </a:r>
            <a:endParaRPr lang="en-US" altLang="ko-KR" sz="700" dirty="0"/>
          </a:p>
        </p:txBody>
      </p:sp>
      <p:sp>
        <p:nvSpPr>
          <p:cNvPr id="3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561316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2044" y="5613165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178156" y="55211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8" name="타원 47"/>
          <p:cNvSpPr/>
          <p:nvPr/>
        </p:nvSpPr>
        <p:spPr>
          <a:xfrm>
            <a:off x="6520931" y="55211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직사각형 48"/>
          <p:cNvSpPr/>
          <p:nvPr/>
        </p:nvSpPr>
        <p:spPr>
          <a:xfrm>
            <a:off x="2733271" y="2921901"/>
            <a:ext cx="4956033" cy="11736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733271" y="2577523"/>
            <a:ext cx="995593" cy="70746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게시판선택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공지형게시판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일반형게시판    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포토형게시판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답변형게시판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733272" y="5216705"/>
            <a:ext cx="15747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123495" y="5216705"/>
            <a:ext cx="1574776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916996" y="4497956"/>
            <a:ext cx="2781275" cy="25790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r"/>
            <a:r>
              <a:rPr lang="ko-KR" altLang="en-US" sz="800" dirty="0">
                <a:solidFill>
                  <a:srgbClr val="FF0000"/>
                </a:solidFill>
              </a:rPr>
              <a:t>첨부파일은 </a:t>
            </a:r>
            <a:r>
              <a:rPr lang="en-US" altLang="ko-KR" sz="800" dirty="0">
                <a:solidFill>
                  <a:srgbClr val="FF0000"/>
                </a:solidFill>
              </a:rPr>
              <a:t>**MB</a:t>
            </a:r>
            <a:r>
              <a:rPr lang="ko-KR" altLang="en-US" sz="800" dirty="0">
                <a:solidFill>
                  <a:srgbClr val="FF0000"/>
                </a:solidFill>
              </a:rPr>
              <a:t>로 제한됩니다</a:t>
            </a:r>
            <a:r>
              <a:rPr lang="en-US" altLang="ko-KR" sz="800" dirty="0">
                <a:solidFill>
                  <a:srgbClr val="FF0000"/>
                </a:solidFill>
              </a:rPr>
              <a:t>. 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게시판속성관리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141752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414938"/>
              </p:ext>
            </p:extLst>
          </p:nvPr>
        </p:nvGraphicFramePr>
        <p:xfrm>
          <a:off x="7835006" y="1572032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559123"/>
              </p:ext>
            </p:extLst>
          </p:nvPr>
        </p:nvGraphicFramePr>
        <p:xfrm>
          <a:off x="1520132" y="2238353"/>
          <a:ext cx="6231604" cy="123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61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xmlns="" val="813059372"/>
                    </a:ext>
                  </a:extLst>
                </a:gridCol>
                <a:gridCol w="1754620">
                  <a:extLst>
                    <a:ext uri="{9D8B030D-6E8A-4147-A177-3AD203B41FA5}">
                      <a16:colId xmlns:a16="http://schemas.microsoft.com/office/drawing/2014/main" xmlns="" val="1449360985"/>
                    </a:ext>
                  </a:extLst>
                </a:gridCol>
              </a:tblGrid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공지사항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게시판유형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일반게시판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9217098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 가능여부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파일첨부 기능여부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48291591"/>
                  </a:ext>
                </a:extLst>
              </a:tr>
              <a:tr h="3093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코멘트 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이전글다음글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기능여부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07025438"/>
                  </a:ext>
                </a:extLst>
              </a:tr>
            </a:tbl>
          </a:graphicData>
        </a:graphic>
      </p:graphicFrame>
      <p:sp>
        <p:nvSpPr>
          <p:cNvPr id="26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6" name="직사각형 35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2" name="TextBox 41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게시판 속성관리</a:t>
              </a:r>
              <a:r>
                <a:rPr lang="en-US" altLang="ko-KR" sz="1200" b="1" dirty="0">
                  <a:latin typeface="+mn-ea"/>
                </a:rPr>
                <a:t> </a:t>
              </a: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직사각형 43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 정보관리</a:t>
            </a:r>
            <a:endParaRPr lang="en-US" altLang="ko-KR" sz="700" dirty="0"/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590574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3591567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3586757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918711" y="34901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6566978" y="34901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7153329" y="34901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0" name="직사각형 29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게시판속성관리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3985676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109500"/>
              </p:ext>
            </p:extLst>
          </p:nvPr>
        </p:nvGraphicFramePr>
        <p:xfrm>
          <a:off x="7835006" y="1563565"/>
          <a:ext cx="1973077" cy="1988820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사이트명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노출순서 화살표 버튼 클릭 시 배너의 노출순서 위치가 변경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배너는 표시되지 않음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배너는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배너관리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배너관리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2207" y="2721861"/>
            <a:ext cx="6233742" cy="200020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9358" y="2773240"/>
            <a:ext cx="759203" cy="121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</a:rPr>
              <a:t>사이트명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996432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373478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108261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사이트명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사이트</a:t>
            </a:r>
            <a:r>
              <a:rPr lang="en-US" altLang="ko-KR" sz="900" dirty="0">
                <a:solidFill>
                  <a:schemeClr val="tx1"/>
                </a:solidFill>
              </a:rPr>
              <a:t>URL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515270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4835758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618633" y="4865284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38" name="타원 37"/>
          <p:cNvSpPr/>
          <p:nvPr/>
        </p:nvSpPr>
        <p:spPr>
          <a:xfrm>
            <a:off x="3034509" y="28702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4262365" y="21955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7153552" y="472630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6554015" y="281769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2" name="직사각형 5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배너관리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3" name="직사각형 52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369901" y="2941271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369901" y="3268521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369901" y="3589840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8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350515" y="4061297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350515" y="4391521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7249300" y="28702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7249300" y="31747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5" name="타원 64"/>
          <p:cNvSpPr/>
          <p:nvPr/>
        </p:nvSpPr>
        <p:spPr>
          <a:xfrm>
            <a:off x="7249300" y="352380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6" name="타원 65"/>
          <p:cNvSpPr/>
          <p:nvPr/>
        </p:nvSpPr>
        <p:spPr>
          <a:xfrm>
            <a:off x="7249300" y="40013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7" name="타원 66"/>
          <p:cNvSpPr/>
          <p:nvPr/>
        </p:nvSpPr>
        <p:spPr>
          <a:xfrm>
            <a:off x="7249300" y="429538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957222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460" y="1707439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배너관리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배너관리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189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hlinkClick r:id="rId11"/>
                        </a:rPr>
                        <a:t>http://www.naver.com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배너이미지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Naver_banner.png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2017.03.01 ~ 2017.03.31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</a:tbl>
          </a:graphicData>
        </a:graphic>
      </p:graphicFrame>
      <p:pic>
        <p:nvPicPr>
          <p:cNvPr id="49" name="그림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3032211"/>
            <a:ext cx="209073" cy="257907"/>
          </a:xfrm>
          <a:prstGeom prst="rect">
            <a:avLst/>
          </a:prstGeom>
        </p:spPr>
      </p:pic>
      <p:sp>
        <p:nvSpPr>
          <p:cNvPr id="77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639068" y="4197552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65583" y="4192742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5918711" y="40993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6537411" y="40993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4191371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7142954" y="40993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배너관리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3482952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직접입력이 불가능하며 달력 선택을 통해서 날짜 입력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배너관리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배너관리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189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배너이미지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○ 현재페이지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3032211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125" y="3032211"/>
            <a:ext cx="209073" cy="257907"/>
          </a:xfrm>
          <a:prstGeom prst="rect">
            <a:avLst/>
          </a:prstGeom>
        </p:spPr>
      </p:pic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3036752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864556" y="2652684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 NUM, </a:t>
            </a:r>
            <a:r>
              <a:rPr lang="ko-KR" altLang="en-US" sz="800" dirty="0">
                <a:solidFill>
                  <a:srgbClr val="FF0000"/>
                </a:solidFill>
              </a:rPr>
              <a:t>특수문자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905494" y="3787393"/>
            <a:ext cx="2261510" cy="257907"/>
            <a:chOff x="3290722" y="5439345"/>
            <a:chExt cx="2261510" cy="257907"/>
          </a:xfrm>
        </p:grpSpPr>
        <p:sp>
          <p:nvSpPr>
            <p:cNvPr id="66" name="직사각형 65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" name="타원 49"/>
          <p:cNvSpPr/>
          <p:nvPr/>
        </p:nvSpPr>
        <p:spPr>
          <a:xfrm>
            <a:off x="2753443" y="294627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2816936" y="369283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4248762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5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32044" y="4248762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7178156" y="415671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9" name="타원 78"/>
          <p:cNvSpPr/>
          <p:nvPr/>
        </p:nvSpPr>
        <p:spPr>
          <a:xfrm>
            <a:off x="6520931" y="415671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5" name="직사각형 54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배너관리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7" name="직사각형 56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29010489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271720"/>
              </p:ext>
            </p:extLst>
          </p:nvPr>
        </p:nvGraphicFramePr>
        <p:xfrm>
          <a:off x="7835006" y="1563565"/>
          <a:ext cx="1973077" cy="1988820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사이트명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노출순서 화살표 버튼 클릭 시 배너의 노출순서 위치가 변경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알림영역은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표시되지 않음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알림영역은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알림영역관리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알림관리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2207" y="2721861"/>
            <a:ext cx="6233742" cy="200020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39358" y="2773240"/>
            <a:ext cx="759203" cy="121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</a:rPr>
              <a:t>제목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996432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373478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108261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링크</a:t>
            </a:r>
            <a:r>
              <a:rPr lang="en-US" altLang="ko-KR" sz="900" dirty="0">
                <a:solidFill>
                  <a:schemeClr val="tx1"/>
                </a:solidFill>
              </a:rPr>
              <a:t>URL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515270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sp>
        <p:nvSpPr>
          <p:cNvPr id="6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369901" y="2941271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4835758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576315" y="2773240"/>
            <a:ext cx="759203" cy="121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</a:rPr>
              <a:t>링크</a:t>
            </a:r>
            <a:r>
              <a:rPr lang="en-US" altLang="ko-KR" sz="700" dirty="0">
                <a:solidFill>
                  <a:sysClr val="windowText" lastClr="000000"/>
                </a:solidFill>
              </a:rPr>
              <a:t>URL</a:t>
            </a:r>
            <a:endParaRPr lang="ko-KR" alt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3034509" y="28702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4262365" y="21955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7153552" y="472630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6554015" y="281769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4" name="직사각형 53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알림영역관리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5" name="직사각형 54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369901" y="3268521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8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369901" y="3589840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350515" y="4061297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350515" y="4391521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249300" y="28702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7" name="타원 66"/>
          <p:cNvSpPr/>
          <p:nvPr/>
        </p:nvSpPr>
        <p:spPr>
          <a:xfrm>
            <a:off x="7249300" y="31747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7249300" y="352380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7249300" y="40013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7249300" y="429538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91428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알림영역관리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알림영역관리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250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네이버이벤트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hlinkClick r:id="rId11"/>
                        </a:rPr>
                        <a:t>http://www.naver.com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Naver_img.png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618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 연계 이벤트를 개최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7241784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2017.03.01 ~ 2017.03.31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</a:tbl>
          </a:graphicData>
        </a:graphic>
      </p:graphicFrame>
      <p:pic>
        <p:nvPicPr>
          <p:cNvPr id="49" name="그림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3032211"/>
            <a:ext cx="209073" cy="257907"/>
          </a:xfrm>
          <a:prstGeom prst="rect">
            <a:avLst/>
          </a:prstGeom>
        </p:spPr>
      </p:pic>
      <p:sp>
        <p:nvSpPr>
          <p:cNvPr id="5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4809488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4810481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4805671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5918711" y="46829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1" name="타원 60"/>
          <p:cNvSpPr/>
          <p:nvPr/>
        </p:nvSpPr>
        <p:spPr>
          <a:xfrm>
            <a:off x="6537411" y="46829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2" name="타원 61"/>
          <p:cNvSpPr/>
          <p:nvPr/>
        </p:nvSpPr>
        <p:spPr>
          <a:xfrm>
            <a:off x="7142954" y="468293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8" name="직사각형 37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알림영역관리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45" name="직사각형 44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369069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직접입력이 불가능하며 달력 선택을 통해서 날짜 입력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알림영역관리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알림영역관리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2509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618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7241784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새창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   ○ 현재페이지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3032211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125" y="3032211"/>
            <a:ext cx="209073" cy="257907"/>
          </a:xfrm>
          <a:prstGeom prst="rect">
            <a:avLst/>
          </a:prstGeom>
        </p:spPr>
      </p:pic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3036752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864556" y="2652684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905494" y="4400322"/>
            <a:ext cx="2261510" cy="257907"/>
            <a:chOff x="3290722" y="5439345"/>
            <a:chExt cx="2261510" cy="257907"/>
          </a:xfrm>
        </p:grpSpPr>
        <p:sp>
          <p:nvSpPr>
            <p:cNvPr id="66" name="직사각형 65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3" name="직사각형 52"/>
          <p:cNvSpPr/>
          <p:nvPr/>
        </p:nvSpPr>
        <p:spPr>
          <a:xfrm>
            <a:off x="2864556" y="3402167"/>
            <a:ext cx="4824748" cy="49488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5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482482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32044" y="4824826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2753443" y="294627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2816936" y="429106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7178156" y="475494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0" name="타원 59"/>
          <p:cNvSpPr/>
          <p:nvPr/>
        </p:nvSpPr>
        <p:spPr>
          <a:xfrm>
            <a:off x="6520931" y="475494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2" name="직사각형 61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알림영역관리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63" name="직사각형 62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3934847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61988"/>
              </p:ext>
            </p:extLst>
          </p:nvPr>
        </p:nvGraphicFramePr>
        <p:xfrm>
          <a:off x="7835006" y="1563565"/>
          <a:ext cx="1973077" cy="191249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사이트명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팝업은 표시되지 않음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미사용중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버튼 클릭 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사용중으로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변경되며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팝업은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4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팝업관리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팝업관리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0" name="TextBox 59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996432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373478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515270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190141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/>
          </p:nvPr>
        </p:nvGraphicFramePr>
        <p:xfrm>
          <a:off x="1507354" y="2692274"/>
          <a:ext cx="6244384" cy="240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314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154804138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xmlns="" val="355961749"/>
                    </a:ext>
                  </a:extLst>
                </a:gridCol>
                <a:gridCol w="1177195">
                  <a:extLst>
                    <a:ext uri="{9D8B030D-6E8A-4147-A177-3AD203B41FA5}">
                      <a16:colId xmlns:a16="http://schemas.microsoft.com/office/drawing/2014/main" xmlns="" val="1675198241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xmlns="" val="4104948812"/>
                    </a:ext>
                  </a:extLst>
                </a:gridCol>
              </a:tblGrid>
              <a:tr h="400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400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이벤트팝업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hlinkClick r:id="rId15"/>
                        </a:rPr>
                        <a:t>http://www.naver.com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2017.03.02 ~ 2017.03.30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400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62218891"/>
                  </a:ext>
                </a:extLst>
              </a:tr>
              <a:tr h="400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4421348"/>
                  </a:ext>
                </a:extLst>
              </a:tr>
              <a:tr h="400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123524"/>
                  </a:ext>
                </a:extLst>
              </a:tr>
              <a:tr h="400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64134417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2108261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링크</a:t>
            </a:r>
            <a:r>
              <a:rPr lang="en-US" altLang="ko-KR" sz="900" dirty="0">
                <a:solidFill>
                  <a:schemeClr val="tx1"/>
                </a:solidFill>
              </a:rPr>
              <a:t>URL</a:t>
            </a:r>
          </a:p>
        </p:txBody>
      </p:sp>
      <p:sp>
        <p:nvSpPr>
          <p:cNvPr id="49" name="사각형: 둥근 모서리 48"/>
          <p:cNvSpPr/>
          <p:nvPr/>
        </p:nvSpPr>
        <p:spPr>
          <a:xfrm>
            <a:off x="2052204" y="3151261"/>
            <a:ext cx="720080" cy="277739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51" name="사각형: 둥근 모서리 50"/>
          <p:cNvSpPr/>
          <p:nvPr/>
        </p:nvSpPr>
        <p:spPr>
          <a:xfrm>
            <a:off x="2052204" y="3566666"/>
            <a:ext cx="720080" cy="277739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52" name="사각형: 둥근 모서리 51"/>
          <p:cNvSpPr/>
          <p:nvPr/>
        </p:nvSpPr>
        <p:spPr>
          <a:xfrm>
            <a:off x="2052204" y="3955411"/>
            <a:ext cx="720080" cy="277739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3034509" y="302675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4262365" y="21955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7153552" y="511498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8" name="직사각형 57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팝업관리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9" name="직사각형 58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6349" y="3182028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236349" y="3605150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236349" y="3996909"/>
            <a:ext cx="369257" cy="217795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>
                <a:solidFill>
                  <a:schemeClr val="bg1"/>
                </a:solidFill>
                <a:latin typeface="+mn-ea"/>
                <a:cs typeface="Calibri" pitchFamily="34" charset="0"/>
              </a:rPr>
              <a:t>사용중</a:t>
            </a:r>
            <a:endParaRPr lang="en-US" sz="6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8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216963" y="4397926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216963" y="4790685"/>
            <a:ext cx="446801" cy="21779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b="1" dirty="0" err="1">
                <a:solidFill>
                  <a:schemeClr val="bg1"/>
                </a:solidFill>
                <a:latin typeface="+mn-ea"/>
              </a:rPr>
              <a:t>미사용중</a:t>
            </a:r>
            <a:endParaRPr lang="en-US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7115748" y="311096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7115748" y="351141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7115748" y="393087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2" name="타원 71"/>
          <p:cNvSpPr/>
          <p:nvPr/>
        </p:nvSpPr>
        <p:spPr>
          <a:xfrm>
            <a:off x="7115748" y="433796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3" name="타원 72"/>
          <p:cNvSpPr/>
          <p:nvPr/>
        </p:nvSpPr>
        <p:spPr>
          <a:xfrm>
            <a:off x="7115748" y="46945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99850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72516"/>
              </p:ext>
            </p:extLst>
          </p:nvPr>
        </p:nvGraphicFramePr>
        <p:xfrm>
          <a:off x="1507354" y="2216333"/>
          <a:ext cx="6244382" cy="4401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 팝업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Naver_popup.jsp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이미지링크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hlinkClick r:id="rId11"/>
                        </a:rPr>
                        <a:t>www.naver.com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2604787"/>
                  </a:ext>
                </a:extLst>
              </a:tr>
              <a:tr h="618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 팝업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7241784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하루창닫기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13763776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스크롤사용여부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20950097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2017.03.01 ~ 2017.03.31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높이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넓이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3526865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팝업위치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(TOP)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팝업위치</a:t>
                      </a:r>
                      <a:r>
                        <a:rPr lang="en-US" altLang="ko-KR" sz="900" b="1" dirty="0"/>
                        <a:t>(LEFT)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5959081"/>
                  </a:ext>
                </a:extLst>
              </a:tr>
            </a:tbl>
          </a:graphicData>
        </a:graphic>
      </p:graphicFrame>
      <p:pic>
        <p:nvPicPr>
          <p:cNvPr id="49" name="그림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47857" y="2663736"/>
            <a:ext cx="209073" cy="257907"/>
          </a:xfrm>
          <a:prstGeom prst="rect">
            <a:avLst/>
          </a:prstGeom>
        </p:spPr>
      </p:pic>
      <p:sp>
        <p:nvSpPr>
          <p:cNvPr id="5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6740825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6741818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6737008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팝업관리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팝업관리</a:t>
            </a:r>
            <a:endParaRPr lang="en-US" altLang="ko-KR" sz="700" dirty="0"/>
          </a:p>
        </p:txBody>
      </p:sp>
      <p:sp>
        <p:nvSpPr>
          <p:cNvPr id="50" name="타원 49"/>
          <p:cNvSpPr/>
          <p:nvPr/>
        </p:nvSpPr>
        <p:spPr>
          <a:xfrm>
            <a:off x="5918711" y="66815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6537411" y="66815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2" name="타원 61"/>
          <p:cNvSpPr/>
          <p:nvPr/>
        </p:nvSpPr>
        <p:spPr>
          <a:xfrm>
            <a:off x="7142954" y="668153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팝업관리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38" name="직사각형 3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3064001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357066"/>
              </p:ext>
            </p:extLst>
          </p:nvPr>
        </p:nvGraphicFramePr>
        <p:xfrm>
          <a:off x="1507354" y="2216333"/>
          <a:ext cx="6244382" cy="4858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HTML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이미지링크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834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HTML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41277439"/>
                  </a:ext>
                </a:extLst>
              </a:tr>
              <a:tr h="618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7241784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하루창닫기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9417225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스크롤사용여부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32661861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높이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넓이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3526865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팝업위치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(TOP)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팝업위치</a:t>
                      </a:r>
                      <a:r>
                        <a:rPr lang="en-US" altLang="ko-KR" sz="900" b="1" dirty="0"/>
                        <a:t>(LEFT)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5959081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2657862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125" y="2657862"/>
            <a:ext cx="209073" cy="257907"/>
          </a:xfrm>
          <a:prstGeom prst="rect">
            <a:avLst/>
          </a:prstGeom>
        </p:spPr>
      </p:pic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2662403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864556" y="3425120"/>
            <a:ext cx="4824748" cy="70880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 NUM, </a:t>
            </a:r>
            <a:r>
              <a:rPr lang="ko-KR" altLang="en-US" sz="800" dirty="0">
                <a:solidFill>
                  <a:srgbClr val="FF0000"/>
                </a:solidFill>
              </a:rPr>
              <a:t>특수문자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905494" y="6003304"/>
            <a:ext cx="2261510" cy="257907"/>
            <a:chOff x="3290722" y="5439345"/>
            <a:chExt cx="2261510" cy="257907"/>
          </a:xfrm>
        </p:grpSpPr>
        <p:sp>
          <p:nvSpPr>
            <p:cNvPr id="66" name="직사각형 65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3" name="직사각형 52"/>
          <p:cNvSpPr/>
          <p:nvPr/>
        </p:nvSpPr>
        <p:spPr>
          <a:xfrm>
            <a:off x="2864556" y="4222969"/>
            <a:ext cx="4824748" cy="49488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팝업관리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팝업관리</a:t>
            </a:r>
            <a:endParaRPr lang="en-US" altLang="ko-KR" sz="700" dirty="0"/>
          </a:p>
        </p:txBody>
      </p:sp>
      <p:sp>
        <p:nvSpPr>
          <p:cNvPr id="80" name="직사각형 79"/>
          <p:cNvSpPr/>
          <p:nvPr/>
        </p:nvSpPr>
        <p:spPr>
          <a:xfrm>
            <a:off x="2864556" y="6373542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171750" y="6373542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864556" y="6768145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171750" y="6768145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713200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32044" y="7132003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0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직접입력이 불가능하며 달력 선택을 통해서 날짜 입력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5" name="타원 54"/>
          <p:cNvSpPr/>
          <p:nvPr/>
        </p:nvSpPr>
        <p:spPr>
          <a:xfrm>
            <a:off x="2753443" y="2571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3" name="타원 62"/>
          <p:cNvSpPr/>
          <p:nvPr/>
        </p:nvSpPr>
        <p:spPr>
          <a:xfrm>
            <a:off x="2816936" y="589404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4" name="타원 63"/>
          <p:cNvSpPr/>
          <p:nvPr/>
        </p:nvSpPr>
        <p:spPr>
          <a:xfrm>
            <a:off x="7178156" y="704200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6520931" y="704200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9" name="직사각형 68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팝업관리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75" name="직사각형 74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247286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32363"/>
              </p:ext>
            </p:extLst>
          </p:nvPr>
        </p:nvGraphicFramePr>
        <p:xfrm>
          <a:off x="1507354" y="2216333"/>
          <a:ext cx="6244382" cy="4462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1469780">
                  <a:extLst>
                    <a:ext uri="{9D8B030D-6E8A-4147-A177-3AD203B41FA5}">
                      <a16:colId xmlns:a16="http://schemas.microsoft.com/office/drawing/2014/main" xmlns="" val="169092672"/>
                    </a:ext>
                  </a:extLst>
                </a:gridCol>
                <a:gridCol w="1652992">
                  <a:extLst>
                    <a:ext uri="{9D8B030D-6E8A-4147-A177-3AD203B41FA5}">
                      <a16:colId xmlns:a16="http://schemas.microsoft.com/office/drawing/2014/main" xmlns="" val="2982134397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링크타입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HTML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이미지링크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  <a:tr h="438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41277439"/>
                  </a:ext>
                </a:extLst>
              </a:tr>
              <a:tr h="6188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7241784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275331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하루창닫기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4016236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스크롤사용여부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사용하지않음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40257139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노출기간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8088831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높이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넓이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3526865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팝업위치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(TOP)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팝업위치</a:t>
                      </a:r>
                      <a:r>
                        <a:rPr lang="en-US" altLang="ko-KR" sz="900" b="1" dirty="0"/>
                        <a:t>(LEFT)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                         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35959081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2657862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125" y="2657862"/>
            <a:ext cx="209073" cy="257907"/>
          </a:xfrm>
          <a:prstGeom prst="rect">
            <a:avLst/>
          </a:prstGeom>
        </p:spPr>
      </p:pic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2662403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864556" y="3425120"/>
            <a:ext cx="4824748" cy="26530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TEXT(ENG, NUM, </a:t>
            </a:r>
            <a:r>
              <a:rPr lang="ko-KR" altLang="en-US" sz="800" dirty="0">
                <a:solidFill>
                  <a:srgbClr val="FF0000"/>
                </a:solidFill>
              </a:rPr>
              <a:t>특수문자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905494" y="5607353"/>
            <a:ext cx="2261510" cy="257907"/>
            <a:chOff x="3290722" y="5439345"/>
            <a:chExt cx="2261510" cy="257907"/>
          </a:xfrm>
        </p:grpSpPr>
        <p:sp>
          <p:nvSpPr>
            <p:cNvPr id="66" name="직사각형 65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3" name="직사각형 52"/>
          <p:cNvSpPr/>
          <p:nvPr/>
        </p:nvSpPr>
        <p:spPr>
          <a:xfrm>
            <a:off x="2864556" y="3841524"/>
            <a:ext cx="4824748" cy="49488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팝업관리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팝업관리</a:t>
            </a:r>
            <a:endParaRPr lang="en-US" altLang="ko-KR" sz="700" dirty="0"/>
          </a:p>
        </p:txBody>
      </p:sp>
      <p:sp>
        <p:nvSpPr>
          <p:cNvPr id="80" name="직사각형 79"/>
          <p:cNvSpPr/>
          <p:nvPr/>
        </p:nvSpPr>
        <p:spPr>
          <a:xfrm>
            <a:off x="2864556" y="5977591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171750" y="5977591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864556" y="6372194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171750" y="6372194"/>
            <a:ext cx="1006045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NUM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701535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32044" y="7015355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0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직접입력이 불가능하며 달력 선택을 통해서 날짜 입력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5" name="타원 54"/>
          <p:cNvSpPr/>
          <p:nvPr/>
        </p:nvSpPr>
        <p:spPr>
          <a:xfrm>
            <a:off x="2753443" y="2571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3" name="타원 62"/>
          <p:cNvSpPr/>
          <p:nvPr/>
        </p:nvSpPr>
        <p:spPr>
          <a:xfrm>
            <a:off x="2816936" y="54980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4" name="타원 63"/>
          <p:cNvSpPr/>
          <p:nvPr/>
        </p:nvSpPr>
        <p:spPr>
          <a:xfrm>
            <a:off x="7178156" y="692535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6520931" y="692535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9" name="직사각형 68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팝업관리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금지단어관리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75" name="직사각형 74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4100610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43243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금지단어명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체크박스 선택 후 삭제버튼 클릭 시 체크된 금지단어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금지단어관리</a:t>
              </a:r>
              <a:r>
                <a:rPr lang="ko-KR" altLang="en-US" sz="1200" b="1" dirty="0">
                  <a:latin typeface="+mn-ea"/>
                </a:rPr>
                <a:t>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금지단어관리</a:t>
            </a:r>
            <a:endParaRPr lang="en-US" altLang="ko-KR" sz="700" dirty="0"/>
          </a:p>
        </p:txBody>
      </p:sp>
      <p:sp>
        <p:nvSpPr>
          <p:cNvPr id="58" name="TextBox 57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996432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373478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515270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6103" y="2682473"/>
            <a:ext cx="6245863" cy="2366707"/>
          </a:xfrm>
          <a:prstGeom prst="rect">
            <a:avLst/>
          </a:prstGeom>
        </p:spPr>
      </p:pic>
      <p:sp>
        <p:nvSpPr>
          <p:cNvPr id="75" name="직사각형 74"/>
          <p:cNvSpPr/>
          <p:nvPr/>
        </p:nvSpPr>
        <p:spPr>
          <a:xfrm>
            <a:off x="2108261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금지단어명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등록</a:t>
            </a:r>
            <a:r>
              <a:rPr lang="en-US" altLang="ko-KR" sz="9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7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100061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515270" y="5094753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034509" y="302675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타원 37"/>
          <p:cNvSpPr/>
          <p:nvPr/>
        </p:nvSpPr>
        <p:spPr>
          <a:xfrm>
            <a:off x="4262365" y="219558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1414578" y="511498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7153552" y="511498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0" name="직사각형 49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금지단어관리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803270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금지단어관리</a:t>
              </a:r>
              <a:r>
                <a:rPr lang="ko-KR" altLang="en-US" sz="1200" b="1" dirty="0">
                  <a:latin typeface="+mn-ea"/>
                </a:rPr>
                <a:t>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금지단어관리</a:t>
            </a:r>
            <a:endParaRPr lang="en-US" altLang="ko-KR" sz="700" dirty="0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75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금지단어명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</a:tbl>
          </a:graphicData>
        </a:graphic>
      </p:graphicFrame>
      <p:sp>
        <p:nvSpPr>
          <p:cNvPr id="5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118766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3119759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3114949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5918711" y="30594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6537411" y="30594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2" name="타원 61"/>
          <p:cNvSpPr/>
          <p:nvPr/>
        </p:nvSpPr>
        <p:spPr>
          <a:xfrm>
            <a:off x="7142954" y="30594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1" name="직사각형 30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금지단어관리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37" name="직사각형 36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2240737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203452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금지단어관리</a:t>
              </a:r>
              <a:r>
                <a:rPr lang="ko-KR" altLang="en-US" sz="1200" b="1" dirty="0">
                  <a:latin typeface="+mn-ea"/>
                </a:rPr>
                <a:t>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금지단어관리</a:t>
            </a:r>
            <a:endParaRPr lang="en-US" altLang="ko-KR" sz="700" dirty="0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755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금지단어명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8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사용    ○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미사용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TEXT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3075129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2044" y="3075129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178156" y="298513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520931" y="298513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0" name="직사각형 29"/>
          <p:cNvSpPr/>
          <p:nvPr/>
        </p:nvSpPr>
        <p:spPr>
          <a:xfrm>
            <a:off x="167115" y="1707439"/>
            <a:ext cx="1215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사이트기본정보</a:t>
            </a: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 err="1"/>
              <a:t>상단가이드메뉴관리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하단가이드메뉴관리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메인관리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게시판속성관리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배너관리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 err="1"/>
              <a:t>알림영역관리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팝업관리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금지단어관리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회원관리</a:t>
            </a:r>
          </a:p>
        </p:txBody>
      </p:sp>
    </p:spTree>
    <p:extLst>
      <p:ext uri="{BB962C8B-B14F-4D97-AF65-F5344CB8AC3E}">
        <p14:creationId xmlns:p14="http://schemas.microsoft.com/office/powerpoint/2010/main" val="2742600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970228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아이디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회원관리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회원관리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회원관리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회원관리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608891"/>
              </p:ext>
            </p:extLst>
          </p:nvPr>
        </p:nvGraphicFramePr>
        <p:xfrm>
          <a:off x="1507354" y="2745114"/>
          <a:ext cx="6253958" cy="333968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160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193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1948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399058">
                  <a:extLst>
                    <a:ext uri="{9D8B030D-6E8A-4147-A177-3AD203B41FA5}">
                      <a16:colId xmlns:a16="http://schemas.microsoft.com/office/drawing/2014/main" xmlns="" val="3225761749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아이디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성명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가입일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Honggd123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홍길동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 11:32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Snsnlee321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이순신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2017-02-22 11:32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Gga123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강감찬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2017-02-22 11:32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2532419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51013916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55440939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20320961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986729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TEXT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363775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098558" y="2298950"/>
            <a:ext cx="843165" cy="69800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이름       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아이디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휴대전화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505567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sp>
        <p:nvSpPr>
          <p:cNvPr id="45" name="TextBox 44"/>
          <p:cNvSpPr txBox="1"/>
          <p:nvPr/>
        </p:nvSpPr>
        <p:spPr>
          <a:xfrm>
            <a:off x="3618633" y="6139662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33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회원관리</a:t>
            </a:r>
          </a:p>
        </p:txBody>
      </p:sp>
      <p:sp>
        <p:nvSpPr>
          <p:cNvPr id="48" name="타원 47"/>
          <p:cNvSpPr/>
          <p:nvPr/>
        </p:nvSpPr>
        <p:spPr>
          <a:xfrm>
            <a:off x="4239630" y="217992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3052435" y="299695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857139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369702"/>
              </p:ext>
            </p:extLst>
          </p:nvPr>
        </p:nvGraphicFramePr>
        <p:xfrm>
          <a:off x="7835006" y="1563565"/>
          <a:ext cx="1973077" cy="1203452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비밀번호 초기화 시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ID+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휴대전화뒤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자리로 비밀번호로 초기화 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회원관리</a:t>
            </a:r>
            <a:endParaRPr lang="en-US" altLang="ko-KR" sz="6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회원관리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회원관리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회원관리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121225"/>
              </p:ext>
            </p:extLst>
          </p:nvPr>
        </p:nvGraphicFramePr>
        <p:xfrm>
          <a:off x="1507354" y="2421346"/>
          <a:ext cx="6244384" cy="1315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160822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  <a:gridCol w="971526">
                  <a:extLst>
                    <a:ext uri="{9D8B030D-6E8A-4147-A177-3AD203B41FA5}">
                      <a16:colId xmlns:a16="http://schemas.microsoft.com/office/drawing/2014/main" xmlns="" val="2335226857"/>
                    </a:ext>
                  </a:extLst>
                </a:gridCol>
                <a:gridCol w="2150666">
                  <a:extLst>
                    <a:ext uri="{9D8B030D-6E8A-4147-A177-3AD203B41FA5}">
                      <a16:colId xmlns:a16="http://schemas.microsoft.com/office/drawing/2014/main" xmlns="" val="2653013818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Honggd123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19870306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이메일주소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hlinkClick r:id="rId9"/>
                        </a:rPr>
                        <a:t>tes***@naver.com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02-****-1111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휴대전화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010-****-1111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07832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서울시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구로구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가마산로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9-9 km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타워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25487"/>
              </p:ext>
            </p:extLst>
          </p:nvPr>
        </p:nvGraphicFramePr>
        <p:xfrm>
          <a:off x="1507354" y="4127906"/>
          <a:ext cx="6244384" cy="1023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70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528301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2017-03-06 11:32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35878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최종접속일시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2017-03-06 11:32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328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비밀번호 최종 변경일시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2017-03-06 11:32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</a:tbl>
          </a:graphicData>
        </a:graphic>
      </p:graphicFrame>
      <p:sp>
        <p:nvSpPr>
          <p:cNvPr id="51" name="직사각형 50"/>
          <p:cNvSpPr/>
          <p:nvPr/>
        </p:nvSpPr>
        <p:spPr>
          <a:xfrm>
            <a:off x="1507354" y="2165291"/>
            <a:ext cx="8707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회원정보</a:t>
            </a:r>
            <a:endParaRPr lang="en-US" altLang="ko-KR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507354" y="3866232"/>
            <a:ext cx="10438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○ 로그인 정보</a:t>
            </a:r>
            <a:endParaRPr lang="en-US" altLang="ko-KR" sz="1000" b="1" dirty="0"/>
          </a:p>
        </p:txBody>
      </p:sp>
      <p:sp>
        <p:nvSpPr>
          <p:cNvPr id="5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115783" y="5545355"/>
            <a:ext cx="1038312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비밀번호 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42" name="직사각형 41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관리자 관리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회원관리</a:t>
            </a:r>
          </a:p>
        </p:txBody>
      </p:sp>
      <p:sp>
        <p:nvSpPr>
          <p:cNvPr id="55" name="타원 54"/>
          <p:cNvSpPr/>
          <p:nvPr/>
        </p:nvSpPr>
        <p:spPr>
          <a:xfrm>
            <a:off x="4004670" y="54533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553744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32422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43" name="직사각형 42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44" name="직사각형 43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웹콘텐츠</a:t>
              </a:r>
              <a:r>
                <a:rPr lang="ko-KR" altLang="en-US" sz="1200" b="1" dirty="0">
                  <a:latin typeface="+mn-ea"/>
                </a:rPr>
                <a:t> 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웹콘텐츠관리</a:t>
            </a:r>
            <a:r>
              <a:rPr lang="ko-KR" altLang="en-US" sz="700" dirty="0"/>
              <a:t>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웹콘텐츠</a:t>
            </a:r>
            <a:r>
              <a:rPr lang="ko-KR" altLang="en-US" sz="700" dirty="0"/>
              <a:t> 관리</a:t>
            </a:r>
            <a:endParaRPr lang="en-US" altLang="ko-KR" sz="700" dirty="0"/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웹콘텐츠</a:t>
            </a:r>
            <a:r>
              <a:rPr lang="ko-KR" altLang="en-US" sz="600" b="1" dirty="0">
                <a:solidFill>
                  <a:srgbClr val="FF0000"/>
                </a:solidFill>
              </a:rPr>
              <a:t> 관리</a:t>
            </a:r>
            <a:endParaRPr lang="en-US" altLang="ko-KR" sz="6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2620" y="2685767"/>
            <a:ext cx="6150847" cy="18285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01365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390703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515270" y="2304126"/>
            <a:ext cx="6463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검색조건</a:t>
            </a:r>
            <a:endParaRPr lang="ko-KR" altLang="en-US" sz="900" dirty="0"/>
          </a:p>
        </p:txBody>
      </p:sp>
      <p:sp>
        <p:nvSpPr>
          <p:cNvPr id="50" name="직사각형 49"/>
          <p:cNvSpPr/>
          <p:nvPr/>
        </p:nvSpPr>
        <p:spPr>
          <a:xfrm>
            <a:off x="3125486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금지단어명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등록</a:t>
            </a:r>
            <a:r>
              <a:rPr lang="en-US" altLang="ko-KR" sz="900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193210" y="2298950"/>
            <a:ext cx="843165" cy="48103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사용여부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사용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미사용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332002" y="218783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8" name="타원 57"/>
          <p:cNvSpPr/>
          <p:nvPr/>
        </p:nvSpPr>
        <p:spPr>
          <a:xfrm>
            <a:off x="2612741" y="27742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564559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726490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변경된 내용을 수정하며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새로운 버전으로 등록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표시되고 있는 콘텐츠 버전을 삭제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미리보기 버튼 클릭 시 팝업을 통해 미리보기 화면 제공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9" name="TextBox 5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 err="1">
                  <a:latin typeface="+mn-ea"/>
                </a:rPr>
                <a:t>웹콘텐츠</a:t>
              </a:r>
              <a:r>
                <a:rPr lang="ko-KR" altLang="en-US" sz="1200" b="1" dirty="0">
                  <a:latin typeface="+mn-ea"/>
                </a:rPr>
                <a:t> 관리 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0" name="직선 연결선 5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직사각형 6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웹콘텐츠관리</a:t>
            </a:r>
            <a:r>
              <a:rPr lang="ko-KR" altLang="en-US" sz="700" dirty="0"/>
              <a:t>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웹콘텐츠</a:t>
            </a:r>
            <a:r>
              <a:rPr lang="ko-KR" altLang="en-US" sz="700" dirty="0"/>
              <a:t> 관리</a:t>
            </a:r>
            <a:endParaRPr lang="en-US" altLang="ko-KR" sz="700" dirty="0"/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웹콘텐츠</a:t>
            </a:r>
            <a:r>
              <a:rPr lang="ko-KR" altLang="en-US" sz="600" b="1" dirty="0">
                <a:solidFill>
                  <a:srgbClr val="FF0000"/>
                </a:solidFill>
              </a:rPr>
              <a:t> 관리</a:t>
            </a:r>
            <a:endParaRPr lang="en-US" altLang="ko-KR" sz="600" b="1" dirty="0"/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568106"/>
              </p:ext>
            </p:extLst>
          </p:nvPr>
        </p:nvGraphicFramePr>
        <p:xfrm>
          <a:off x="1520132" y="2234064"/>
          <a:ext cx="6231604" cy="3502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75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48829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버전번호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Ver.1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협회소개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회장인사말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182366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최종수정일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2017.03.13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61090726"/>
                  </a:ext>
                </a:extLst>
              </a:tr>
              <a:tr h="3686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smtClean="0">
                          <a:solidFill>
                            <a:schemeClr val="tx1"/>
                          </a:solidFill>
                        </a:rPr>
                        <a:t>사용자 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</a:rPr>
                        <a:t>/ucms/~~~/content.do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49334445"/>
                  </a:ext>
                </a:extLst>
              </a:tr>
              <a:tr h="1792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pic>
        <p:nvPicPr>
          <p:cNvPr id="54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318" y="3591281"/>
            <a:ext cx="4940417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직사각형 54"/>
          <p:cNvSpPr/>
          <p:nvPr/>
        </p:nvSpPr>
        <p:spPr>
          <a:xfrm>
            <a:off x="2835956" y="5223586"/>
            <a:ext cx="843165" cy="3932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사용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미사용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230398" y="3290892"/>
            <a:ext cx="642358" cy="2135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미리보기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666781" y="5574453"/>
            <a:ext cx="154944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새로운 버전으로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360514" y="55744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420825" y="6171684"/>
            <a:ext cx="6330911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다음페이지에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계속</a:t>
            </a:r>
          </a:p>
        </p:txBody>
      </p:sp>
      <p:sp>
        <p:nvSpPr>
          <p:cNvPr id="37" name="타원 36"/>
          <p:cNvSpPr/>
          <p:nvPr/>
        </p:nvSpPr>
        <p:spPr>
          <a:xfrm>
            <a:off x="6277244" y="546334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타원 37"/>
          <p:cNvSpPr/>
          <p:nvPr/>
        </p:nvSpPr>
        <p:spPr>
          <a:xfrm>
            <a:off x="4551577" y="546334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직사각형 48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  <p:sp>
        <p:nvSpPr>
          <p:cNvPr id="42" name="타원 41"/>
          <p:cNvSpPr/>
          <p:nvPr/>
        </p:nvSpPr>
        <p:spPr>
          <a:xfrm>
            <a:off x="4093307" y="320074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035167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723404"/>
              </p:ext>
            </p:extLst>
          </p:nvPr>
        </p:nvGraphicFramePr>
        <p:xfrm>
          <a:off x="7835006" y="1563565"/>
          <a:ext cx="1973077" cy="1203452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메뉴명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해당 버전의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웹콘텐츠를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6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293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 err="1">
                <a:solidFill>
                  <a:srgbClr val="FF0000"/>
                </a:solidFill>
              </a:rPr>
              <a:t>웹콘텐츠</a:t>
            </a:r>
            <a:r>
              <a:rPr lang="ko-KR" altLang="en-US" sz="600" b="1" dirty="0">
                <a:solidFill>
                  <a:srgbClr val="FF0000"/>
                </a:solidFill>
              </a:rPr>
              <a:t> 관리</a:t>
            </a:r>
            <a:endParaRPr lang="en-US" altLang="ko-KR" sz="600" b="1" dirty="0"/>
          </a:p>
        </p:txBody>
      </p:sp>
      <p:sp>
        <p:nvSpPr>
          <p:cNvPr id="62" name="직사각형 61"/>
          <p:cNvSpPr/>
          <p:nvPr/>
        </p:nvSpPr>
        <p:spPr>
          <a:xfrm>
            <a:off x="1513031" y="2322149"/>
            <a:ext cx="112723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콘텐츠 이력관리</a:t>
            </a: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16975"/>
              </p:ext>
            </p:extLst>
          </p:nvPr>
        </p:nvGraphicFramePr>
        <p:xfrm>
          <a:off x="1531832" y="2636555"/>
          <a:ext cx="6219904" cy="12244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656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987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772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77722">
                  <a:extLst>
                    <a:ext uri="{9D8B030D-6E8A-4147-A177-3AD203B41FA5}">
                      <a16:colId xmlns:a16="http://schemas.microsoft.com/office/drawing/2014/main" xmlns="" val="727339375"/>
                    </a:ext>
                  </a:extLst>
                </a:gridCol>
              </a:tblGrid>
              <a:tr h="2793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버전번호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latin typeface="맑은 고딕" pitchFamily="50" charset="-127"/>
                          <a:ea typeface="맑은 고딕" pitchFamily="50" charset="-127"/>
                        </a:rPr>
                        <a:t>메뉴명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메뉴사용여부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수정일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VER.3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협회소개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회장인사말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2017.03.13</a:t>
                      </a:r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VER.2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협회소개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회장인사말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미사용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2017.03.13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VER.1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협회소개 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회장인사말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미사용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66666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2017.03.13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66666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45448910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482129" y="3932990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38" name="직사각형 37"/>
          <p:cNvSpPr/>
          <p:nvPr/>
        </p:nvSpPr>
        <p:spPr>
          <a:xfrm>
            <a:off x="1420825" y="1809508"/>
            <a:ext cx="6330911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이전페이지에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계속</a:t>
            </a:r>
          </a:p>
        </p:txBody>
      </p:sp>
      <p:sp>
        <p:nvSpPr>
          <p:cNvPr id="25" name="타원 24"/>
          <p:cNvSpPr/>
          <p:nvPr/>
        </p:nvSpPr>
        <p:spPr>
          <a:xfrm>
            <a:off x="3185703" y="27978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4" name="직사각형 23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26" name="직사각형 25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22035110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193570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및 게시물 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760046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워크샵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워크샵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워크샵</a:t>
            </a:r>
            <a:endParaRPr lang="en-US" altLang="ko-KR" sz="700" dirty="0"/>
          </a:p>
        </p:txBody>
      </p:sp>
      <p:sp>
        <p:nvSpPr>
          <p:cNvPr id="61" name="사각형: 둥근 모서리 60"/>
          <p:cNvSpPr/>
          <p:nvPr/>
        </p:nvSpPr>
        <p:spPr>
          <a:xfrm>
            <a:off x="1504282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3" name="사각형: 둥근 모서리 62"/>
          <p:cNvSpPr/>
          <p:nvPr/>
        </p:nvSpPr>
        <p:spPr>
          <a:xfrm>
            <a:off x="3139190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4" name="사각형: 둥근 모서리 63"/>
          <p:cNvSpPr/>
          <p:nvPr/>
        </p:nvSpPr>
        <p:spPr>
          <a:xfrm>
            <a:off x="4774098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5" name="사각형: 둥근 모서리 64"/>
          <p:cNvSpPr/>
          <p:nvPr/>
        </p:nvSpPr>
        <p:spPr>
          <a:xfrm>
            <a:off x="6409005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504282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68" name="직사각형 67"/>
          <p:cNvSpPr/>
          <p:nvPr/>
        </p:nvSpPr>
        <p:spPr>
          <a:xfrm>
            <a:off x="1504282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0" name="직사각형 69"/>
          <p:cNvSpPr/>
          <p:nvPr/>
        </p:nvSpPr>
        <p:spPr>
          <a:xfrm>
            <a:off x="3139190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1" name="직사각형 70"/>
          <p:cNvSpPr/>
          <p:nvPr/>
        </p:nvSpPr>
        <p:spPr>
          <a:xfrm>
            <a:off x="3139190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2" name="직사각형 71"/>
          <p:cNvSpPr/>
          <p:nvPr/>
        </p:nvSpPr>
        <p:spPr>
          <a:xfrm>
            <a:off x="4774098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3" name="직사각형 72"/>
          <p:cNvSpPr/>
          <p:nvPr/>
        </p:nvSpPr>
        <p:spPr>
          <a:xfrm>
            <a:off x="4774098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4" name="직사각형 73"/>
          <p:cNvSpPr/>
          <p:nvPr/>
        </p:nvSpPr>
        <p:spPr>
          <a:xfrm>
            <a:off x="6418581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5" name="직사각형 74"/>
          <p:cNvSpPr/>
          <p:nvPr/>
        </p:nvSpPr>
        <p:spPr>
          <a:xfrm>
            <a:off x="6418581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6" name="사각형: 둥근 모서리 75"/>
          <p:cNvSpPr/>
          <p:nvPr/>
        </p:nvSpPr>
        <p:spPr>
          <a:xfrm>
            <a:off x="1504282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7" name="사각형: 둥근 모서리 76"/>
          <p:cNvSpPr/>
          <p:nvPr/>
        </p:nvSpPr>
        <p:spPr>
          <a:xfrm>
            <a:off x="3139190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8" name="사각형: 둥근 모서리 77"/>
          <p:cNvSpPr/>
          <p:nvPr/>
        </p:nvSpPr>
        <p:spPr>
          <a:xfrm>
            <a:off x="4774098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9" name="사각형: 둥근 모서리 78"/>
          <p:cNvSpPr/>
          <p:nvPr/>
        </p:nvSpPr>
        <p:spPr>
          <a:xfrm>
            <a:off x="6409005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504282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1" name="직사각형 80"/>
          <p:cNvSpPr/>
          <p:nvPr/>
        </p:nvSpPr>
        <p:spPr>
          <a:xfrm>
            <a:off x="1504282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2" name="직사각형 81"/>
          <p:cNvSpPr/>
          <p:nvPr/>
        </p:nvSpPr>
        <p:spPr>
          <a:xfrm>
            <a:off x="3139190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3" name="직사각형 82"/>
          <p:cNvSpPr/>
          <p:nvPr/>
        </p:nvSpPr>
        <p:spPr>
          <a:xfrm>
            <a:off x="3139190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4" name="직사각형 83"/>
          <p:cNvSpPr/>
          <p:nvPr/>
        </p:nvSpPr>
        <p:spPr>
          <a:xfrm>
            <a:off x="4774098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5" name="직사각형 84"/>
          <p:cNvSpPr/>
          <p:nvPr/>
        </p:nvSpPr>
        <p:spPr>
          <a:xfrm>
            <a:off x="4774098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6" name="직사각형 85"/>
          <p:cNvSpPr/>
          <p:nvPr/>
        </p:nvSpPr>
        <p:spPr>
          <a:xfrm>
            <a:off x="6418581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7" name="직사각형 86"/>
          <p:cNvSpPr/>
          <p:nvPr/>
        </p:nvSpPr>
        <p:spPr>
          <a:xfrm>
            <a:off x="6418581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100" name="직사각형 99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0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4368190" y="22203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9" name="타원 68"/>
          <p:cNvSpPr/>
          <p:nvPr/>
        </p:nvSpPr>
        <p:spPr>
          <a:xfrm>
            <a:off x="3430557" y="277471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92" name="타원 91"/>
          <p:cNvSpPr/>
          <p:nvPr/>
        </p:nvSpPr>
        <p:spPr>
          <a:xfrm>
            <a:off x="3139189" y="36826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04" name="타원 103"/>
          <p:cNvSpPr/>
          <p:nvPr/>
        </p:nvSpPr>
        <p:spPr>
          <a:xfrm>
            <a:off x="7110335" y="557419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05" name="직사각형 104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106" name="직사각형 105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45164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451514"/>
              </p:ext>
            </p:extLst>
          </p:nvPr>
        </p:nvGraphicFramePr>
        <p:xfrm>
          <a:off x="7835006" y="1563565"/>
          <a:ext cx="1973077" cy="143243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선택 시 게시물 내 메인 이미지 변경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워크샵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워크샵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워크샵</a:t>
            </a:r>
            <a:endParaRPr lang="en-US" altLang="ko-KR" sz="700" dirty="0"/>
          </a:p>
        </p:txBody>
      </p:sp>
      <p:sp>
        <p:nvSpPr>
          <p:cNvPr id="62" name="사각형: 둥근 모서리 61"/>
          <p:cNvSpPr/>
          <p:nvPr/>
        </p:nvSpPr>
        <p:spPr>
          <a:xfrm>
            <a:off x="1551066" y="3025304"/>
            <a:ext cx="4626070" cy="2540735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8" name="사각형: 둥근 모서리 87"/>
          <p:cNvSpPr/>
          <p:nvPr/>
        </p:nvSpPr>
        <p:spPr>
          <a:xfrm>
            <a:off x="6597189" y="302890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9" name="사각형: 둥근 모서리 88"/>
          <p:cNvSpPr/>
          <p:nvPr/>
        </p:nvSpPr>
        <p:spPr>
          <a:xfrm>
            <a:off x="6597189" y="369361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90" name="사각형: 둥근 모서리 89"/>
          <p:cNvSpPr/>
          <p:nvPr/>
        </p:nvSpPr>
        <p:spPr>
          <a:xfrm>
            <a:off x="6597189" y="435832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91" name="사각형: 둥근 모서리 90"/>
          <p:cNvSpPr/>
          <p:nvPr/>
        </p:nvSpPr>
        <p:spPr>
          <a:xfrm>
            <a:off x="6597189" y="502303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cxnSp>
        <p:nvCxnSpPr>
          <p:cNvPr id="92" name="직선 연결선 91"/>
          <p:cNvCxnSpPr>
            <a:cxnSpLocks/>
          </p:cNvCxnSpPr>
          <p:nvPr/>
        </p:nvCxnSpPr>
        <p:spPr>
          <a:xfrm>
            <a:off x="1507354" y="5746060"/>
            <a:ext cx="6253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cxnSpLocks/>
          </p:cNvCxnSpPr>
          <p:nvPr/>
        </p:nvCxnSpPr>
        <p:spPr>
          <a:xfrm>
            <a:off x="1507354" y="6133771"/>
            <a:ext cx="6253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2619" y="576443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/>
              <a:t>내용입니다</a:t>
            </a:r>
            <a:r>
              <a:rPr lang="en-US" altLang="ko-KR" sz="900" dirty="0"/>
              <a:t>. </a:t>
            </a:r>
          </a:p>
          <a:p>
            <a:r>
              <a:rPr lang="ko-KR" altLang="en-US" sz="900"/>
              <a:t>내용입니다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46201"/>
              </p:ext>
            </p:extLst>
          </p:nvPr>
        </p:nvGraphicFramePr>
        <p:xfrm>
          <a:off x="1507354" y="2188748"/>
          <a:ext cx="62539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377">
                  <a:extLst>
                    <a:ext uri="{9D8B030D-6E8A-4147-A177-3AD203B41FA5}">
                      <a16:colId xmlns:a16="http://schemas.microsoft.com/office/drawing/2014/main" xmlns="" val="1058205025"/>
                    </a:ext>
                  </a:extLst>
                </a:gridCol>
                <a:gridCol w="4966581">
                  <a:extLst>
                    <a:ext uri="{9D8B030D-6E8A-4147-A177-3AD203B41FA5}">
                      <a16:colId xmlns:a16="http://schemas.microsoft.com/office/drawing/2014/main" xmlns="" val="3434509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워크샵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2990304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조회수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5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등록일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2017-03-13 15:00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61183592"/>
                  </a:ext>
                </a:extLst>
              </a:tr>
            </a:tbl>
          </a:graphicData>
        </a:graphic>
      </p:graphicFrame>
      <p:sp>
        <p:nvSpPr>
          <p:cNvPr id="9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6242746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5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6243739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6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6238929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6527955" y="300537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8" name="타원 37"/>
          <p:cNvSpPr/>
          <p:nvPr/>
        </p:nvSpPr>
        <p:spPr>
          <a:xfrm>
            <a:off x="6527955" y="36052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6527955" y="42472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527955" y="490132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5912422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6589258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7169397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3" name="직사각형 52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4" name="직사각형 53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111267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3888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워크샵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워크샵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워크샵</a:t>
            </a:r>
            <a:endParaRPr lang="en-US" altLang="ko-KR" sz="700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518361"/>
              </p:ext>
            </p:extLst>
          </p:nvPr>
        </p:nvGraphicFramePr>
        <p:xfrm>
          <a:off x="1507354" y="2216333"/>
          <a:ext cx="6244382" cy="2652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7560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414908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149080"/>
            <a:ext cx="209073" cy="257907"/>
          </a:xfrm>
          <a:prstGeom prst="rect">
            <a:avLst/>
          </a:prstGeom>
        </p:spPr>
      </p:pic>
      <p:sp>
        <p:nvSpPr>
          <p:cNvPr id="5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15362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5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14323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548844" y="4491531"/>
            <a:ext cx="414046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500176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5001765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7122393" y="489065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6465168" y="489065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2768655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6381898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7" name="직사각형 56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7512477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583637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채용정보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채용정보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채용정보</a:t>
            </a:r>
            <a:endParaRPr lang="en-US" altLang="ko-KR" sz="700" dirty="0"/>
          </a:p>
        </p:txBody>
      </p:sp>
      <p:sp>
        <p:nvSpPr>
          <p:cNvPr id="32" name="TextBox 31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55068"/>
              </p:ext>
            </p:extLst>
          </p:nvPr>
        </p:nvGraphicFramePr>
        <p:xfrm>
          <a:off x="1507354" y="2712065"/>
          <a:ext cx="6244382" cy="27691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0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7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0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11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736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784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255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2024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495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9098987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003686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4060465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graphicFrame>
        <p:nvGraphicFramePr>
          <p:cNvPr id="33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617838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8" name="타원 37"/>
          <p:cNvSpPr/>
          <p:nvPr/>
        </p:nvSpPr>
        <p:spPr>
          <a:xfrm>
            <a:off x="7126337" y="55551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4273958" y="220736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3113945" y="31242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893555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17360"/>
              </p:ext>
            </p:extLst>
          </p:nvPr>
        </p:nvGraphicFramePr>
        <p:xfrm>
          <a:off x="7835006" y="1563565"/>
          <a:ext cx="1973077" cy="165785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댓글 등록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휴지통 버튼 클릭 시 댓글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32565984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채용정보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채용정보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채용정보</a:t>
            </a:r>
            <a:endParaRPr lang="en-US" altLang="ko-KR" sz="700" dirty="0"/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48873"/>
              </p:ext>
            </p:extLst>
          </p:nvPr>
        </p:nvGraphicFramePr>
        <p:xfrm>
          <a:off x="1521238" y="2288776"/>
          <a:ext cx="6230498" cy="2089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75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24087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310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75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3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876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997690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0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18226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52013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5948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507354" y="4838988"/>
            <a:ext cx="5537653" cy="4680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입력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r>
              <a:rPr lang="en-US" altLang="ko-KR" sz="900" b="1" dirty="0">
                <a:solidFill>
                  <a:srgbClr val="FF0000"/>
                </a:solidFill>
              </a:rPr>
              <a:t>TEXT</a:t>
            </a: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045007" y="4838988"/>
            <a:ext cx="710751" cy="4680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507354" y="5343019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 err="1"/>
              <a:t>전체댓글</a:t>
            </a:r>
            <a:endParaRPr lang="ko-KR" altLang="en-US" sz="1000" b="1" dirty="0"/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925502"/>
              </p:ext>
            </p:extLst>
          </p:nvPr>
        </p:nvGraphicFramePr>
        <p:xfrm>
          <a:off x="1507354" y="5589240"/>
          <a:ext cx="62443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4380">
                  <a:extLst>
                    <a:ext uri="{9D8B030D-6E8A-4147-A177-3AD203B41FA5}">
                      <a16:colId xmlns:a16="http://schemas.microsoft.com/office/drawing/2014/main" xmlns="" val="4237968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08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166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1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89748707"/>
                  </a:ext>
                </a:extLst>
              </a:tr>
            </a:tbl>
          </a:graphicData>
        </a:graphic>
      </p:graphicFrame>
      <p:sp>
        <p:nvSpPr>
          <p:cNvPr id="37" name="타원 36"/>
          <p:cNvSpPr/>
          <p:nvPr/>
        </p:nvSpPr>
        <p:spPr>
          <a:xfrm>
            <a:off x="1446095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5878336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6555172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7135311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2072680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7529508" y="48296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5767835"/>
            <a:ext cx="209073" cy="257907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6218643"/>
            <a:ext cx="209073" cy="257907"/>
          </a:xfrm>
          <a:prstGeom prst="rect">
            <a:avLst/>
          </a:prstGeom>
        </p:spPr>
      </p:pic>
      <p:sp>
        <p:nvSpPr>
          <p:cNvPr id="58" name="타원 57"/>
          <p:cNvSpPr/>
          <p:nvPr/>
        </p:nvSpPr>
        <p:spPr>
          <a:xfrm>
            <a:off x="7612780" y="57407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7612780" y="61790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60" name="직사각형 59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61" name="직사각형 60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24481279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채용정보</a:t>
            </a:r>
            <a:endParaRPr lang="en-US" altLang="ko-KR" sz="8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채용정보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채용정보</a:t>
            </a:r>
            <a:endParaRPr lang="en-US" altLang="ko-KR" sz="700" dirty="0"/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240186"/>
              </p:ext>
            </p:extLst>
          </p:nvPr>
        </p:nvGraphicFramePr>
        <p:xfrm>
          <a:off x="1507354" y="2216333"/>
          <a:ext cx="6244382" cy="229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76836" y="414908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149080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15362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16609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4632969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4632969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1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78593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2" name="타원 51"/>
          <p:cNvSpPr/>
          <p:nvPr/>
        </p:nvSpPr>
        <p:spPr>
          <a:xfrm>
            <a:off x="7122393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6465168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2768655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6381898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직사각형 37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45" name="직사각형 44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762788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760046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갤러리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갤러리</a:t>
            </a:r>
            <a:endParaRPr lang="en-US" altLang="ko-KR" sz="700" dirty="0"/>
          </a:p>
        </p:txBody>
      </p:sp>
      <p:sp>
        <p:nvSpPr>
          <p:cNvPr id="61" name="사각형: 둥근 모서리 60"/>
          <p:cNvSpPr/>
          <p:nvPr/>
        </p:nvSpPr>
        <p:spPr>
          <a:xfrm>
            <a:off x="1504282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3" name="사각형: 둥근 모서리 62"/>
          <p:cNvSpPr/>
          <p:nvPr/>
        </p:nvSpPr>
        <p:spPr>
          <a:xfrm>
            <a:off x="3139190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4" name="사각형: 둥근 모서리 63"/>
          <p:cNvSpPr/>
          <p:nvPr/>
        </p:nvSpPr>
        <p:spPr>
          <a:xfrm>
            <a:off x="4774098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5" name="사각형: 둥근 모서리 64"/>
          <p:cNvSpPr/>
          <p:nvPr/>
        </p:nvSpPr>
        <p:spPr>
          <a:xfrm>
            <a:off x="6409005" y="2767017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504282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68" name="직사각형 67"/>
          <p:cNvSpPr/>
          <p:nvPr/>
        </p:nvSpPr>
        <p:spPr>
          <a:xfrm>
            <a:off x="1504282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0" name="직사각형 69"/>
          <p:cNvSpPr/>
          <p:nvPr/>
        </p:nvSpPr>
        <p:spPr>
          <a:xfrm>
            <a:off x="3139190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1" name="직사각형 70"/>
          <p:cNvSpPr/>
          <p:nvPr/>
        </p:nvSpPr>
        <p:spPr>
          <a:xfrm>
            <a:off x="3139190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2" name="직사각형 71"/>
          <p:cNvSpPr/>
          <p:nvPr/>
        </p:nvSpPr>
        <p:spPr>
          <a:xfrm>
            <a:off x="4774098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3" name="직사각형 72"/>
          <p:cNvSpPr/>
          <p:nvPr/>
        </p:nvSpPr>
        <p:spPr>
          <a:xfrm>
            <a:off x="4774098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4" name="직사각형 73"/>
          <p:cNvSpPr/>
          <p:nvPr/>
        </p:nvSpPr>
        <p:spPr>
          <a:xfrm>
            <a:off x="6418581" y="3791345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75" name="직사각형 74"/>
          <p:cNvSpPr/>
          <p:nvPr/>
        </p:nvSpPr>
        <p:spPr>
          <a:xfrm>
            <a:off x="6418581" y="3956397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76" name="사각형: 둥근 모서리 75"/>
          <p:cNvSpPr/>
          <p:nvPr/>
        </p:nvSpPr>
        <p:spPr>
          <a:xfrm>
            <a:off x="1504282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7" name="사각형: 둥근 모서리 76"/>
          <p:cNvSpPr/>
          <p:nvPr/>
        </p:nvSpPr>
        <p:spPr>
          <a:xfrm>
            <a:off x="3139190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8" name="사각형: 둥근 모서리 77"/>
          <p:cNvSpPr/>
          <p:nvPr/>
        </p:nvSpPr>
        <p:spPr>
          <a:xfrm>
            <a:off x="4774098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79" name="사각형: 둥근 모서리 78"/>
          <p:cNvSpPr/>
          <p:nvPr/>
        </p:nvSpPr>
        <p:spPr>
          <a:xfrm>
            <a:off x="6409005" y="4212844"/>
            <a:ext cx="1342731" cy="99008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504282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1" name="직사각형 80"/>
          <p:cNvSpPr/>
          <p:nvPr/>
        </p:nvSpPr>
        <p:spPr>
          <a:xfrm>
            <a:off x="1504282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2" name="직사각형 81"/>
          <p:cNvSpPr/>
          <p:nvPr/>
        </p:nvSpPr>
        <p:spPr>
          <a:xfrm>
            <a:off x="3139190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3" name="직사각형 82"/>
          <p:cNvSpPr/>
          <p:nvPr/>
        </p:nvSpPr>
        <p:spPr>
          <a:xfrm>
            <a:off x="3139190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4" name="직사각형 83"/>
          <p:cNvSpPr/>
          <p:nvPr/>
        </p:nvSpPr>
        <p:spPr>
          <a:xfrm>
            <a:off x="4774098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5" name="직사각형 84"/>
          <p:cNvSpPr/>
          <p:nvPr/>
        </p:nvSpPr>
        <p:spPr>
          <a:xfrm>
            <a:off x="4774098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6" name="직사각형 85"/>
          <p:cNvSpPr/>
          <p:nvPr/>
        </p:nvSpPr>
        <p:spPr>
          <a:xfrm>
            <a:off x="6418581" y="5237172"/>
            <a:ext cx="13427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900" b="1" dirty="0"/>
              <a:t>2017</a:t>
            </a:r>
            <a:r>
              <a:rPr lang="ko-KR" altLang="en-US" sz="900" b="1" dirty="0"/>
              <a:t>년 해외 워크샵</a:t>
            </a:r>
            <a:endParaRPr lang="en-US" altLang="ko-KR" sz="900" b="1" dirty="0"/>
          </a:p>
        </p:txBody>
      </p:sp>
      <p:sp>
        <p:nvSpPr>
          <p:cNvPr id="87" name="직사각형 86"/>
          <p:cNvSpPr/>
          <p:nvPr/>
        </p:nvSpPr>
        <p:spPr>
          <a:xfrm>
            <a:off x="6418581" y="5402224"/>
            <a:ext cx="1342731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defRPr/>
            </a:pPr>
            <a:r>
              <a:rPr lang="en-US" altLang="ko-KR" sz="700"/>
              <a:t>2017-03-13</a:t>
            </a:r>
            <a:endParaRPr lang="en-US" altLang="ko-KR" sz="700" dirty="0"/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100" name="직사각형 99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0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갤러리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66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187300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및 게시물 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2" name="타원 91"/>
          <p:cNvSpPr/>
          <p:nvPr/>
        </p:nvSpPr>
        <p:spPr>
          <a:xfrm>
            <a:off x="4368190" y="222035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3" name="타원 102"/>
          <p:cNvSpPr/>
          <p:nvPr/>
        </p:nvSpPr>
        <p:spPr>
          <a:xfrm>
            <a:off x="3430557" y="277471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04" name="타원 103"/>
          <p:cNvSpPr/>
          <p:nvPr/>
        </p:nvSpPr>
        <p:spPr>
          <a:xfrm>
            <a:off x="3139189" y="368267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06" name="타원 105"/>
          <p:cNvSpPr/>
          <p:nvPr/>
        </p:nvSpPr>
        <p:spPr>
          <a:xfrm>
            <a:off x="7110335" y="557419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07" name="직사각형 106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108" name="직사각형 107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2993193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갤러리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갤러리</a:t>
            </a:r>
            <a:endParaRPr lang="en-US" altLang="ko-KR" sz="700" dirty="0"/>
          </a:p>
        </p:txBody>
      </p:sp>
      <p:sp>
        <p:nvSpPr>
          <p:cNvPr id="62" name="사각형: 둥근 모서리 61"/>
          <p:cNvSpPr/>
          <p:nvPr/>
        </p:nvSpPr>
        <p:spPr>
          <a:xfrm>
            <a:off x="1551066" y="3025304"/>
            <a:ext cx="4626070" cy="2540735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8" name="사각형: 둥근 모서리 87"/>
          <p:cNvSpPr/>
          <p:nvPr/>
        </p:nvSpPr>
        <p:spPr>
          <a:xfrm>
            <a:off x="6597189" y="302890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9" name="사각형: 둥근 모서리 88"/>
          <p:cNvSpPr/>
          <p:nvPr/>
        </p:nvSpPr>
        <p:spPr>
          <a:xfrm>
            <a:off x="6597189" y="369361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90" name="사각형: 둥근 모서리 89"/>
          <p:cNvSpPr/>
          <p:nvPr/>
        </p:nvSpPr>
        <p:spPr>
          <a:xfrm>
            <a:off x="6597189" y="435832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91" name="사각형: 둥근 모서리 90"/>
          <p:cNvSpPr/>
          <p:nvPr/>
        </p:nvSpPr>
        <p:spPr>
          <a:xfrm>
            <a:off x="6597189" y="5023039"/>
            <a:ext cx="1154547" cy="54300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rgbClr val="FF0000"/>
                </a:solidFill>
              </a:rPr>
              <a:t>IMG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cxnSp>
        <p:nvCxnSpPr>
          <p:cNvPr id="92" name="직선 연결선 91"/>
          <p:cNvCxnSpPr>
            <a:cxnSpLocks/>
          </p:cNvCxnSpPr>
          <p:nvPr/>
        </p:nvCxnSpPr>
        <p:spPr>
          <a:xfrm>
            <a:off x="1507354" y="5746060"/>
            <a:ext cx="6253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cxnSpLocks/>
          </p:cNvCxnSpPr>
          <p:nvPr/>
        </p:nvCxnSpPr>
        <p:spPr>
          <a:xfrm>
            <a:off x="1507354" y="6133771"/>
            <a:ext cx="6253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2619" y="5764439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/>
              <a:t>내용입니다</a:t>
            </a:r>
            <a:r>
              <a:rPr lang="en-US" altLang="ko-KR" sz="900" dirty="0"/>
              <a:t>. </a:t>
            </a:r>
          </a:p>
          <a:p>
            <a:r>
              <a:rPr lang="ko-KR" altLang="en-US" sz="900"/>
              <a:t>내용입니다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507354" y="2188748"/>
          <a:ext cx="62539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377">
                  <a:extLst>
                    <a:ext uri="{9D8B030D-6E8A-4147-A177-3AD203B41FA5}">
                      <a16:colId xmlns:a16="http://schemas.microsoft.com/office/drawing/2014/main" xmlns="" val="1058205025"/>
                    </a:ext>
                  </a:extLst>
                </a:gridCol>
                <a:gridCol w="4966581">
                  <a:extLst>
                    <a:ext uri="{9D8B030D-6E8A-4147-A177-3AD203B41FA5}">
                      <a16:colId xmlns:a16="http://schemas.microsoft.com/office/drawing/2014/main" xmlns="" val="3434509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워크샵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2990304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조회수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5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등록일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2017-03-13 15:00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61183592"/>
                  </a:ext>
                </a:extLst>
              </a:tr>
            </a:tbl>
          </a:graphicData>
        </a:graphic>
      </p:graphicFrame>
      <p:sp>
        <p:nvSpPr>
          <p:cNvPr id="9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6242746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5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9068" y="6243739"/>
            <a:ext cx="51428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6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65583" y="6238929"/>
            <a:ext cx="498845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갤러리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38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87184"/>
              </p:ext>
            </p:extLst>
          </p:nvPr>
        </p:nvGraphicFramePr>
        <p:xfrm>
          <a:off x="7835006" y="1563565"/>
          <a:ext cx="1973077" cy="1432433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이미지 선택 시 게시물 내 메인 이미지 변경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6527955" y="300537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527955" y="36052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6527955" y="42472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6527955" y="490132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5912422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6589258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7169397" y="608057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5" name="직사각형 54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7" name="직사각형 56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42625930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2652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7560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대체텍스트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476836" y="414908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149080"/>
            <a:ext cx="209073" cy="257907"/>
          </a:xfrm>
          <a:prstGeom prst="rect">
            <a:avLst/>
          </a:prstGeom>
        </p:spPr>
      </p:pic>
      <p:sp>
        <p:nvSpPr>
          <p:cNvPr id="5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15362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5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14323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548844" y="4491531"/>
            <a:ext cx="414046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500176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5001765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갤러리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갤러리</a:t>
            </a:r>
            <a:endParaRPr lang="en-US" altLang="ko-KR" sz="700" dirty="0"/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갤러리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6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183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3" name="타원 62"/>
          <p:cNvSpPr/>
          <p:nvPr/>
        </p:nvSpPr>
        <p:spPr>
          <a:xfrm>
            <a:off x="7122393" y="49709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4" name="타원 63"/>
          <p:cNvSpPr/>
          <p:nvPr/>
        </p:nvSpPr>
        <p:spPr>
          <a:xfrm>
            <a:off x="6465168" y="497097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2768655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6381898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8" name="직사각형 57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9" name="직사각형 58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9853470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583637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공지사항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  <p:sp>
        <p:nvSpPr>
          <p:cNvPr id="32" name="TextBox 31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70237"/>
              </p:ext>
            </p:extLst>
          </p:nvPr>
        </p:nvGraphicFramePr>
        <p:xfrm>
          <a:off x="1507354" y="2712065"/>
          <a:ext cx="6244382" cy="27691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0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7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0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11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736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784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255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2024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495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9098987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003686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4060465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graphicFrame>
        <p:nvGraphicFramePr>
          <p:cNvPr id="33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492389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8" name="타원 37"/>
          <p:cNvSpPr/>
          <p:nvPr/>
        </p:nvSpPr>
        <p:spPr>
          <a:xfrm>
            <a:off x="7126337" y="55551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4273958" y="220736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3113945" y="31242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2697642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06118"/>
              </p:ext>
            </p:extLst>
          </p:nvPr>
        </p:nvGraphicFramePr>
        <p:xfrm>
          <a:off x="1521238" y="2288775"/>
          <a:ext cx="6230498" cy="212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746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공지사항입니다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70214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3066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공지사항입니다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공지사항입니다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746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공지사항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2" name="그룹 31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37" name="TextBox 3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직사각형 51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  <p:sp>
        <p:nvSpPr>
          <p:cNvPr id="7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876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997690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18226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52013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5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5948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507354" y="4838988"/>
            <a:ext cx="5537653" cy="4680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입력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045007" y="4838988"/>
            <a:ext cx="710751" cy="4680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1507354" y="5343019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 err="1"/>
              <a:t>전체댓글</a:t>
            </a:r>
            <a:endParaRPr lang="ko-KR" altLang="en-US" sz="1000" b="1" dirty="0"/>
          </a:p>
        </p:txBody>
      </p:sp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893844"/>
              </p:ext>
            </p:extLst>
          </p:nvPr>
        </p:nvGraphicFramePr>
        <p:xfrm>
          <a:off x="1507354" y="5589240"/>
          <a:ext cx="62443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4380">
                  <a:extLst>
                    <a:ext uri="{9D8B030D-6E8A-4147-A177-3AD203B41FA5}">
                      <a16:colId xmlns:a16="http://schemas.microsoft.com/office/drawing/2014/main" xmlns="" val="4237968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08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166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1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89748707"/>
                  </a:ext>
                </a:extLst>
              </a:tr>
            </a:tbl>
          </a:graphicData>
        </a:graphic>
      </p:graphicFrame>
      <p:graphicFrame>
        <p:nvGraphicFramePr>
          <p:cNvPr id="38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58585"/>
              </p:ext>
            </p:extLst>
          </p:nvPr>
        </p:nvGraphicFramePr>
        <p:xfrm>
          <a:off x="7835006" y="1563565"/>
          <a:ext cx="1973077" cy="165785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댓글 등록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휴지통 버튼 클릭 시 댓글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32565984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1446095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5878336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6555172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3" name="타원 52"/>
          <p:cNvSpPr/>
          <p:nvPr/>
        </p:nvSpPr>
        <p:spPr>
          <a:xfrm>
            <a:off x="7135311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2072680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7529508" y="48296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5767835"/>
            <a:ext cx="209073" cy="257907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6218643"/>
            <a:ext cx="209073" cy="257907"/>
          </a:xfrm>
          <a:prstGeom prst="rect">
            <a:avLst/>
          </a:prstGeom>
        </p:spPr>
      </p:pic>
      <p:sp>
        <p:nvSpPr>
          <p:cNvPr id="59" name="타원 58"/>
          <p:cNvSpPr/>
          <p:nvPr/>
        </p:nvSpPr>
        <p:spPr>
          <a:xfrm>
            <a:off x="7612780" y="57407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60" name="타원 59"/>
          <p:cNvSpPr/>
          <p:nvPr/>
        </p:nvSpPr>
        <p:spPr>
          <a:xfrm>
            <a:off x="7612780" y="61790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61" name="직사각형 6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62" name="직사각형 6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870974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600099"/>
              </p:ext>
            </p:extLst>
          </p:nvPr>
        </p:nvGraphicFramePr>
        <p:xfrm>
          <a:off x="1507354" y="2216333"/>
          <a:ext cx="6244382" cy="3046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공지구분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● 공지     ○ 일반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97876500"/>
                  </a:ext>
                </a:extLst>
              </a:tr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공지기간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5246555"/>
                  </a:ext>
                </a:extLst>
              </a:tr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303295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76836" y="491342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913420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91796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341702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342442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93043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5397309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5397309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공지사항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5" name="TextBox 44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  <p:grpSp>
        <p:nvGrpSpPr>
          <p:cNvPr id="51" name="그룹 50"/>
          <p:cNvGrpSpPr/>
          <p:nvPr/>
        </p:nvGrpSpPr>
        <p:grpSpPr>
          <a:xfrm>
            <a:off x="2864556" y="2649471"/>
            <a:ext cx="2261510" cy="257907"/>
            <a:chOff x="3290722" y="5439345"/>
            <a:chExt cx="2261510" cy="257907"/>
          </a:xfrm>
        </p:grpSpPr>
        <p:sp>
          <p:nvSpPr>
            <p:cNvPr id="52" name="직사각형 51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75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183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76" name="타원 75"/>
          <p:cNvSpPr/>
          <p:nvPr/>
        </p:nvSpPr>
        <p:spPr>
          <a:xfrm>
            <a:off x="7122393" y="54030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7" name="타원 76"/>
          <p:cNvSpPr/>
          <p:nvPr/>
        </p:nvSpPr>
        <p:spPr>
          <a:xfrm>
            <a:off x="6465168" y="540301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78" name="타원 77"/>
          <p:cNvSpPr/>
          <p:nvPr/>
        </p:nvSpPr>
        <p:spPr>
          <a:xfrm>
            <a:off x="2768655" y="482283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9" name="타원 78"/>
          <p:cNvSpPr/>
          <p:nvPr/>
        </p:nvSpPr>
        <p:spPr>
          <a:xfrm>
            <a:off x="6381898" y="482283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8" name="직사각형 67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71" name="직사각형 70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41154713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039806"/>
              </p:ext>
            </p:extLst>
          </p:nvPr>
        </p:nvGraphicFramePr>
        <p:xfrm>
          <a:off x="1507354" y="2216333"/>
          <a:ext cx="6244382" cy="2669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공지구분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○ 공지     ● 일반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97876500"/>
                  </a:ext>
                </a:extLst>
              </a:tr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2638063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76836" y="4518527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518527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523068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3022131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3029531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535545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500241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5002416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공지사항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5" name="TextBox 44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  <p:graphicFrame>
        <p:nvGraphicFramePr>
          <p:cNvPr id="5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183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8" name="타원 57"/>
          <p:cNvSpPr/>
          <p:nvPr/>
        </p:nvSpPr>
        <p:spPr>
          <a:xfrm>
            <a:off x="7122393" y="498128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6465168" y="498128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2768655" y="44011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6381898" y="4401108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7174219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583637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자료실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자료실</a:t>
            </a:r>
            <a:endParaRPr lang="en-US" altLang="ko-KR" sz="700" dirty="0"/>
          </a:p>
        </p:txBody>
      </p:sp>
      <p:sp>
        <p:nvSpPr>
          <p:cNvPr id="32" name="TextBox 31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98234"/>
              </p:ext>
            </p:extLst>
          </p:nvPr>
        </p:nvGraphicFramePr>
        <p:xfrm>
          <a:off x="1507354" y="2712065"/>
          <a:ext cx="6244382" cy="27691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0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7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0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11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736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784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255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2024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495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9098987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003686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4060465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자료실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5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851158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7126337" y="55551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4273958" y="220736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0" name="타원 59"/>
          <p:cNvSpPr/>
          <p:nvPr/>
        </p:nvSpPr>
        <p:spPr>
          <a:xfrm>
            <a:off x="3113945" y="31242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직사각형 37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45" name="직사각형 44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2874060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25503"/>
              </p:ext>
            </p:extLst>
          </p:nvPr>
        </p:nvGraphicFramePr>
        <p:xfrm>
          <a:off x="1521238" y="2288776"/>
          <a:ext cx="6230498" cy="208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922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92264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2052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922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grpSp>
        <p:nvGrpSpPr>
          <p:cNvPr id="32" name="그룹 31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37" name="TextBox 3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자료실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직사각형 51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자료실</a:t>
            </a:r>
            <a:endParaRPr lang="en-US" altLang="ko-KR" sz="700" dirty="0"/>
          </a:p>
        </p:txBody>
      </p:sp>
      <p:sp>
        <p:nvSpPr>
          <p:cNvPr id="53" name="직사각형 52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자료실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876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997690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18226" y="4481853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520132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5948" y="448185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507354" y="4838988"/>
            <a:ext cx="5537653" cy="4680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입력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045007" y="4838988"/>
            <a:ext cx="710751" cy="4680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1507354" y="5343019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 err="1"/>
              <a:t>전체댓글</a:t>
            </a:r>
            <a:endParaRPr lang="ko-KR" altLang="en-US" sz="1000" b="1" dirty="0"/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893844"/>
              </p:ext>
            </p:extLst>
          </p:nvPr>
        </p:nvGraphicFramePr>
        <p:xfrm>
          <a:off x="1507354" y="5589240"/>
          <a:ext cx="62443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4380">
                  <a:extLst>
                    <a:ext uri="{9D8B030D-6E8A-4147-A177-3AD203B41FA5}">
                      <a16:colId xmlns:a16="http://schemas.microsoft.com/office/drawing/2014/main" xmlns="" val="4237968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083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166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1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89748707"/>
                  </a:ext>
                </a:extLst>
              </a:tr>
            </a:tbl>
          </a:graphicData>
        </a:graphic>
      </p:graphicFrame>
      <p:graphicFrame>
        <p:nvGraphicFramePr>
          <p:cNvPr id="38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84"/>
              </p:ext>
            </p:extLst>
          </p:nvPr>
        </p:nvGraphicFramePr>
        <p:xfrm>
          <a:off x="7835006" y="1563565"/>
          <a:ext cx="1973077" cy="165785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댓글 등록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휴지통 버튼 클릭 시 댓글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32565984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1446095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5878336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6555172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4" name="타원 53"/>
          <p:cNvSpPr/>
          <p:nvPr/>
        </p:nvSpPr>
        <p:spPr>
          <a:xfrm>
            <a:off x="7135311" y="4468197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5" name="타원 54"/>
          <p:cNvSpPr/>
          <p:nvPr/>
        </p:nvSpPr>
        <p:spPr>
          <a:xfrm>
            <a:off x="2072680" y="44156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7" name="타원 56"/>
          <p:cNvSpPr/>
          <p:nvPr/>
        </p:nvSpPr>
        <p:spPr>
          <a:xfrm>
            <a:off x="7529508" y="482961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5767835"/>
            <a:ext cx="209073" cy="257907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5905" y="6218643"/>
            <a:ext cx="209073" cy="257907"/>
          </a:xfrm>
          <a:prstGeom prst="rect">
            <a:avLst/>
          </a:prstGeom>
        </p:spPr>
      </p:pic>
      <p:sp>
        <p:nvSpPr>
          <p:cNvPr id="69" name="타원 68"/>
          <p:cNvSpPr/>
          <p:nvPr/>
        </p:nvSpPr>
        <p:spPr>
          <a:xfrm>
            <a:off x="7612780" y="574074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7612780" y="6179026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71" name="직사각형 7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72" name="직사각형 7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42608854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229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76836" y="414908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149080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15362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16609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4632969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4632969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</a:t>
            </a:r>
            <a:r>
              <a:rPr lang="ko-KR" altLang="en-US" sz="800" b="1" dirty="0">
                <a:solidFill>
                  <a:srgbClr val="FF0000"/>
                </a:solidFill>
              </a:rPr>
              <a:t> </a:t>
            </a:r>
            <a:r>
              <a:rPr lang="ko-KR" altLang="en-US" sz="600" b="1" dirty="0">
                <a:solidFill>
                  <a:srgbClr val="FF0000"/>
                </a:solidFill>
              </a:rPr>
              <a:t>자료실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8" name="그룹 37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5" name="TextBox 44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자료실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자료실</a:t>
            </a:r>
            <a:endParaRPr lang="en-US" altLang="ko-KR" sz="700" dirty="0"/>
          </a:p>
        </p:txBody>
      </p:sp>
      <p:graphicFrame>
        <p:nvGraphicFramePr>
          <p:cNvPr id="5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183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8" name="타원 57"/>
          <p:cNvSpPr/>
          <p:nvPr/>
        </p:nvSpPr>
        <p:spPr>
          <a:xfrm>
            <a:off x="7122393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6465168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2768655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6381898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4145208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583637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4" name="직사각형 2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800" b="1" dirty="0"/>
              <a:t>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Q&amp;A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510128"/>
              </p:ext>
            </p:extLst>
          </p:nvPr>
        </p:nvGraphicFramePr>
        <p:xfrm>
          <a:off x="1507354" y="2712065"/>
          <a:ext cx="6244382" cy="27691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0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7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0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11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736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784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255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2024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495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9098987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003686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4060465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graphicFrame>
        <p:nvGraphicFramePr>
          <p:cNvPr id="33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70045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8" name="타원 37"/>
          <p:cNvSpPr/>
          <p:nvPr/>
        </p:nvSpPr>
        <p:spPr>
          <a:xfrm>
            <a:off x="7126337" y="55551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4273958" y="220736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3113945" y="31242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1" name="직사각형 50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2" name="직사각형 51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4777998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3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346302"/>
              </p:ext>
            </p:extLst>
          </p:nvPr>
        </p:nvGraphicFramePr>
        <p:xfrm>
          <a:off x="1521238" y="2288776"/>
          <a:ext cx="6230498" cy="1798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89076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10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800" b="1" dirty="0"/>
              <a:t>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0" name="그룹 29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Q&amp;A</a:t>
              </a: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Q&amp;A</a:t>
            </a: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440782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199710" y="426327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820246" y="426327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520132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5948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061318" y="4263277"/>
            <a:ext cx="70392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답변하기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5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87794"/>
              </p:ext>
            </p:extLst>
          </p:nvPr>
        </p:nvGraphicFramePr>
        <p:xfrm>
          <a:off x="7835006" y="1563565"/>
          <a:ext cx="1973077" cy="173418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답변하기 버튼 클릭 시 답변 등록양식 표시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32565984"/>
                  </a:ext>
                </a:extLst>
              </a:tr>
            </a:tbl>
          </a:graphicData>
        </a:graphic>
      </p:graphicFrame>
      <p:sp>
        <p:nvSpPr>
          <p:cNvPr id="66" name="타원 65"/>
          <p:cNvSpPr/>
          <p:nvPr/>
        </p:nvSpPr>
        <p:spPr>
          <a:xfrm>
            <a:off x="1446095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7" name="타원 66"/>
          <p:cNvSpPr/>
          <p:nvPr/>
        </p:nvSpPr>
        <p:spPr>
          <a:xfrm>
            <a:off x="5168160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5844996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9" name="타원 68"/>
          <p:cNvSpPr/>
          <p:nvPr/>
        </p:nvSpPr>
        <p:spPr>
          <a:xfrm>
            <a:off x="6425135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70" name="타원 69"/>
          <p:cNvSpPr/>
          <p:nvPr/>
        </p:nvSpPr>
        <p:spPr>
          <a:xfrm>
            <a:off x="2072680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6" name="타원 75"/>
          <p:cNvSpPr/>
          <p:nvPr/>
        </p:nvSpPr>
        <p:spPr>
          <a:xfrm>
            <a:off x="6999222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37" name="직사각형 36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38" name="직사각형 37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580653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1521238" y="2288776"/>
          <a:ext cx="6230498" cy="1798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89076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10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800" b="1" dirty="0"/>
              <a:t>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0" name="그룹 29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Q&amp;A</a:t>
              </a: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Q&amp;A</a:t>
            </a: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406243" y="6228073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048420" y="6228073"/>
            <a:ext cx="70392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답변등록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921326"/>
              </p:ext>
            </p:extLst>
          </p:nvPr>
        </p:nvGraphicFramePr>
        <p:xfrm>
          <a:off x="1507354" y="4254496"/>
          <a:ext cx="6244382" cy="1861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0888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2864556" y="4306779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476836" y="5780844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5780844"/>
            <a:ext cx="209073" cy="257907"/>
          </a:xfrm>
          <a:prstGeom prst="rect">
            <a:avLst/>
          </a:prstGeom>
        </p:spPr>
      </p:pic>
      <p:sp>
        <p:nvSpPr>
          <p:cNvPr id="45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864556" y="5785385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864556" y="4690847"/>
            <a:ext cx="4824748" cy="92149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50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4698248"/>
            <a:ext cx="4812348" cy="34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465168" y="5797862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162297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답변등록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3" name="타원 62"/>
          <p:cNvSpPr/>
          <p:nvPr/>
        </p:nvSpPr>
        <p:spPr>
          <a:xfrm>
            <a:off x="7122393" y="626711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65" name="타원 64"/>
          <p:cNvSpPr/>
          <p:nvPr/>
        </p:nvSpPr>
        <p:spPr>
          <a:xfrm>
            <a:off x="6465168" y="626711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6" name="타원 65"/>
          <p:cNvSpPr/>
          <p:nvPr/>
        </p:nvSpPr>
        <p:spPr>
          <a:xfrm>
            <a:off x="2768655" y="568693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7" name="타원 66"/>
          <p:cNvSpPr/>
          <p:nvPr/>
        </p:nvSpPr>
        <p:spPr>
          <a:xfrm>
            <a:off x="6381898" y="568693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2" name="직사각형 51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7" name="직사각형 56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7608735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12620"/>
              </p:ext>
            </p:extLst>
          </p:nvPr>
        </p:nvGraphicFramePr>
        <p:xfrm>
          <a:off x="7835006" y="1563565"/>
          <a:ext cx="1973077" cy="1810512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답변삭제 버튼 클릭 시 등록된 답변 삭제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답변수정 버튼 클릭 시 답변 수정양식 표시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703701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2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/>
          </p:nvPr>
        </p:nvGraphicFramePr>
        <p:xfrm>
          <a:off x="1521238" y="2288776"/>
          <a:ext cx="6230498" cy="1798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89076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1053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채용정보입니다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2323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800" b="1" dirty="0"/>
              <a:t>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30" name="그룹 29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Q&amp;A</a:t>
              </a: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Q&amp;A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1507354" y="4617132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/>
              <a:t>답변</a:t>
            </a:r>
          </a:p>
        </p:txBody>
      </p:sp>
      <p:sp>
        <p:nvSpPr>
          <p:cNvPr id="5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7202184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961112" y="426327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581648" y="4263277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520132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2135948" y="4263277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692877"/>
              </p:ext>
            </p:extLst>
          </p:nvPr>
        </p:nvGraphicFramePr>
        <p:xfrm>
          <a:off x="1521238" y="4858942"/>
          <a:ext cx="6230498" cy="137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145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답변입니다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4314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6921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답변입니다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1455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hwp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sp>
        <p:nvSpPr>
          <p:cNvPr id="66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5961112" y="6311882"/>
            <a:ext cx="81962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답변삭제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6941688" y="6311882"/>
            <a:ext cx="819624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답변수정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1446095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5" name="타원 44"/>
          <p:cNvSpPr/>
          <p:nvPr/>
        </p:nvSpPr>
        <p:spPr>
          <a:xfrm>
            <a:off x="5844996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425135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2072680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6999222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5844996" y="621983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63" name="타원 62"/>
          <p:cNvSpPr/>
          <p:nvPr/>
        </p:nvSpPr>
        <p:spPr>
          <a:xfrm>
            <a:off x="6857603" y="6219835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  <p:sp>
        <p:nvSpPr>
          <p:cNvPr id="64" name="직사각형 63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68" name="직사각형 67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5031833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1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2292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2843113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76836" y="4149080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4149080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4556" y="4153621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465168" y="4166098"/>
            <a:ext cx="1236566" cy="260358"/>
          </a:xfrm>
          <a:prstGeom prst="rect">
            <a:avLst/>
          </a:prstGeom>
          <a:solidFill>
            <a:schemeClr val="accent3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9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237450" y="4632969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32044" y="4632969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</a:t>
            </a:r>
            <a:r>
              <a:rPr lang="ko-KR" altLang="en-US" sz="800" b="1" dirty="0"/>
              <a:t>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pSp>
        <p:nvGrpSpPr>
          <p:cNvPr id="52" name="그룹 51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3" name="TextBox 52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Q&amp;A</a:t>
              </a:r>
            </a:p>
          </p:txBody>
        </p:sp>
        <p:cxnSp>
          <p:nvCxnSpPr>
            <p:cNvPr id="54" name="직선 연결선 53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Q&amp;A</a:t>
            </a:r>
          </a:p>
        </p:txBody>
      </p:sp>
      <p:graphicFrame>
        <p:nvGraphicFramePr>
          <p:cNvPr id="57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1835"/>
              </p:ext>
            </p:extLst>
          </p:nvPr>
        </p:nvGraphicFramePr>
        <p:xfrm>
          <a:off x="7835006" y="1563565"/>
          <a:ext cx="1973077" cy="1356106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파일선택 버튼 클릭 시 첨부파일 선택 팝업 생성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등록 양식을 추가하며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개까지 등록가능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8" name="타원 57"/>
          <p:cNvSpPr/>
          <p:nvPr/>
        </p:nvSpPr>
        <p:spPr>
          <a:xfrm>
            <a:off x="7122393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9" name="타원 58"/>
          <p:cNvSpPr/>
          <p:nvPr/>
        </p:nvSpPr>
        <p:spPr>
          <a:xfrm>
            <a:off x="6465168" y="461713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8" name="타원 67"/>
          <p:cNvSpPr/>
          <p:nvPr/>
        </p:nvSpPr>
        <p:spPr>
          <a:xfrm>
            <a:off x="2768655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1" name="타원 70"/>
          <p:cNvSpPr/>
          <p:nvPr/>
        </p:nvSpPr>
        <p:spPr>
          <a:xfrm>
            <a:off x="6381898" y="403695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8" name="직사각형 37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45" name="직사각형 44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9786041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3482129" y="5583637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7" name="TextBox 2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FAQ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FAQ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7354" y="2216333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538340" y="2298950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58" name="직사각형 57"/>
          <p:cNvSpPr/>
          <p:nvPr/>
        </p:nvSpPr>
        <p:spPr>
          <a:xfrm>
            <a:off x="3066937" y="2298950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425860" y="2298950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8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237450" y="567154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744600"/>
              </p:ext>
            </p:extLst>
          </p:nvPr>
        </p:nvGraphicFramePr>
        <p:xfrm>
          <a:off x="1507354" y="2712065"/>
          <a:ext cx="6244382" cy="27691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0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7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0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11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736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784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255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FAQ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FAQ</a:t>
                      </a: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입니다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. 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52024000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0495003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09098987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8003686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74060465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436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입니다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2017.03.06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9" name="직사각형 98"/>
          <p:cNvSpPr/>
          <p:nvPr/>
        </p:nvSpPr>
        <p:spPr>
          <a:xfrm>
            <a:off x="2178766" y="2298949"/>
            <a:ext cx="843165" cy="8262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검색조건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작성자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제목</a:t>
            </a:r>
            <a:r>
              <a:rPr lang="en-US" altLang="ko-KR" sz="900" dirty="0">
                <a:solidFill>
                  <a:schemeClr val="tx1"/>
                </a:solidFill>
              </a:rPr>
              <a:t>+</a:t>
            </a:r>
            <a:r>
              <a:rPr lang="ko-KR" altLang="en-US" sz="900" dirty="0">
                <a:solidFill>
                  <a:schemeClr val="tx1"/>
                </a:solidFill>
              </a:rPr>
              <a:t>내용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38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666448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검색버튼 클릭 시 검색조건에 맞는 목록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시 상세화면으로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등록버튼 클릭 시 등록화면으로 이동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7126337" y="55551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0" name="타원 49"/>
          <p:cNvSpPr/>
          <p:nvPr/>
        </p:nvSpPr>
        <p:spPr>
          <a:xfrm>
            <a:off x="4273958" y="2207362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3113945" y="3124224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2" name="직사각형 51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3" name="직사각형 52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840750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2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84481"/>
              </p:ext>
            </p:extLst>
          </p:nvPr>
        </p:nvGraphicFramePr>
        <p:xfrm>
          <a:off x="1521238" y="2288776"/>
          <a:ext cx="6230498" cy="1789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498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9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FAQ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92264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관리자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 2017.03.06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12052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FAQ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답변입니다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</a:tbl>
          </a:graphicData>
        </a:graphic>
      </p:graphicFrame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8762" y="4257092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997690" y="4257092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18226" y="4257092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520132" y="4257092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이전글</a:t>
            </a:r>
            <a:r>
              <a:rPr lang="en-US" altLang="ko-KR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 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4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35948" y="4257092"/>
            <a:ext cx="514286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n-ea"/>
                <a:cs typeface="Calibri" pitchFamily="34" charset="0"/>
              </a:rPr>
              <a:t>다음글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45" name="TextBox 44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FAQ</a:t>
              </a: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FAQ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30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372"/>
              </p:ext>
            </p:extLst>
          </p:nvPr>
        </p:nvGraphicFramePr>
        <p:xfrm>
          <a:off x="7835006" y="1563565"/>
          <a:ext cx="1973077" cy="165785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다음글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버튼 클릭 시 상세 게시물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삭제버튼 클릭 시 게시물 삭제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수정버튼 클릭 시 수정화면으로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목록버튼 클릭 시 게시판정보관리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4703701"/>
                  </a:ext>
                </a:extLst>
              </a:tr>
            </a:tbl>
          </a:graphicData>
        </a:graphic>
      </p:graphicFrame>
      <p:sp>
        <p:nvSpPr>
          <p:cNvPr id="31" name="타원 30"/>
          <p:cNvSpPr/>
          <p:nvPr/>
        </p:nvSpPr>
        <p:spPr>
          <a:xfrm>
            <a:off x="1446095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2" name="타원 31"/>
          <p:cNvSpPr/>
          <p:nvPr/>
        </p:nvSpPr>
        <p:spPr>
          <a:xfrm>
            <a:off x="5844996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7" name="타원 36"/>
          <p:cNvSpPr/>
          <p:nvPr/>
        </p:nvSpPr>
        <p:spPr>
          <a:xfrm>
            <a:off x="6425135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1" name="타원 50"/>
          <p:cNvSpPr/>
          <p:nvPr/>
        </p:nvSpPr>
        <p:spPr>
          <a:xfrm>
            <a:off x="2072680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2" name="타원 51"/>
          <p:cNvSpPr/>
          <p:nvPr/>
        </p:nvSpPr>
        <p:spPr>
          <a:xfrm>
            <a:off x="6999222" y="415542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3" name="직사각형 52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5" name="직사각형 54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32031222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6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25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22059"/>
              </p:ext>
            </p:extLst>
          </p:nvPr>
        </p:nvGraphicFramePr>
        <p:xfrm>
          <a:off x="1507354" y="2216333"/>
          <a:ext cx="6244382" cy="1896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자주묻는질문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(Q)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519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답변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(A)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</a:tbl>
          </a:graphicData>
        </a:graphic>
      </p:graphicFrame>
      <p:sp>
        <p:nvSpPr>
          <p:cNvPr id="61" name="직사각형 60"/>
          <p:cNvSpPr/>
          <p:nvPr/>
        </p:nvSpPr>
        <p:spPr>
          <a:xfrm>
            <a:off x="2864556" y="2268616"/>
            <a:ext cx="4298641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864556" y="2652684"/>
            <a:ext cx="4824748" cy="141187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66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56" y="2660084"/>
            <a:ext cx="4812348" cy="52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4221088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632044" y="4221088"/>
            <a:ext cx="510954" cy="260358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tx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52" name="TextBox 51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en-US" altLang="ko-KR" sz="1200" b="1" dirty="0">
                  <a:latin typeface="+mn-ea"/>
                </a:rPr>
                <a:t>FAQ</a:t>
              </a:r>
            </a:p>
          </p:txBody>
        </p:sp>
        <p:cxnSp>
          <p:nvCxnSpPr>
            <p:cNvPr id="53" name="직선 연결선 52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직사각형 53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게시판관리 </a:t>
            </a:r>
            <a:r>
              <a:rPr lang="en-US" altLang="ko-KR" sz="700" dirty="0"/>
              <a:t>&gt; FAQ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67115" y="1707439"/>
            <a:ext cx="121592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워크샵</a:t>
            </a:r>
            <a:endParaRPr lang="en-US" altLang="ko-KR" sz="600" b="1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채용정보</a:t>
            </a:r>
            <a:endParaRPr lang="en-US" altLang="ko-KR" sz="8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갤러리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공지사항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자료실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en-US" altLang="ko-KR" sz="600" b="1" dirty="0"/>
              <a:t>Q&amp;A</a:t>
            </a: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en-US" altLang="ko-KR" sz="600" b="1" dirty="0">
                <a:solidFill>
                  <a:srgbClr val="FF0000"/>
                </a:solidFill>
              </a:rPr>
              <a:t>FAQ</a:t>
            </a: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38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123314"/>
              </p:ext>
            </p:extLst>
          </p:nvPr>
        </p:nvGraphicFramePr>
        <p:xfrm>
          <a:off x="7835006" y="1563565"/>
          <a:ext cx="1973077" cy="1279779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목록버튼 클릭 시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등록버튼 클릭 시 등록 후 목록으로 이동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5" name="타원 44"/>
          <p:cNvSpPr/>
          <p:nvPr/>
        </p:nvSpPr>
        <p:spPr>
          <a:xfrm>
            <a:off x="7122393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49" name="타원 48"/>
          <p:cNvSpPr/>
          <p:nvPr/>
        </p:nvSpPr>
        <p:spPr>
          <a:xfrm>
            <a:off x="6465168" y="4149080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2" name="직사각형 31"/>
          <p:cNvSpPr/>
          <p:nvPr/>
        </p:nvSpPr>
        <p:spPr>
          <a:xfrm>
            <a:off x="164666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33" name="직사각형 32"/>
          <p:cNvSpPr/>
          <p:nvPr/>
        </p:nvSpPr>
        <p:spPr>
          <a:xfrm>
            <a:off x="1394366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게시판관리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612741" y="1454999"/>
            <a:ext cx="131741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통계관리</a:t>
            </a:r>
          </a:p>
        </p:txBody>
      </p:sp>
    </p:spTree>
    <p:extLst>
      <p:ext uri="{BB962C8B-B14F-4D97-AF65-F5344CB8AC3E}">
        <p14:creationId xmlns:p14="http://schemas.microsoft.com/office/powerpoint/2010/main" val="11872925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23797"/>
              </p:ext>
            </p:extLst>
          </p:nvPr>
        </p:nvGraphicFramePr>
        <p:xfrm>
          <a:off x="7835006" y="1563565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통계보기 버튼 클릭 시 하위에 그래프 표시 및 사이트 기간별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페이지뷰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방문자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10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2758149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6254312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674232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2594533" y="2750931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8" name="차트 7"/>
          <p:cNvGraphicFramePr/>
          <p:nvPr>
            <p:extLst>
              <p:ext uri="{D42A27DB-BD31-4B8C-83A1-F6EECF244321}">
                <p14:modId xmlns:p14="http://schemas.microsoft.com/office/powerpoint/2010/main" val="187533881"/>
              </p:ext>
            </p:extLst>
          </p:nvPr>
        </p:nvGraphicFramePr>
        <p:xfrm>
          <a:off x="1504863" y="3106816"/>
          <a:ext cx="6285425" cy="2086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3" name="직사각형 52"/>
          <p:cNvSpPr/>
          <p:nvPr/>
        </p:nvSpPr>
        <p:spPr>
          <a:xfrm>
            <a:off x="1615628" y="2753027"/>
            <a:ext cx="843165" cy="39955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일간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월간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71307"/>
              </p:ext>
            </p:extLst>
          </p:nvPr>
        </p:nvGraphicFramePr>
        <p:xfrm>
          <a:off x="1504862" y="5524942"/>
          <a:ext cx="6246874" cy="21477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071874">
                  <a:extLst>
                    <a:ext uri="{9D8B030D-6E8A-4147-A177-3AD203B41FA5}">
                      <a16:colId xmlns:a16="http://schemas.microsoft.com/office/drawing/2014/main" xmlns="" val="2038230611"/>
                    </a:ext>
                  </a:extLst>
                </a:gridCol>
                <a:gridCol w="2587500">
                  <a:extLst>
                    <a:ext uri="{9D8B030D-6E8A-4147-A177-3AD203B41FA5}">
                      <a16:colId xmlns:a16="http://schemas.microsoft.com/office/drawing/2014/main" xmlns="" val="3234367694"/>
                    </a:ext>
                  </a:extLst>
                </a:gridCol>
                <a:gridCol w="2587500">
                  <a:extLst>
                    <a:ext uri="{9D8B030D-6E8A-4147-A177-3AD203B41FA5}">
                      <a16:colId xmlns:a16="http://schemas.microsoft.com/office/drawing/2014/main" xmlns="" val="1225043814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방문자수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507826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048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65935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906766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16387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2191249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2321164"/>
                  </a:ext>
                </a:extLst>
              </a:tr>
              <a:tr h="2204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21997757"/>
                  </a:ext>
                </a:extLst>
              </a:tr>
              <a:tr h="2204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78811717"/>
                  </a:ext>
                </a:extLst>
              </a:tr>
            </a:tbl>
          </a:graphicData>
        </a:graphic>
      </p:graphicFrame>
      <p:sp>
        <p:nvSpPr>
          <p:cNvPr id="4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60" name="그룹 59"/>
          <p:cNvGrpSpPr/>
          <p:nvPr/>
        </p:nvGrpSpPr>
        <p:grpSpPr>
          <a:xfrm>
            <a:off x="1511316" y="2280545"/>
            <a:ext cx="5459475" cy="243815"/>
            <a:chOff x="5781092" y="876582"/>
            <a:chExt cx="5459475" cy="243815"/>
          </a:xfrm>
        </p:grpSpPr>
        <p:sp>
          <p:nvSpPr>
            <p:cNvPr id="61" name="사각형: 위쪽 모서리의 한쪽은 둥글고 다른 한쪽은 잘림 60"/>
            <p:cNvSpPr/>
            <p:nvPr/>
          </p:nvSpPr>
          <p:spPr>
            <a:xfrm>
              <a:off x="5781092" y="876582"/>
              <a:ext cx="1281444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</a:rPr>
                <a:t>사이트 기간별 통계</a:t>
              </a:r>
            </a:p>
          </p:txBody>
        </p:sp>
        <p:sp>
          <p:nvSpPr>
            <p:cNvPr id="62" name="사각형: 위쪽 모서리의 한쪽은 둥글고 다른 한쪽은 잘림 61"/>
            <p:cNvSpPr/>
            <p:nvPr/>
          </p:nvSpPr>
          <p:spPr>
            <a:xfrm>
              <a:off x="706336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메뉴별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사각형: 위쪽 모서리의 한쪽은 둥글고 다른 한쪽은 잘림 62"/>
            <p:cNvSpPr/>
            <p:nvPr/>
          </p:nvSpPr>
          <p:spPr>
            <a:xfrm>
              <a:off x="8112217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운영체제별</a:t>
              </a:r>
            </a:p>
          </p:txBody>
        </p:sp>
        <p:sp>
          <p:nvSpPr>
            <p:cNvPr id="64" name="사각형: 위쪽 모서리의 한쪽은 둥글고 다른 한쪽은 잘림 63"/>
            <p:cNvSpPr/>
            <p:nvPr/>
          </p:nvSpPr>
          <p:spPr>
            <a:xfrm>
              <a:off x="9156333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브라우져별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65" name="사각형: 위쪽 모서리의 한쪽은 둥글고 다른 한쪽은 잘림 64"/>
            <p:cNvSpPr/>
            <p:nvPr/>
          </p:nvSpPr>
          <p:spPr>
            <a:xfrm>
              <a:off x="1019645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PC/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모바일</a:t>
              </a:r>
            </a:p>
          </p:txBody>
        </p:sp>
      </p:grpSp>
      <p:sp>
        <p:nvSpPr>
          <p:cNvPr id="66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756849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700242" y="5193196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인쇄하기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49" name="타원 48"/>
          <p:cNvSpPr/>
          <p:nvPr/>
        </p:nvSpPr>
        <p:spPr>
          <a:xfrm>
            <a:off x="6674990" y="267596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838368" y="2922150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통계는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0277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05888"/>
              </p:ext>
            </p:extLst>
          </p:nvPr>
        </p:nvGraphicFramePr>
        <p:xfrm>
          <a:off x="7835006" y="1581795"/>
          <a:ext cx="1973077" cy="1581531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 첫번째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셀렉트박스에서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1depth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메뉴선택 시 두번째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셀렉트박스에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2depth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하위메뉴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통계보기 버튼 클릭 시 하위에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top20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그래프 표시 및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페이지뷰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674232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2000673" y="2750931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9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6764580" y="2756849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3733533058"/>
              </p:ext>
            </p:extLst>
          </p:nvPr>
        </p:nvGraphicFramePr>
        <p:xfrm>
          <a:off x="1520132" y="3178763"/>
          <a:ext cx="6231604" cy="317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1" name="직사각형 60"/>
          <p:cNvSpPr/>
          <p:nvPr/>
        </p:nvSpPr>
        <p:spPr>
          <a:xfrm>
            <a:off x="1420825" y="6417332"/>
            <a:ext cx="6330911" cy="2880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다음페이지에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계속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1511316" y="2280545"/>
            <a:ext cx="5459475" cy="243815"/>
            <a:chOff x="5781092" y="876582"/>
            <a:chExt cx="5459475" cy="243815"/>
          </a:xfrm>
        </p:grpSpPr>
        <p:sp>
          <p:nvSpPr>
            <p:cNvPr id="63" name="사각형: 위쪽 모서리의 한쪽은 둥글고 다른 한쪽은 잘림 62"/>
            <p:cNvSpPr/>
            <p:nvPr/>
          </p:nvSpPr>
          <p:spPr>
            <a:xfrm>
              <a:off x="5781092" y="876582"/>
              <a:ext cx="1281444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사이트 </a:t>
              </a:r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날짜별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통계</a:t>
              </a:r>
            </a:p>
          </p:txBody>
        </p:sp>
        <p:sp>
          <p:nvSpPr>
            <p:cNvPr id="64" name="사각형: 위쪽 모서리의 한쪽은 둥글고 다른 한쪽은 잘림 63"/>
            <p:cNvSpPr/>
            <p:nvPr/>
          </p:nvSpPr>
          <p:spPr>
            <a:xfrm>
              <a:off x="706336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>
                  <a:solidFill>
                    <a:schemeClr val="bg1"/>
                  </a:solidFill>
                </a:rPr>
                <a:t>메뉴별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5" name="사각형: 위쪽 모서리의 한쪽은 둥글고 다른 한쪽은 잘림 64"/>
            <p:cNvSpPr/>
            <p:nvPr/>
          </p:nvSpPr>
          <p:spPr>
            <a:xfrm>
              <a:off x="8112217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운영체제별</a:t>
              </a:r>
            </a:p>
          </p:txBody>
        </p:sp>
        <p:sp>
          <p:nvSpPr>
            <p:cNvPr id="66" name="사각형: 위쪽 모서리의 한쪽은 둥글고 다른 한쪽은 잘림 65"/>
            <p:cNvSpPr/>
            <p:nvPr/>
          </p:nvSpPr>
          <p:spPr>
            <a:xfrm>
              <a:off x="9156333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브라우져별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67" name="사각형: 위쪽 모서리의 한쪽은 둥글고 다른 한쪽은 잘림 66"/>
            <p:cNvSpPr/>
            <p:nvPr/>
          </p:nvSpPr>
          <p:spPr>
            <a:xfrm>
              <a:off x="1019645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PC/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모바일</a:t>
              </a:r>
            </a:p>
          </p:txBody>
        </p:sp>
      </p:grpSp>
      <p:sp>
        <p:nvSpPr>
          <p:cNvPr id="68" name="직사각형 67"/>
          <p:cNvSpPr/>
          <p:nvPr/>
        </p:nvSpPr>
        <p:spPr>
          <a:xfrm>
            <a:off x="1538340" y="277691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기간</a:t>
            </a:r>
            <a:endParaRPr lang="ko-KR" altLang="en-US" sz="900" dirty="0"/>
          </a:p>
        </p:txBody>
      </p:sp>
      <p:sp>
        <p:nvSpPr>
          <p:cNvPr id="69" name="직사각형 68"/>
          <p:cNvSpPr/>
          <p:nvPr/>
        </p:nvSpPr>
        <p:spPr>
          <a:xfrm>
            <a:off x="4458947" y="277691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</a:t>
            </a:r>
            <a:endParaRPr lang="ko-KR" altLang="en-US" sz="900" dirty="0"/>
          </a:p>
        </p:txBody>
      </p:sp>
      <p:sp>
        <p:nvSpPr>
          <p:cNvPr id="70" name="직사각형 69"/>
          <p:cNvSpPr/>
          <p:nvPr/>
        </p:nvSpPr>
        <p:spPr>
          <a:xfrm>
            <a:off x="4941158" y="2750931"/>
            <a:ext cx="843165" cy="10381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회사소개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서비스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CAREER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PR</a:t>
            </a:r>
            <a:r>
              <a:rPr lang="ko-KR" altLang="en-US" sz="900" dirty="0">
                <a:solidFill>
                  <a:schemeClr val="tx1"/>
                </a:solidFill>
              </a:rPr>
              <a:t>센터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고객센터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852869" y="2750932"/>
            <a:ext cx="843165" cy="4664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회사소개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워크샵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6645188" y="263948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74" name="타원 73"/>
          <p:cNvSpPr/>
          <p:nvPr/>
        </p:nvSpPr>
        <p:spPr>
          <a:xfrm>
            <a:off x="4861717" y="2639489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5" name="직사각형 74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7838368" y="3176972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 및 </a:t>
            </a:r>
            <a:r>
              <a:rPr lang="en-US" altLang="ko-KR" sz="1000" dirty="0">
                <a:solidFill>
                  <a:srgbClr val="FF0000"/>
                </a:solidFill>
              </a:rPr>
              <a:t>top20</a:t>
            </a:r>
            <a:r>
              <a:rPr lang="ko-KR" altLang="en-US" sz="1000" dirty="0">
                <a:solidFill>
                  <a:srgbClr val="FF0000"/>
                </a:solidFill>
              </a:rPr>
              <a:t>은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772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45155"/>
              </p:ext>
            </p:extLst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501704"/>
              </p:ext>
            </p:extLst>
          </p:nvPr>
        </p:nvGraphicFramePr>
        <p:xfrm>
          <a:off x="1520130" y="2611287"/>
          <a:ext cx="6231606" cy="2169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803">
                  <a:extLst>
                    <a:ext uri="{9D8B030D-6E8A-4147-A177-3AD203B41FA5}">
                      <a16:colId xmlns:a16="http://schemas.microsoft.com/office/drawing/2014/main" xmlns="" val="1580134137"/>
                    </a:ext>
                  </a:extLst>
                </a:gridCol>
                <a:gridCol w="3115803">
                  <a:extLst>
                    <a:ext uri="{9D8B030D-6E8A-4147-A177-3AD203B41FA5}">
                      <a16:colId xmlns:a16="http://schemas.microsoft.com/office/drawing/2014/main" xmlns="" val="3064669926"/>
                    </a:ext>
                  </a:extLst>
                </a:gridCol>
              </a:tblGrid>
              <a:tr h="213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페이지뷰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962368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6095336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721179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183749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서비스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UCMS 2.0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2370315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CAREER &gt; CAREER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4306626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CAREER 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채용정보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886756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14454629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센터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갤러리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339917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센터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설문조사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91272058"/>
                  </a:ext>
                </a:extLst>
              </a:tr>
            </a:tbl>
          </a:graphicData>
        </a:graphic>
      </p:graphicFrame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00242" y="2241535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67594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37295"/>
              </p:ext>
            </p:extLst>
          </p:nvPr>
        </p:nvGraphicFramePr>
        <p:xfrm>
          <a:off x="7835006" y="1563565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통계보기 버튼 클릭 시 하위에 그래프 표시 및 운영체제별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페이지뷰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방문자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674232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614232" y="2750931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1268671655"/>
              </p:ext>
            </p:extLst>
          </p:nvPr>
        </p:nvGraphicFramePr>
        <p:xfrm>
          <a:off x="1520132" y="3178763"/>
          <a:ext cx="6231604" cy="284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4" name="그룹 53"/>
          <p:cNvGrpSpPr/>
          <p:nvPr/>
        </p:nvGrpSpPr>
        <p:grpSpPr>
          <a:xfrm>
            <a:off x="1511316" y="2280545"/>
            <a:ext cx="5459475" cy="243815"/>
            <a:chOff x="5781092" y="876582"/>
            <a:chExt cx="5459475" cy="243815"/>
          </a:xfrm>
        </p:grpSpPr>
        <p:sp>
          <p:nvSpPr>
            <p:cNvPr id="58" name="사각형: 위쪽 모서리의 한쪽은 둥글고 다른 한쪽은 잘림 57"/>
            <p:cNvSpPr/>
            <p:nvPr/>
          </p:nvSpPr>
          <p:spPr>
            <a:xfrm>
              <a:off x="5781092" y="876582"/>
              <a:ext cx="1281444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사이트 </a:t>
              </a:r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날짜별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통계</a:t>
              </a:r>
            </a:p>
          </p:txBody>
        </p:sp>
        <p:sp>
          <p:nvSpPr>
            <p:cNvPr id="59" name="사각형: 위쪽 모서리의 한쪽은 둥글고 다른 한쪽은 잘림 58"/>
            <p:cNvSpPr/>
            <p:nvPr/>
          </p:nvSpPr>
          <p:spPr>
            <a:xfrm>
              <a:off x="706336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메뉴별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사각형: 위쪽 모서리의 한쪽은 둥글고 다른 한쪽은 잘림 59"/>
            <p:cNvSpPr/>
            <p:nvPr/>
          </p:nvSpPr>
          <p:spPr>
            <a:xfrm>
              <a:off x="8112217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</a:rPr>
                <a:t>운영체제별</a:t>
              </a:r>
            </a:p>
          </p:txBody>
        </p:sp>
        <p:sp>
          <p:nvSpPr>
            <p:cNvPr id="61" name="사각형: 위쪽 모서리의 한쪽은 둥글고 다른 한쪽은 잘림 60"/>
            <p:cNvSpPr/>
            <p:nvPr/>
          </p:nvSpPr>
          <p:spPr>
            <a:xfrm>
              <a:off x="9156333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브라우져별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62" name="사각형: 위쪽 모서리의 한쪽은 둥글고 다른 한쪽은 잘림 61"/>
            <p:cNvSpPr/>
            <p:nvPr/>
          </p:nvSpPr>
          <p:spPr>
            <a:xfrm>
              <a:off x="1019645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PC/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모바일</a:t>
              </a:r>
            </a:p>
          </p:txBody>
        </p:sp>
      </p:grpSp>
      <p:sp>
        <p:nvSpPr>
          <p:cNvPr id="64" name="직사각형 63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7838368" y="2924944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통계는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756849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6674990" y="267596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2539262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544923"/>
              </p:ext>
            </p:extLst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376667"/>
              </p:ext>
            </p:extLst>
          </p:nvPr>
        </p:nvGraphicFramePr>
        <p:xfrm>
          <a:off x="1520131" y="2571208"/>
          <a:ext cx="6241182" cy="1741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94">
                  <a:extLst>
                    <a:ext uri="{9D8B030D-6E8A-4147-A177-3AD203B41FA5}">
                      <a16:colId xmlns:a16="http://schemas.microsoft.com/office/drawing/2014/main" xmlns="" val="1580134137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064669926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93004060"/>
                    </a:ext>
                  </a:extLst>
                </a:gridCol>
              </a:tblGrid>
              <a:tr h="20158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페이지뷰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방문자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962368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6095336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	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721179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안드로이드 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183749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IOS 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2370315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IOS 9.2	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4306626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윈도우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xp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886756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r>
                        <a:rPr lang="ko-KR" alt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안드로이드 </a:t>
                      </a:r>
                      <a:r>
                        <a:rPr lang="en-US" altLang="ko-KR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	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14454629"/>
                  </a:ext>
                </a:extLst>
              </a:tr>
            </a:tbl>
          </a:graphicData>
        </a:graphic>
      </p:graphicFrame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00242" y="2241535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29647472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518892"/>
              </p:ext>
            </p:extLst>
          </p:nvPr>
        </p:nvGraphicFramePr>
        <p:xfrm>
          <a:off x="7835006" y="1563565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통계보기 버튼 클릭 시 하위에 그래프 표시 및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브라우져별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페이지뷰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방문자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9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2753655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인쇄하기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674232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614232" y="2750931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3751728287"/>
              </p:ext>
            </p:extLst>
          </p:nvPr>
        </p:nvGraphicFramePr>
        <p:xfrm>
          <a:off x="1520132" y="3178763"/>
          <a:ext cx="6231604" cy="284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4" name="그룹 53"/>
          <p:cNvGrpSpPr/>
          <p:nvPr/>
        </p:nvGrpSpPr>
        <p:grpSpPr>
          <a:xfrm>
            <a:off x="1511316" y="2280545"/>
            <a:ext cx="5459475" cy="243815"/>
            <a:chOff x="5781092" y="876582"/>
            <a:chExt cx="5459475" cy="243815"/>
          </a:xfrm>
        </p:grpSpPr>
        <p:sp>
          <p:nvSpPr>
            <p:cNvPr id="58" name="사각형: 위쪽 모서리의 한쪽은 둥글고 다른 한쪽은 잘림 57"/>
            <p:cNvSpPr/>
            <p:nvPr/>
          </p:nvSpPr>
          <p:spPr>
            <a:xfrm>
              <a:off x="5781092" y="876582"/>
              <a:ext cx="1281444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사이트 </a:t>
              </a:r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날짜별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통계</a:t>
              </a:r>
            </a:p>
          </p:txBody>
        </p:sp>
        <p:sp>
          <p:nvSpPr>
            <p:cNvPr id="59" name="사각형: 위쪽 모서리의 한쪽은 둥글고 다른 한쪽은 잘림 58"/>
            <p:cNvSpPr/>
            <p:nvPr/>
          </p:nvSpPr>
          <p:spPr>
            <a:xfrm>
              <a:off x="706336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메뉴별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사각형: 위쪽 모서리의 한쪽은 둥글고 다른 한쪽은 잘림 59"/>
            <p:cNvSpPr/>
            <p:nvPr/>
          </p:nvSpPr>
          <p:spPr>
            <a:xfrm>
              <a:off x="8112217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운영체제별</a:t>
              </a:r>
            </a:p>
          </p:txBody>
        </p:sp>
        <p:sp>
          <p:nvSpPr>
            <p:cNvPr id="61" name="사각형: 위쪽 모서리의 한쪽은 둥글고 다른 한쪽은 잘림 60"/>
            <p:cNvSpPr/>
            <p:nvPr/>
          </p:nvSpPr>
          <p:spPr>
            <a:xfrm>
              <a:off x="9156333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>
                  <a:solidFill>
                    <a:schemeClr val="bg1"/>
                  </a:solidFill>
                </a:rPr>
                <a:t>브라우져별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</a:t>
              </a:r>
            </a:p>
          </p:txBody>
        </p:sp>
        <p:sp>
          <p:nvSpPr>
            <p:cNvPr id="62" name="사각형: 위쪽 모서리의 한쪽은 둥글고 다른 한쪽은 잘림 61"/>
            <p:cNvSpPr/>
            <p:nvPr/>
          </p:nvSpPr>
          <p:spPr>
            <a:xfrm>
              <a:off x="1019645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ysClr val="windowText" lastClr="000000"/>
                  </a:solidFill>
                </a:rPr>
                <a:t>PC/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모바일</a:t>
              </a:r>
            </a:p>
          </p:txBody>
        </p:sp>
      </p:grpSp>
      <p:sp>
        <p:nvSpPr>
          <p:cNvPr id="6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255008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7838368" y="2922150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통계는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764580" y="2756849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6674990" y="267596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769148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927699"/>
              </p:ext>
            </p:extLst>
          </p:nvPr>
        </p:nvGraphicFramePr>
        <p:xfrm>
          <a:off x="1520131" y="2615851"/>
          <a:ext cx="6241182" cy="149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94">
                  <a:extLst>
                    <a:ext uri="{9D8B030D-6E8A-4147-A177-3AD203B41FA5}">
                      <a16:colId xmlns:a16="http://schemas.microsoft.com/office/drawing/2014/main" xmlns="" val="1580134137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064669926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93004060"/>
                    </a:ext>
                  </a:extLst>
                </a:gridCol>
              </a:tblGrid>
              <a:tr h="21396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방문자수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962368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IE11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6095336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크롬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721179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사파리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183749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IE10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2370315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IE8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4306626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IE9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8867568"/>
                  </a:ext>
                </a:extLst>
              </a:tr>
            </a:tbl>
          </a:graphicData>
        </a:graphic>
      </p:graphicFrame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00242" y="2241535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15471256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713638"/>
              </p:ext>
            </p:extLst>
          </p:nvPr>
        </p:nvGraphicFramePr>
        <p:xfrm>
          <a:off x="7835006" y="1563565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통계보기 버튼 클릭 시 하위에 그래프 표시 및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PC/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모바일 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페이지뷰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방문자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674232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614232" y="2750931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2852915953"/>
              </p:ext>
            </p:extLst>
          </p:nvPr>
        </p:nvGraphicFramePr>
        <p:xfrm>
          <a:off x="1520132" y="3178763"/>
          <a:ext cx="6231604" cy="284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grpSp>
        <p:nvGrpSpPr>
          <p:cNvPr id="54" name="그룹 53"/>
          <p:cNvGrpSpPr/>
          <p:nvPr/>
        </p:nvGrpSpPr>
        <p:grpSpPr>
          <a:xfrm>
            <a:off x="1511316" y="2280545"/>
            <a:ext cx="5459475" cy="243815"/>
            <a:chOff x="5781092" y="876582"/>
            <a:chExt cx="5459475" cy="243815"/>
          </a:xfrm>
        </p:grpSpPr>
        <p:sp>
          <p:nvSpPr>
            <p:cNvPr id="58" name="사각형: 위쪽 모서리의 한쪽은 둥글고 다른 한쪽은 잘림 57"/>
            <p:cNvSpPr/>
            <p:nvPr/>
          </p:nvSpPr>
          <p:spPr>
            <a:xfrm>
              <a:off x="5781092" y="876582"/>
              <a:ext cx="1281444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사이트 </a:t>
              </a:r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날짜별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통계</a:t>
              </a:r>
            </a:p>
          </p:txBody>
        </p:sp>
        <p:sp>
          <p:nvSpPr>
            <p:cNvPr id="59" name="사각형: 위쪽 모서리의 한쪽은 둥글고 다른 한쪽은 잘림 58"/>
            <p:cNvSpPr/>
            <p:nvPr/>
          </p:nvSpPr>
          <p:spPr>
            <a:xfrm>
              <a:off x="706336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메뉴별</a:t>
              </a:r>
              <a:endParaRPr lang="ko-KR" altLang="en-US" sz="9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사각형: 위쪽 모서리의 한쪽은 둥글고 다른 한쪽은 잘림 59"/>
            <p:cNvSpPr/>
            <p:nvPr/>
          </p:nvSpPr>
          <p:spPr>
            <a:xfrm>
              <a:off x="8112217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운영체제별</a:t>
              </a:r>
            </a:p>
          </p:txBody>
        </p:sp>
        <p:sp>
          <p:nvSpPr>
            <p:cNvPr id="61" name="사각형: 위쪽 모서리의 한쪽은 둥글고 다른 한쪽은 잘림 60"/>
            <p:cNvSpPr/>
            <p:nvPr/>
          </p:nvSpPr>
          <p:spPr>
            <a:xfrm>
              <a:off x="9156333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ysClr val="windowText" lastClr="000000"/>
                  </a:solidFill>
                </a:rPr>
                <a:t>브라우져별</a:t>
              </a:r>
              <a:r>
                <a:rPr lang="ko-KR" altLang="en-US" sz="900" dirty="0">
                  <a:solidFill>
                    <a:sysClr val="windowText" lastClr="000000"/>
                  </a:solidFill>
                </a:rPr>
                <a:t> </a:t>
              </a:r>
            </a:p>
          </p:txBody>
        </p:sp>
        <p:sp>
          <p:nvSpPr>
            <p:cNvPr id="62" name="사각형: 위쪽 모서리의 한쪽은 둥글고 다른 한쪽은 잘림 61"/>
            <p:cNvSpPr/>
            <p:nvPr/>
          </p:nvSpPr>
          <p:spPr>
            <a:xfrm>
              <a:off x="10196451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bg1"/>
                  </a:solidFill>
                </a:rPr>
                <a:t>PC/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모바일</a:t>
              </a:r>
            </a:p>
          </p:txBody>
        </p:sp>
      </p:grpSp>
      <p:sp>
        <p:nvSpPr>
          <p:cNvPr id="64" name="직사각형 63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7838368" y="2922150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통계는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756849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6674990" y="2675963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2602213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홈페이지 접속통계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 접속통계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379491"/>
              </p:ext>
            </p:extLst>
          </p:nvPr>
        </p:nvGraphicFramePr>
        <p:xfrm>
          <a:off x="1520131" y="2571208"/>
          <a:ext cx="6241182" cy="641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394">
                  <a:extLst>
                    <a:ext uri="{9D8B030D-6E8A-4147-A177-3AD203B41FA5}">
                      <a16:colId xmlns:a16="http://schemas.microsoft.com/office/drawing/2014/main" xmlns="" val="1580134137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064669926"/>
                    </a:ext>
                  </a:extLst>
                </a:gridCol>
                <a:gridCol w="2080394">
                  <a:extLst>
                    <a:ext uri="{9D8B030D-6E8A-4147-A177-3AD203B41FA5}">
                      <a16:colId xmlns:a16="http://schemas.microsoft.com/office/drawing/2014/main" xmlns="" val="393004060"/>
                    </a:ext>
                  </a:extLst>
                </a:gridCol>
              </a:tblGrid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방문자수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962368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6095336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7211790"/>
                  </a:ext>
                </a:extLst>
              </a:tr>
            </a:tbl>
          </a:graphicData>
        </a:graphic>
      </p:graphicFrame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00242" y="2241535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홈페이지 접속통계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20111515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354328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통계보기 버튼 클릭 시 하위에 그래프 표시 및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PC/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모바일 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페이지뷰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방문자 통계 표시</a:t>
                      </a: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첨부파일 다운로드 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첨부파일 다운로드 통계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7354" y="2328050"/>
            <a:ext cx="6253958" cy="393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1614232" y="2404749"/>
            <a:ext cx="2261510" cy="257907"/>
            <a:chOff x="3290722" y="5439345"/>
            <a:chExt cx="2261510" cy="257907"/>
          </a:xfrm>
        </p:grpSpPr>
        <p:sp>
          <p:nvSpPr>
            <p:cNvPr id="35" name="직사각형 34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1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64" name="직사각형 63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홈페이지 접속통계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첨부파일 다운로드 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7838368" y="2922150"/>
            <a:ext cx="196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</a:rPr>
              <a:t>최초 메뉴 접근 시 통계는 표시하지 않음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410667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6674990" y="2329781"/>
            <a:ext cx="222226" cy="2222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aphicFrame>
        <p:nvGraphicFramePr>
          <p:cNvPr id="49" name="차트 48"/>
          <p:cNvGraphicFramePr/>
          <p:nvPr>
            <p:extLst>
              <p:ext uri="{D42A27DB-BD31-4B8C-83A1-F6EECF244321}">
                <p14:modId xmlns:p14="http://schemas.microsoft.com/office/powerpoint/2010/main" val="884417849"/>
              </p:ext>
            </p:extLst>
          </p:nvPr>
        </p:nvGraphicFramePr>
        <p:xfrm>
          <a:off x="1520132" y="2847958"/>
          <a:ext cx="6231604" cy="3178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5826947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1551" y="1700808"/>
            <a:ext cx="1211814" cy="4531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138"/>
              </p:ext>
            </p:extLst>
          </p:nvPr>
        </p:nvGraphicFramePr>
        <p:xfrm>
          <a:off x="1520131" y="2571208"/>
          <a:ext cx="6220723" cy="270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701">
                  <a:extLst>
                    <a:ext uri="{9D8B030D-6E8A-4147-A177-3AD203B41FA5}">
                      <a16:colId xmlns:a16="http://schemas.microsoft.com/office/drawing/2014/main" xmlns="" val="158013413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641345838"/>
                    </a:ext>
                  </a:extLst>
                </a:gridCol>
                <a:gridCol w="2499822">
                  <a:extLst>
                    <a:ext uri="{9D8B030D-6E8A-4147-A177-3AD203B41FA5}">
                      <a16:colId xmlns:a16="http://schemas.microsoft.com/office/drawing/2014/main" xmlns="" val="3064669926"/>
                    </a:ext>
                  </a:extLst>
                </a:gridCol>
              </a:tblGrid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메뉴경로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다운로드수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29623680"/>
                  </a:ext>
                </a:extLst>
              </a:tr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매뉴얼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PDF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63660001"/>
                  </a:ext>
                </a:extLst>
              </a:tr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상해워크샵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1.zip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8814878"/>
                  </a:ext>
                </a:extLst>
              </a:tr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상해워크샵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2.zip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5952745"/>
                  </a:ext>
                </a:extLst>
              </a:tr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정보처리방침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.PDF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73545877"/>
                  </a:ext>
                </a:extLst>
              </a:tr>
              <a:tr h="20158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7989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0953367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7211790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183749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2370315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 사진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jpg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4306626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UCMS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PDF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58867568"/>
                  </a:ext>
                </a:extLst>
              </a:tr>
              <a:tr h="21396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유앤피플소개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.PDF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14454629"/>
                  </a:ext>
                </a:extLst>
              </a:tr>
            </a:tbl>
          </a:graphicData>
        </a:graphic>
      </p:graphicFrame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00242" y="2241535"/>
            <a:ext cx="104061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엑셀 다운로드</a:t>
            </a:r>
            <a:endParaRPr lang="en-US" sz="9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37" name="TextBox 3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첨부파일 다운로드 통계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8" name="직선 연결선 3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직사각형 4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첨부파일 다운로드 통계</a:t>
            </a:r>
            <a:endParaRPr lang="en-US" altLang="ko-KR" sz="700" dirty="0"/>
          </a:p>
        </p:txBody>
      </p:sp>
      <p:sp>
        <p:nvSpPr>
          <p:cNvPr id="42" name="직사각형 41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홈페이지 접속통계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첨부파일 다운로드 통계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만족도 관리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</p:spTree>
    <p:extLst>
      <p:ext uri="{BB962C8B-B14F-4D97-AF65-F5344CB8AC3E}">
        <p14:creationId xmlns:p14="http://schemas.microsoft.com/office/powerpoint/2010/main" val="2164078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904618"/>
              </p:ext>
            </p:extLst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만족도 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만족도 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직사각형 33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홈페이지 접속통계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만족도 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1507354" y="2252104"/>
            <a:ext cx="6253958" cy="708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2000673" y="2328803"/>
            <a:ext cx="2261510" cy="257907"/>
            <a:chOff x="3290722" y="5439345"/>
            <a:chExt cx="2261510" cy="257907"/>
          </a:xfrm>
        </p:grpSpPr>
        <p:sp>
          <p:nvSpPr>
            <p:cNvPr id="76" name="직사각형 75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3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334721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통계보기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527759" y="2354784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기간</a:t>
            </a:r>
            <a:endParaRPr lang="ko-KR" altLang="en-US" sz="900" dirty="0"/>
          </a:p>
        </p:txBody>
      </p:sp>
      <p:sp>
        <p:nvSpPr>
          <p:cNvPr id="91" name="직사각형 90"/>
          <p:cNvSpPr/>
          <p:nvPr/>
        </p:nvSpPr>
        <p:spPr>
          <a:xfrm>
            <a:off x="1522858" y="2699364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/>
              <a:t>사이트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2005069" y="2692687"/>
            <a:ext cx="843165" cy="48428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대표홈페이지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graphicFrame>
        <p:nvGraphicFramePr>
          <p:cNvPr id="93" name="표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472665"/>
              </p:ext>
            </p:extLst>
          </p:nvPr>
        </p:nvGraphicFramePr>
        <p:xfrm>
          <a:off x="1489364" y="3183649"/>
          <a:ext cx="6262372" cy="142789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09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90932">
                  <a:extLst>
                    <a:ext uri="{9D8B030D-6E8A-4147-A177-3AD203B41FA5}">
                      <a16:colId xmlns:a16="http://schemas.microsoft.com/office/drawing/2014/main" xmlns="" val="818708940"/>
                    </a:ext>
                  </a:extLst>
                </a:gridCol>
                <a:gridCol w="1290932">
                  <a:extLst>
                    <a:ext uri="{9D8B030D-6E8A-4147-A177-3AD203B41FA5}">
                      <a16:colId xmlns:a16="http://schemas.microsoft.com/office/drawing/2014/main" xmlns="" val="1942749772"/>
                    </a:ext>
                  </a:extLst>
                </a:gridCol>
                <a:gridCol w="1290932">
                  <a:extLst>
                    <a:ext uri="{9D8B030D-6E8A-4147-A177-3AD203B41FA5}">
                      <a16:colId xmlns:a16="http://schemas.microsoft.com/office/drawing/2014/main" xmlns="" val="312098576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855371091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xmlns="" val="2927938820"/>
                    </a:ext>
                  </a:extLst>
                </a:gridCol>
                <a:gridCol w="602493">
                  <a:extLst>
                    <a:ext uri="{9D8B030D-6E8A-4147-A177-3AD203B41FA5}">
                      <a16:colId xmlns:a16="http://schemas.microsoft.com/office/drawing/2014/main" xmlns="" val="163795210"/>
                    </a:ext>
                  </a:extLst>
                </a:gridCol>
              </a:tblGrid>
              <a:tr h="24535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latin typeface="맑은 고딕" pitchFamily="50" charset="-127"/>
                          <a:ea typeface="맑은 고딕" pitchFamily="50" charset="-127"/>
                        </a:rPr>
                        <a:t>메뉴명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부서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총참여자수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총점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평균점수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algn="l"/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/home/index.do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경영기획부</a:t>
                      </a: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워크샵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/home/BBS001.do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전략사업본부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7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18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/home/contents1.do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전략사업본부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7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서비스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&gt;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UCMS 2.0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/home/contents2.do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경영기획부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8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12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CAREER &gt; CAREER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/home/contents3.do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전략사업본부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4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CAREER &gt;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채용정보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/home/BBS002.do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전략사업본부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5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1237238"/>
                  </a:ext>
                </a:extLst>
              </a:tr>
              <a:tr h="168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                                                                총계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31</a:t>
                      </a:r>
                      <a:endParaRPr lang="ko-KR" altLang="en-US" sz="9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75</a:t>
                      </a:r>
                      <a:endParaRPr lang="ko-KR" altLang="en-US" sz="9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2.4</a:t>
                      </a:r>
                      <a:endParaRPr lang="ko-KR" altLang="en-US" sz="9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85940527"/>
                  </a:ext>
                </a:extLst>
              </a:tr>
            </a:tbl>
          </a:graphicData>
        </a:graphic>
      </p:graphicFrame>
      <p:sp>
        <p:nvSpPr>
          <p:cNvPr id="100" name="직사각형 99"/>
          <p:cNvSpPr/>
          <p:nvPr/>
        </p:nvSpPr>
        <p:spPr>
          <a:xfrm>
            <a:off x="4458947" y="2699364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</a:t>
            </a:r>
            <a:endParaRPr lang="ko-KR" altLang="en-US" sz="900" dirty="0"/>
          </a:p>
        </p:txBody>
      </p:sp>
      <p:sp>
        <p:nvSpPr>
          <p:cNvPr id="101" name="직사각형 100"/>
          <p:cNvSpPr/>
          <p:nvPr/>
        </p:nvSpPr>
        <p:spPr>
          <a:xfrm>
            <a:off x="4941158" y="2673383"/>
            <a:ext cx="843165" cy="10381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회사소개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서비스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CAREER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PR</a:t>
            </a:r>
            <a:r>
              <a:rPr lang="ko-KR" altLang="en-US" sz="900" dirty="0">
                <a:solidFill>
                  <a:schemeClr val="tx1"/>
                </a:solidFill>
              </a:rPr>
              <a:t>센터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고객센터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회원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5852869" y="2673384"/>
            <a:ext cx="843165" cy="4664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회사소개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워크샵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458947" y="2337671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부서별</a:t>
            </a:r>
            <a:endParaRPr lang="ko-KR" altLang="en-US" sz="900" dirty="0"/>
          </a:p>
        </p:txBody>
      </p:sp>
      <p:sp>
        <p:nvSpPr>
          <p:cNvPr id="104" name="직사각형 103"/>
          <p:cNvSpPr/>
          <p:nvPr/>
        </p:nvSpPr>
        <p:spPr>
          <a:xfrm>
            <a:off x="4941158" y="2311691"/>
            <a:ext cx="843165" cy="93729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경영기획부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전략사업본부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웹</a:t>
            </a:r>
            <a:r>
              <a:rPr lang="en-US" altLang="ko-KR" sz="900" dirty="0">
                <a:solidFill>
                  <a:schemeClr val="tx1"/>
                </a:solidFill>
              </a:rPr>
              <a:t>BIZ</a:t>
            </a:r>
            <a:r>
              <a:rPr lang="ko-KR" altLang="en-US" sz="900" dirty="0">
                <a:solidFill>
                  <a:schemeClr val="tx1"/>
                </a:solidFill>
              </a:rPr>
              <a:t>사업부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R&amp;D </a:t>
            </a:r>
            <a:r>
              <a:rPr lang="ko-KR" altLang="en-US" sz="900" dirty="0">
                <a:solidFill>
                  <a:schemeClr val="tx1"/>
                </a:solidFill>
              </a:rPr>
              <a:t>사업부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UX/UI </a:t>
            </a:r>
            <a:r>
              <a:rPr lang="ko-KR" altLang="en-US" sz="900" dirty="0">
                <a:solidFill>
                  <a:schemeClr val="tx1"/>
                </a:solidFill>
              </a:rPr>
              <a:t>사업부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5852869" y="2311691"/>
            <a:ext cx="843165" cy="46649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연구팀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개발팀</a:t>
            </a:r>
          </a:p>
        </p:txBody>
      </p:sp>
    </p:spTree>
    <p:extLst>
      <p:ext uri="{BB962C8B-B14F-4D97-AF65-F5344CB8AC3E}">
        <p14:creationId xmlns:p14="http://schemas.microsoft.com/office/powerpoint/2010/main" val="8274268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 err="1"/>
              <a:t>웹콘텐츠관리</a:t>
            </a:r>
            <a:endParaRPr lang="ko-KR" altLang="en-US" sz="1000" b="1" dirty="0"/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게시판 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홈페이지 통계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96816" y="531428"/>
            <a:ext cx="453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hlinkClick r:id="rId8"/>
              </a:rPr>
              <a:t>http://192.168.0.23:8108/bos/member/admin/forLogin.do</a:t>
            </a:r>
            <a:endParaRPr lang="en-US" altLang="ko-KR" sz="900" dirty="0"/>
          </a:p>
          <a:p>
            <a:r>
              <a:rPr lang="ko-KR" altLang="en-US" sz="900" dirty="0"/>
              <a:t>계정</a:t>
            </a:r>
            <a:r>
              <a:rPr lang="en-US" altLang="ko-KR" sz="900" dirty="0"/>
              <a:t>: admin </a:t>
            </a:r>
            <a:r>
              <a:rPr lang="ko-KR" altLang="en-US" sz="900" dirty="0"/>
              <a:t>비밀번호</a:t>
            </a:r>
            <a:r>
              <a:rPr lang="en-US" altLang="ko-KR" sz="900" dirty="0"/>
              <a:t>: 1234</a:t>
            </a:r>
            <a:endParaRPr lang="ko-KR" altLang="en-US" sz="9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29" name="TextBox 28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만족도 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30" name="직선 연결선 29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3548844" y="1801861"/>
            <a:ext cx="348648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홈페이지관리자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만족도 관리</a:t>
            </a:r>
            <a:endParaRPr lang="en-US" altLang="ko-KR" sz="700" dirty="0"/>
          </a:p>
        </p:txBody>
      </p:sp>
      <p:sp>
        <p:nvSpPr>
          <p:cNvPr id="3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ysClr val="windowText" lastClr="000000"/>
                </a:solidFill>
                <a:latin typeface="+mn-ea"/>
                <a:cs typeface="Calibri" pitchFamily="34" charset="0"/>
              </a:rPr>
              <a:t>도움말</a:t>
            </a:r>
            <a:endParaRPr lang="en-US" sz="900" b="1" dirty="0">
              <a:solidFill>
                <a:sysClr val="windowText" lastClr="000000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4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600877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6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681388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7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142801" y="1197634"/>
            <a:ext cx="791696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28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34497" y="1197634"/>
            <a:ext cx="936104" cy="1902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2069" y="995662"/>
            <a:ext cx="2165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rgbClr val="FF0000"/>
                </a:solidFill>
              </a:rPr>
              <a:t>관리자명</a:t>
            </a: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관리자</a:t>
            </a:r>
            <a:r>
              <a:rPr lang="en-US" altLang="ko-KR" sz="900" dirty="0">
                <a:solidFill>
                  <a:srgbClr val="FF0000"/>
                </a:solidFill>
              </a:rPr>
              <a:t>ID)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접속하셨습니다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900" dirty="0"/>
          </a:p>
        </p:txBody>
      </p:sp>
      <p:sp>
        <p:nvSpPr>
          <p:cNvPr id="34" name="직사각형 33"/>
          <p:cNvSpPr/>
          <p:nvPr/>
        </p:nvSpPr>
        <p:spPr>
          <a:xfrm>
            <a:off x="167115" y="1707439"/>
            <a:ext cx="1215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홈페이지 접속통계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▶ </a:t>
            </a:r>
            <a:r>
              <a:rPr lang="ko-KR" altLang="en-US" sz="600" b="1" dirty="0"/>
              <a:t>첨부파일 다운로드 통계</a:t>
            </a:r>
            <a:endParaRPr lang="en-US" altLang="ko-KR" sz="6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>
                <a:solidFill>
                  <a:srgbClr val="FF0000"/>
                </a:solidFill>
              </a:rPr>
              <a:t>▷ </a:t>
            </a:r>
            <a:r>
              <a:rPr lang="ko-KR" altLang="en-US" sz="600" b="1" dirty="0">
                <a:solidFill>
                  <a:srgbClr val="FF0000"/>
                </a:solidFill>
              </a:rPr>
              <a:t>만족도 관리</a:t>
            </a:r>
            <a:endParaRPr lang="en-US" altLang="ko-KR" sz="600" b="1" dirty="0">
              <a:solidFill>
                <a:srgbClr val="FF0000"/>
              </a:solidFill>
            </a:endParaRPr>
          </a:p>
          <a:p>
            <a:pPr defTabSz="895350">
              <a:lnSpc>
                <a:spcPct val="150000"/>
              </a:lnSpc>
              <a:defRPr/>
            </a:pPr>
            <a:endParaRPr lang="en-US" altLang="ko-KR" sz="600" b="1" dirty="0"/>
          </a:p>
        </p:txBody>
      </p:sp>
      <p:graphicFrame>
        <p:nvGraphicFramePr>
          <p:cNvPr id="43" name="차트 42"/>
          <p:cNvGraphicFramePr/>
          <p:nvPr>
            <p:extLst>
              <p:ext uri="{D42A27DB-BD31-4B8C-83A1-F6EECF244321}">
                <p14:modId xmlns:p14="http://schemas.microsoft.com/office/powerpoint/2010/main" val="132704459"/>
              </p:ext>
            </p:extLst>
          </p:nvPr>
        </p:nvGraphicFramePr>
        <p:xfrm>
          <a:off x="1520132" y="2224017"/>
          <a:ext cx="2590551" cy="3102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25547"/>
              </p:ext>
            </p:extLst>
          </p:nvPr>
        </p:nvGraphicFramePr>
        <p:xfrm>
          <a:off x="4520952" y="3661960"/>
          <a:ext cx="3240360" cy="25844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4331">
                  <a:extLst>
                    <a:ext uri="{9D8B030D-6E8A-4147-A177-3AD203B41FA5}">
                      <a16:colId xmlns:a16="http://schemas.microsoft.com/office/drawing/2014/main" xmlns="" val="608072547"/>
                    </a:ext>
                  </a:extLst>
                </a:gridCol>
                <a:gridCol w="62125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911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917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10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만족도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latin typeface="맑은 고딕" pitchFamily="50" charset="-127"/>
                          <a:ea typeface="맑은 고딕" pitchFamily="50" charset="-127"/>
                        </a:rPr>
                        <a:t>한줄평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58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700" u="none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매우만족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콘텐츠가 너무 </a:t>
                      </a:r>
                      <a:r>
                        <a:rPr lang="ko-KR" altLang="en-US" sz="700" u="none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이쁘네요</a:t>
                      </a: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홍길동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2016.12.31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만족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좋은 정보 얻었습니다</a:t>
                      </a: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. 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이순신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2016.12.31</a:t>
                      </a:r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3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만족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정보가 많네요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세종대왕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2016.12.30</a:t>
                      </a:r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4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5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6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92487791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7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57105762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8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461577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9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0695716"/>
                  </a:ext>
                </a:extLst>
              </a:tr>
              <a:tr h="23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10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013377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5586702" y="6246445"/>
            <a:ext cx="12506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《 〈 1 2 3 4 5 6 7 8 9 〉  》</a:t>
            </a:r>
            <a:endParaRPr lang="ko-KR" altLang="en-US" sz="700" dirty="0"/>
          </a:p>
        </p:txBody>
      </p:sp>
      <p:sp>
        <p:nvSpPr>
          <p:cNvPr id="49" name="TextBox 48"/>
          <p:cNvSpPr txBox="1"/>
          <p:nvPr/>
        </p:nvSpPr>
        <p:spPr>
          <a:xfrm>
            <a:off x="4520952" y="2252104"/>
            <a:ext cx="3240360" cy="378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764580" y="2334721"/>
            <a:ext cx="856707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901674"/>
              </p:ext>
            </p:extLst>
          </p:nvPr>
        </p:nvGraphicFramePr>
        <p:xfrm>
          <a:off x="4520757" y="2802022"/>
          <a:ext cx="3240360" cy="68868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xmlns="" val="60807254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10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latin typeface="맑은 고딕" pitchFamily="50" charset="-127"/>
                          <a:ea typeface="맑은 고딕" pitchFamily="50" charset="-127"/>
                        </a:rPr>
                        <a:t>매우만족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만족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보통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itchFamily="50" charset="-127"/>
                          <a:ea typeface="맑은 고딕" pitchFamily="50" charset="-127"/>
                        </a:rPr>
                        <a:t>불만족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latin typeface="맑은 고딕" pitchFamily="50" charset="-127"/>
                          <a:ea typeface="맑은 고딕" pitchFamily="50" charset="-127"/>
                        </a:rPr>
                        <a:t>매우불만족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58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1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7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2</a:t>
                      </a:r>
                      <a:endParaRPr lang="ko-KR" altLang="en-US" sz="700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697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총계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1" u="non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700" b="1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4" name="직사각형 53"/>
          <p:cNvSpPr/>
          <p:nvPr/>
        </p:nvSpPr>
        <p:spPr>
          <a:xfrm>
            <a:off x="4616781" y="2319060"/>
            <a:ext cx="843165" cy="9659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전체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 err="1">
                <a:solidFill>
                  <a:schemeClr val="tx1"/>
                </a:solidFill>
              </a:rPr>
              <a:t>매우만족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만족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보통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불만족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매우 불만족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1974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2424"/>
              </p:ext>
            </p:extLst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시스템관리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507354" y="2216333"/>
            <a:ext cx="6253958" cy="9339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497678" y="2215569"/>
            <a:ext cx="3956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라디오버튼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● 라디오 버튼     ○ 라디오버튼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○ 라디오 버튼</a:t>
            </a:r>
            <a:endParaRPr lang="ko-KR" altLang="en-US" sz="900" dirty="0"/>
          </a:p>
        </p:txBody>
      </p:sp>
      <p:sp>
        <p:nvSpPr>
          <p:cNvPr id="25" name="직사각형 24"/>
          <p:cNvSpPr/>
          <p:nvPr/>
        </p:nvSpPr>
        <p:spPr>
          <a:xfrm>
            <a:off x="1507354" y="2473815"/>
            <a:ext cx="508985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□ 체크박스      □ 체크박스      □ 체크박스      □ 체크박스      □ 체크박스      □ 체크박스</a:t>
            </a:r>
            <a:endParaRPr lang="ko-KR" altLang="en-US" sz="900" dirty="0"/>
          </a:p>
        </p:txBody>
      </p:sp>
      <p:grpSp>
        <p:nvGrpSpPr>
          <p:cNvPr id="26" name="그룹 25"/>
          <p:cNvGrpSpPr/>
          <p:nvPr/>
        </p:nvGrpSpPr>
        <p:grpSpPr>
          <a:xfrm>
            <a:off x="1568624" y="2815161"/>
            <a:ext cx="2261510" cy="257907"/>
            <a:chOff x="3290722" y="5439345"/>
            <a:chExt cx="2261510" cy="257907"/>
          </a:xfrm>
        </p:grpSpPr>
        <p:sp>
          <p:nvSpPr>
            <p:cNvPr id="27" name="직사각형 26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3991466" y="2828699"/>
            <a:ext cx="68640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</a:t>
            </a:r>
            <a:endParaRPr lang="ko-KR" altLang="en-US" sz="900" dirty="0"/>
          </a:p>
        </p:txBody>
      </p:sp>
      <p:sp>
        <p:nvSpPr>
          <p:cNvPr id="35" name="직사각형 34"/>
          <p:cNvSpPr/>
          <p:nvPr/>
        </p:nvSpPr>
        <p:spPr>
          <a:xfrm>
            <a:off x="5520063" y="2828699"/>
            <a:ext cx="1305145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37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878986" y="2828699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32475"/>
              </p:ext>
            </p:extLst>
          </p:nvPr>
        </p:nvGraphicFramePr>
        <p:xfrm>
          <a:off x="1507354" y="3291261"/>
          <a:ext cx="6253957" cy="2726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774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35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360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35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98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6331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02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2017-02-22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</a:tbl>
          </a:graphicData>
        </a:graphic>
      </p:graphicFrame>
      <p:pic>
        <p:nvPicPr>
          <p:cNvPr id="41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4853467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4278375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3618633" y="6124975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pic>
        <p:nvPicPr>
          <p:cNvPr id="52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5172432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/>
          <p:cNvSpPr/>
          <p:nvPr/>
        </p:nvSpPr>
        <p:spPr>
          <a:xfrm>
            <a:off x="4631892" y="2828699"/>
            <a:ext cx="843165" cy="5757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항목명       ▼</a:t>
            </a:r>
            <a:endParaRPr lang="en-US" altLang="ko-KR" sz="900" dirty="0">
              <a:solidFill>
                <a:schemeClr val="tx1"/>
              </a:solidFill>
            </a:endParaRPr>
          </a:p>
          <a:p>
            <a:r>
              <a:rPr lang="ko-KR" altLang="en-US" sz="900" dirty="0">
                <a:solidFill>
                  <a:schemeClr val="tx1"/>
                </a:solidFill>
              </a:rPr>
              <a:t>항목명</a:t>
            </a:r>
            <a:r>
              <a:rPr lang="en-US" altLang="ko-KR" sz="900" dirty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sz="900" dirty="0">
                <a:solidFill>
                  <a:schemeClr val="tx1"/>
                </a:solidFill>
              </a:rPr>
              <a:t>항목명</a:t>
            </a:r>
            <a:r>
              <a:rPr lang="en-US" altLang="ko-KR" sz="900" dirty="0">
                <a:solidFill>
                  <a:schemeClr val="tx1"/>
                </a:solidFill>
              </a:rPr>
              <a:t>3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237450" y="610848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484948" y="1801861"/>
            <a:ext cx="25503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게시물 관리 </a:t>
            </a:r>
            <a:r>
              <a:rPr lang="en-US" altLang="ko-KR" sz="700" dirty="0"/>
              <a:t>&gt; </a:t>
            </a:r>
            <a:r>
              <a:rPr lang="ko-KR" altLang="en-US" sz="700"/>
              <a:t>공지사항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19236941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151067"/>
              </p:ext>
            </p:extLst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시스템관리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04160"/>
              </p:ext>
            </p:extLst>
          </p:nvPr>
        </p:nvGraphicFramePr>
        <p:xfrm>
          <a:off x="1507354" y="2206376"/>
          <a:ext cx="6244380" cy="1702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730">
                  <a:extLst>
                    <a:ext uri="{9D8B030D-6E8A-4147-A177-3AD203B41FA5}">
                      <a16:colId xmlns:a16="http://schemas.microsoft.com/office/drawing/2014/main" xmlns="" val="1929742535"/>
                    </a:ext>
                  </a:extLst>
                </a:gridCol>
                <a:gridCol w="2081460">
                  <a:extLst>
                    <a:ext uri="{9D8B030D-6E8A-4147-A177-3AD203B41FA5}">
                      <a16:colId xmlns:a16="http://schemas.microsoft.com/office/drawing/2014/main" xmlns="" val="3541638000"/>
                    </a:ext>
                  </a:extLst>
                </a:gridCol>
                <a:gridCol w="1040730">
                  <a:extLst>
                    <a:ext uri="{9D8B030D-6E8A-4147-A177-3AD203B41FA5}">
                      <a16:colId xmlns:a16="http://schemas.microsoft.com/office/drawing/2014/main" xmlns="" val="1698287765"/>
                    </a:ext>
                  </a:extLst>
                </a:gridCol>
                <a:gridCol w="1040730">
                  <a:extLst>
                    <a:ext uri="{9D8B030D-6E8A-4147-A177-3AD203B41FA5}">
                      <a16:colId xmlns:a16="http://schemas.microsoft.com/office/drawing/2014/main" xmlns="" val="441933741"/>
                    </a:ext>
                  </a:extLst>
                </a:gridCol>
                <a:gridCol w="1040730">
                  <a:extLst>
                    <a:ext uri="{9D8B030D-6E8A-4147-A177-3AD203B41FA5}">
                      <a16:colId xmlns:a16="http://schemas.microsoft.com/office/drawing/2014/main" xmlns="" val="3859930918"/>
                    </a:ext>
                  </a:extLst>
                </a:gridCol>
              </a:tblGrid>
              <a:tr h="308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일반게시물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조회수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92715002"/>
                  </a:ext>
                </a:extLst>
              </a:tr>
              <a:tr h="308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등록일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51770017"/>
                  </a:ext>
                </a:extLst>
              </a:tr>
              <a:tr h="3083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첨부파일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.txt,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900" b="0" dirty="0" err="1">
                          <a:solidFill>
                            <a:schemeClr val="tx1"/>
                          </a:solidFill>
                        </a:rPr>
                        <a:t>xlsx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,    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.ppt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28489109"/>
                  </a:ext>
                </a:extLst>
              </a:tr>
              <a:tr h="750100"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게시물 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게시물 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게시물 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게시물 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게시물 내용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0243161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1507354" y="4055722"/>
            <a:ext cx="5537653" cy="4680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입력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45007" y="4055722"/>
            <a:ext cx="710751" cy="46805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507354" y="4559753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 dirty="0" err="1"/>
              <a:t>전체댓글</a:t>
            </a:r>
            <a:endParaRPr lang="ko-KR" altLang="en-US" sz="1000" b="1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433244"/>
              </p:ext>
            </p:extLst>
          </p:nvPr>
        </p:nvGraphicFramePr>
        <p:xfrm>
          <a:off x="1507354" y="4805974"/>
          <a:ext cx="62443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4380">
                  <a:extLst>
                    <a:ext uri="{9D8B030D-6E8A-4147-A177-3AD203B41FA5}">
                      <a16:colId xmlns:a16="http://schemas.microsoft.com/office/drawing/2014/main" xmlns="" val="4237968597"/>
                    </a:ext>
                  </a:extLst>
                </a:gridCol>
              </a:tblGrid>
              <a:tr h="152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083627"/>
                  </a:ext>
                </a:extLst>
              </a:tr>
              <a:tr h="152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1662743"/>
                  </a:ext>
                </a:extLst>
              </a:tr>
              <a:tr h="152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글쓴이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| 2017-02-22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9517159"/>
                  </a:ext>
                </a:extLst>
              </a:tr>
              <a:tr h="1524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댓글입니다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89748707"/>
                  </a:ext>
                </a:extLst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294033"/>
              </p:ext>
            </p:extLst>
          </p:nvPr>
        </p:nvGraphicFramePr>
        <p:xfrm>
          <a:off x="1507354" y="6030907"/>
          <a:ext cx="62443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50">
                  <a:extLst>
                    <a:ext uri="{9D8B030D-6E8A-4147-A177-3AD203B41FA5}">
                      <a16:colId xmlns:a16="http://schemas.microsoft.com/office/drawing/2014/main" xmlns="" val="4237968597"/>
                    </a:ext>
                  </a:extLst>
                </a:gridCol>
                <a:gridCol w="5463030">
                  <a:extLst>
                    <a:ext uri="{9D8B030D-6E8A-4147-A177-3AD203B41FA5}">
                      <a16:colId xmlns:a16="http://schemas.microsoft.com/office/drawing/2014/main" xmlns="" val="959705399"/>
                    </a:ext>
                  </a:extLst>
                </a:gridCol>
              </a:tblGrid>
              <a:tr h="2009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▲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이전글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공지사항입니다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97083627"/>
                  </a:ext>
                </a:extLst>
              </a:tr>
              <a:tr h="2009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▼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</a:rPr>
                        <a:t>다음글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일반게시물 입니다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11662743"/>
                  </a:ext>
                </a:extLst>
              </a:tr>
            </a:tbl>
          </a:graphicData>
        </a:graphic>
      </p:graphicFrame>
      <p:sp>
        <p:nvSpPr>
          <p:cNvPr id="70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915870" y="5747468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1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574445" y="5747468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233020" y="5747468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99682" y="5719251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sp>
        <p:nvSpPr>
          <p:cNvPr id="32" name="직사각형 31"/>
          <p:cNvSpPr/>
          <p:nvPr/>
        </p:nvSpPr>
        <p:spPr>
          <a:xfrm>
            <a:off x="4484948" y="1801861"/>
            <a:ext cx="25503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게시물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17461464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시스템관리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507354" y="2216333"/>
          <a:ext cx="6244382" cy="3646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06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4958976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공지구분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 공지      ○ 일반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공지기간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게시물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1792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게시자명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첨부파일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</a:tbl>
          </a:graphicData>
        </a:graphic>
      </p:graphicFrame>
      <p:grpSp>
        <p:nvGrpSpPr>
          <p:cNvPr id="33" name="그룹 32"/>
          <p:cNvGrpSpPr/>
          <p:nvPr/>
        </p:nvGrpSpPr>
        <p:grpSpPr>
          <a:xfrm>
            <a:off x="2864768" y="2649860"/>
            <a:ext cx="2261510" cy="257907"/>
            <a:chOff x="3290722" y="5439345"/>
            <a:chExt cx="2261510" cy="257907"/>
          </a:xfrm>
        </p:grpSpPr>
        <p:sp>
          <p:nvSpPr>
            <p:cNvPr id="34" name="직사각형 33"/>
            <p:cNvSpPr/>
            <p:nvPr/>
          </p:nvSpPr>
          <p:spPr>
            <a:xfrm>
              <a:off x="3290722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562841" y="5441535"/>
              <a:ext cx="708829" cy="2557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033366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33366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299079" y="5522594"/>
              <a:ext cx="253153" cy="17465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299079" y="5439345"/>
              <a:ext cx="253153" cy="8325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303569" y="5480970"/>
              <a:ext cx="253153" cy="17465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000" dirty="0">
                  <a:solidFill>
                    <a:sysClr val="windowText" lastClr="000000"/>
                  </a:solidFill>
                </a:rPr>
                <a:t>~</a:t>
              </a:r>
              <a:endParaRPr lang="ko-KR" altLang="en-US" sz="10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2860833" y="3011133"/>
            <a:ext cx="4792467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pic>
        <p:nvPicPr>
          <p:cNvPr id="52" name="Picture 4" descr="C:\Users\조성현\Desktop\칼무리\K-709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760" y="3327532"/>
            <a:ext cx="4958976" cy="56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/>
          <p:cNvSpPr/>
          <p:nvPr/>
        </p:nvSpPr>
        <p:spPr>
          <a:xfrm>
            <a:off x="2860833" y="5175944"/>
            <a:ext cx="1984883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476836" y="5548233"/>
            <a:ext cx="1376170" cy="2579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r>
              <a:rPr lang="ko-KR" altLang="en-US" sz="800" dirty="0">
                <a:solidFill>
                  <a:schemeClr val="tx1"/>
                </a:solidFill>
              </a:rPr>
              <a:t>파일명</a:t>
            </a:r>
            <a:r>
              <a:rPr lang="en-US" altLang="ko-KR" sz="800" dirty="0">
                <a:solidFill>
                  <a:schemeClr val="tx1"/>
                </a:solidFill>
              </a:rPr>
              <a:t>.txt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1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6370227" y="5552775"/>
            <a:ext cx="1269935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첨부파일 추가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3125" y="5548233"/>
            <a:ext cx="209073" cy="257907"/>
          </a:xfrm>
          <a:prstGeom prst="rect">
            <a:avLst/>
          </a:prstGeom>
        </p:spPr>
      </p:pic>
      <p:sp>
        <p:nvSpPr>
          <p:cNvPr id="64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864556" y="5552774"/>
            <a:ext cx="612280" cy="2533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파일선택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3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45188" y="5966234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4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237450" y="5966234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목록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484948" y="1801861"/>
            <a:ext cx="25503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게시물 관리 </a:t>
            </a:r>
            <a:r>
              <a:rPr lang="en-US" altLang="ko-KR" sz="700" dirty="0"/>
              <a:t>&gt; </a:t>
            </a:r>
            <a:r>
              <a:rPr lang="ko-KR" altLang="en-US" sz="700"/>
              <a:t>공지사항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11019557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시스템관리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09163"/>
              </p:ext>
            </p:extLst>
          </p:nvPr>
        </p:nvGraphicFramePr>
        <p:xfrm>
          <a:off x="1507354" y="2531980"/>
          <a:ext cx="6253957" cy="2726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774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35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3602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35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98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6331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02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첨부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등록일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2017-02-22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accent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</a:t>
                      </a:r>
                      <a:endParaRPr lang="en-US" altLang="ko-KR" sz="900" b="1" dirty="0">
                        <a:solidFill>
                          <a:schemeClr val="accent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공지사항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+mn-ea"/>
                        </a:rPr>
                        <a:t>□</a:t>
                      </a:r>
                      <a:endParaRPr lang="en-US" altLang="ko-KR" sz="900" dirty="0">
                        <a:solidFill>
                          <a:srgbClr val="4B4B4B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관리자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+mn-ea"/>
                        </a:rPr>
                        <a:t>2017-02-22</a:t>
                      </a:r>
                      <a:endParaRPr lang="en-US" altLang="ko-KR" sz="900" dirty="0">
                        <a:solidFill>
                          <a:srgbClr val="666666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</a:tbl>
          </a:graphicData>
        </a:graphic>
      </p:graphicFrame>
      <p:pic>
        <p:nvPicPr>
          <p:cNvPr id="41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4094186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3519094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3618633" y="5365694"/>
            <a:ext cx="20265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《  〈  1  2  3  4  5  6  7  8  9  〉  》</a:t>
            </a:r>
            <a:endParaRPr lang="ko-KR" altLang="en-US" sz="900" dirty="0"/>
          </a:p>
        </p:txBody>
      </p:sp>
      <p:pic>
        <p:nvPicPr>
          <p:cNvPr id="52" name="Picture 2" descr="첨부파일 아이콘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132" y="4413151"/>
            <a:ext cx="166832" cy="16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237450" y="5349205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등록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공지사항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1511316" y="2280545"/>
            <a:ext cx="3137088" cy="243815"/>
            <a:chOff x="5781092" y="876582"/>
            <a:chExt cx="3137088" cy="243815"/>
          </a:xfrm>
        </p:grpSpPr>
        <p:sp>
          <p:nvSpPr>
            <p:cNvPr id="60" name="사각형: 위쪽 모서리의 한쪽은 둥글고 다른 한쪽은 잘림 59"/>
            <p:cNvSpPr/>
            <p:nvPr/>
          </p:nvSpPr>
          <p:spPr>
            <a:xfrm>
              <a:off x="5781092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</a:rPr>
                <a:t>공통코드 ▲</a:t>
              </a:r>
            </a:p>
          </p:txBody>
        </p:sp>
        <p:sp>
          <p:nvSpPr>
            <p:cNvPr id="61" name="사각형: 위쪽 모서리의 한쪽은 둥글고 다른 한쪽은 잘림 60"/>
            <p:cNvSpPr/>
            <p:nvPr/>
          </p:nvSpPr>
          <p:spPr>
            <a:xfrm>
              <a:off x="6825208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분류코드 ▼</a:t>
              </a:r>
            </a:p>
          </p:txBody>
        </p:sp>
        <p:sp>
          <p:nvSpPr>
            <p:cNvPr id="62" name="사각형: 위쪽 모서리의 한쪽은 둥글고 다른 한쪽은 잘림 61"/>
            <p:cNvSpPr/>
            <p:nvPr/>
          </p:nvSpPr>
          <p:spPr>
            <a:xfrm>
              <a:off x="7874064" y="876582"/>
              <a:ext cx="1044116" cy="243815"/>
            </a:xfrm>
            <a:prstGeom prst="snipRoundRect">
              <a:avLst>
                <a:gd name="adj1" fmla="val 9997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</a:rPr>
                <a:t>공통분류▼</a:t>
              </a:r>
            </a:p>
          </p:txBody>
        </p:sp>
      </p:grpSp>
      <p:sp>
        <p:nvSpPr>
          <p:cNvPr id="63" name="직사각형 62"/>
          <p:cNvSpPr/>
          <p:nvPr/>
        </p:nvSpPr>
        <p:spPr>
          <a:xfrm>
            <a:off x="1520132" y="2524360"/>
            <a:ext cx="1040040" cy="68861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공통코드 </a:t>
            </a:r>
            <a:r>
              <a:rPr lang="en-US" altLang="ko-KR" sz="9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공통코드 </a:t>
            </a:r>
            <a:r>
              <a:rPr lang="en-US" altLang="ko-KR" sz="900" dirty="0">
                <a:solidFill>
                  <a:schemeClr val="tx1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공통코드 </a:t>
            </a:r>
            <a:r>
              <a:rPr lang="en-US" altLang="ko-KR" sz="9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4484948" y="1801861"/>
            <a:ext cx="2550383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관리자 </a:t>
            </a:r>
            <a:r>
              <a:rPr lang="en-US" altLang="ko-KR" sz="700" dirty="0"/>
              <a:t>&gt; </a:t>
            </a:r>
            <a:r>
              <a:rPr lang="ko-KR" altLang="en-US" sz="700" dirty="0"/>
              <a:t>홈페이지관리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게시물 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공지사항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30581969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시스템관리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메뉴관리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07354" y="2191146"/>
            <a:ext cx="8499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 </a:t>
            </a:r>
            <a:r>
              <a:rPr lang="ko-KR" altLang="en-US" sz="1000" b="1" dirty="0"/>
              <a:t>메뉴목록</a:t>
            </a:r>
            <a:endParaRPr lang="en-US" altLang="ko-KR" sz="1000" b="1" dirty="0"/>
          </a:p>
        </p:txBody>
      </p:sp>
      <p:sp>
        <p:nvSpPr>
          <p:cNvPr id="34" name="직사각형 33"/>
          <p:cNvSpPr/>
          <p:nvPr/>
        </p:nvSpPr>
        <p:spPr>
          <a:xfrm>
            <a:off x="1709528" y="2437367"/>
            <a:ext cx="13532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 </a:t>
            </a:r>
            <a:r>
              <a:rPr lang="ko-KR" altLang="en-US" sz="1000" b="1" dirty="0"/>
              <a:t>관리자 메뉴목록</a:t>
            </a:r>
            <a:endParaRPr lang="en-US" altLang="ko-KR" sz="1000" b="1" dirty="0"/>
          </a:p>
        </p:txBody>
      </p:sp>
      <p:sp>
        <p:nvSpPr>
          <p:cNvPr id="35" name="직사각형 34"/>
          <p:cNvSpPr/>
          <p:nvPr/>
        </p:nvSpPr>
        <p:spPr>
          <a:xfrm>
            <a:off x="2072680" y="2680515"/>
            <a:ext cx="17620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1.1.1 </a:t>
            </a:r>
            <a:r>
              <a:rPr lang="ko-KR" altLang="en-US" sz="1000" b="1" dirty="0"/>
              <a:t>관리자 메뉴목록 상세</a:t>
            </a:r>
            <a:endParaRPr lang="en-US" altLang="ko-KR" sz="1000" b="1" dirty="0"/>
          </a:p>
        </p:txBody>
      </p:sp>
      <p:sp>
        <p:nvSpPr>
          <p:cNvPr id="36" name="직사각형 35"/>
          <p:cNvSpPr/>
          <p:nvPr/>
        </p:nvSpPr>
        <p:spPr>
          <a:xfrm>
            <a:off x="2349362" y="2934356"/>
            <a:ext cx="9268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1.1.1.1 </a:t>
            </a:r>
            <a:r>
              <a:rPr lang="ko-KR" altLang="en-US" sz="1000" b="1" dirty="0"/>
              <a:t>메뉴 </a:t>
            </a:r>
            <a:endParaRPr lang="en-US" altLang="ko-KR" sz="1000" b="1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66843"/>
              </p:ext>
            </p:extLst>
          </p:nvPr>
        </p:nvGraphicFramePr>
        <p:xfrm>
          <a:off x="4029105" y="3180577"/>
          <a:ext cx="3722631" cy="297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27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5107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상위메뉴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메뉴팝업유무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 사용      ○ </a:t>
                      </a:r>
                      <a:r>
                        <a:rPr lang="ko-KR" altLang="en-US" sz="9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미사용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7984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담당자지정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5116634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 사용      ○ </a:t>
                      </a:r>
                      <a:r>
                        <a:rPr lang="ko-KR" altLang="en-US" sz="9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미사용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6852307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6973092"/>
                  </a:ext>
                </a:extLst>
              </a:tr>
            </a:tbl>
          </a:graphicData>
        </a:graphic>
      </p:graphicFrame>
      <p:sp>
        <p:nvSpPr>
          <p:cNvPr id="53" name="직사각형 52"/>
          <p:cNvSpPr/>
          <p:nvPr/>
        </p:nvSpPr>
        <p:spPr>
          <a:xfrm>
            <a:off x="5269165" y="3227834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269165" y="3490834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269165" y="3772328"/>
            <a:ext cx="191608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269165" y="4041122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552593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메뉴링크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9179" y="3180577"/>
            <a:ext cx="2561713" cy="2408663"/>
          </a:xfrm>
          <a:prstGeom prst="rect">
            <a:avLst/>
          </a:prstGeom>
        </p:spPr>
      </p:pic>
      <p:sp>
        <p:nvSpPr>
          <p:cNvPr id="73" name="직사각형 72"/>
          <p:cNvSpPr/>
          <p:nvPr/>
        </p:nvSpPr>
        <p:spPr>
          <a:xfrm>
            <a:off x="5206041" y="4797152"/>
            <a:ext cx="82747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콘텐츠경로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endParaRPr lang="ko-KR" altLang="en-US" sz="900" dirty="0"/>
          </a:p>
        </p:txBody>
      </p:sp>
      <p:sp>
        <p:nvSpPr>
          <p:cNvPr id="74" name="직사각형 73"/>
          <p:cNvSpPr/>
          <p:nvPr/>
        </p:nvSpPr>
        <p:spPr>
          <a:xfrm>
            <a:off x="6012082" y="4868388"/>
            <a:ext cx="1677222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012082" y="5078646"/>
            <a:ext cx="1677222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263722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콘텐츠선택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974851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게시판선택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269165" y="5390499"/>
            <a:ext cx="65594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973321" y="5390499"/>
            <a:ext cx="65594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5043" y="5382703"/>
            <a:ext cx="480126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165169" y="5382703"/>
            <a:ext cx="520812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5269165" y="5923601"/>
            <a:ext cx="2416815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237450" y="6223328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6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6640004" y="622672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7" name="Search Button Rectangle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033512" y="622672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161100" y="1801861"/>
            <a:ext cx="187423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관리자메뉴관리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23649646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Group 278"/>
          <p:cNvGraphicFramePr>
            <a:graphicFrameLocks noGrp="1"/>
          </p:cNvGraphicFramePr>
          <p:nvPr>
            <p:extLst/>
          </p:nvPr>
        </p:nvGraphicFramePr>
        <p:xfrm>
          <a:off x="7835006" y="1563565"/>
          <a:ext cx="1973077" cy="1127125"/>
        </p:xfrm>
        <a:graphic>
          <a:graphicData uri="http://schemas.openxmlformats.org/drawingml/2006/table">
            <a:tbl>
              <a:tblPr/>
              <a:tblGrid>
                <a:gridCol w="214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582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0050" algn="l"/>
                        </a:tabLst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0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64468" y="1000069"/>
            <a:ext cx="7596844" cy="448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0552" y="602188"/>
            <a:ext cx="15481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전체 레이아웃</a:t>
            </a:r>
          </a:p>
        </p:txBody>
      </p:sp>
      <p:sp>
        <p:nvSpPr>
          <p:cNvPr id="42" name="Search Button Rectangle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872881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관리자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3" name="Search Button Rectangle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953392" y="1000068"/>
            <a:ext cx="1080120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홈페이지 관리</a:t>
            </a:r>
            <a:endParaRPr lang="en-US" altLang="ko-KR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4" name="Search Button Rectangle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6033512" y="1000068"/>
            <a:ext cx="791696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err="1">
                <a:solidFill>
                  <a:schemeClr val="bg1"/>
                </a:solidFill>
                <a:latin typeface="+mn-ea"/>
                <a:cs typeface="Calibri" pitchFamily="34" charset="0"/>
              </a:rPr>
              <a:t>내정보</a:t>
            </a:r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 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5" name="Search Button Rectangle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825208" y="1000068"/>
            <a:ext cx="936104" cy="4487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로그아웃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4468" y="1448779"/>
            <a:ext cx="7596844" cy="252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164468" y="1000070"/>
            <a:ext cx="1908212" cy="448710"/>
          </a:xfrm>
          <a:prstGeom prst="roundRect">
            <a:avLst>
              <a:gd name="adj" fmla="val 6117"/>
            </a:avLst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기관로고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4469" y="1454999"/>
            <a:ext cx="1224136" cy="24622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defTabSz="895350"/>
            <a:r>
              <a:rPr lang="ko-KR" altLang="en-US" sz="1000" b="1" dirty="0"/>
              <a:t>사이트관리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388605" y="1454999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 dirty="0"/>
              <a:t>관리자관리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618305" y="1454999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시스템관리</a:t>
            </a:r>
            <a:endParaRPr lang="ko-KR" altLang="en-US" sz="1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167115" y="1700436"/>
            <a:ext cx="1215926" cy="4431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67115" y="1707439"/>
            <a:ext cx="12159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b="1" dirty="0"/>
              <a:t>코드관리</a:t>
            </a:r>
            <a:r>
              <a:rPr lang="en-US" altLang="ko-KR" sz="1000" b="1" dirty="0"/>
              <a:t>  </a:t>
            </a:r>
            <a:r>
              <a:rPr lang="ko-KR" altLang="en-US" sz="1000" b="1" dirty="0"/>
              <a:t>▲</a:t>
            </a: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lvl="0" defTabSz="895350">
              <a:lnSpc>
                <a:spcPct val="150000"/>
              </a:lnSpc>
              <a:defRPr/>
            </a:pP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메뉴관리▼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게시판통합관리▼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사이트관리▼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콘텐츠관리▼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만족도관리▼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통합회원관리▼</a:t>
            </a:r>
            <a:endParaRPr lang="en-US" altLang="ko-KR" sz="1000" b="1" dirty="0"/>
          </a:p>
          <a:p>
            <a:pPr defTabSz="895350">
              <a:lnSpc>
                <a:spcPct val="150000"/>
              </a:lnSpc>
              <a:defRPr/>
            </a:pPr>
            <a:r>
              <a:rPr lang="ko-KR" altLang="en-US" sz="1000" b="1" dirty="0"/>
              <a:t>설문조사관리▼</a:t>
            </a:r>
            <a:endParaRPr lang="en-US" altLang="ko-KR" sz="1000" b="1" dirty="0"/>
          </a:p>
        </p:txBody>
      </p:sp>
      <p:sp>
        <p:nvSpPr>
          <p:cNvPr id="58" name="직사각형 57"/>
          <p:cNvSpPr/>
          <p:nvPr/>
        </p:nvSpPr>
        <p:spPr>
          <a:xfrm>
            <a:off x="176791" y="1944253"/>
            <a:ext cx="1215926" cy="52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공통코드관리</a:t>
            </a:r>
            <a:endParaRPr lang="en-US" altLang="ko-KR" sz="1000" dirty="0"/>
          </a:p>
          <a:p>
            <a:pPr lvl="0" defTabSz="895350">
              <a:lnSpc>
                <a:spcPct val="150000"/>
              </a:lnSpc>
              <a:defRPr/>
            </a:pPr>
            <a:r>
              <a:rPr lang="ko-KR" altLang="en-US" sz="1000" dirty="0" err="1"/>
              <a:t>공통분류코드관리</a:t>
            </a:r>
            <a:endParaRPr lang="en-US" altLang="ko-KR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3846401" y="1455352"/>
            <a:ext cx="1224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895350">
              <a:defRPr/>
            </a:pPr>
            <a:r>
              <a:rPr lang="ko-KR" altLang="en-US" sz="1000" b="1"/>
              <a:t>표준화가이드</a:t>
            </a:r>
            <a:endParaRPr lang="ko-KR" altLang="en-US" sz="1000" b="1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507354" y="1824934"/>
            <a:ext cx="6244382" cy="288032"/>
            <a:chOff x="236772" y="6165304"/>
            <a:chExt cx="5219700" cy="288032"/>
          </a:xfrm>
        </p:grpSpPr>
        <p:sp>
          <p:nvSpPr>
            <p:cNvPr id="67" name="TextBox 66"/>
            <p:cNvSpPr txBox="1"/>
            <p:nvPr/>
          </p:nvSpPr>
          <p:spPr>
            <a:xfrm>
              <a:off x="247453" y="6165304"/>
              <a:ext cx="1969344" cy="184666"/>
            </a:xfrm>
            <a:prstGeom prst="rect">
              <a:avLst/>
            </a:prstGeom>
            <a:noFill/>
          </p:spPr>
          <p:txBody>
            <a:bodyPr wrap="square" lIns="36000" tIns="0" rIns="36000" bIns="0" rtlCol="0">
              <a:spAutoFit/>
            </a:bodyPr>
            <a:lstStyle/>
            <a:p>
              <a:r>
                <a:rPr lang="ko-KR" altLang="en-US" sz="1200" b="1" dirty="0">
                  <a:latin typeface="+mn-ea"/>
                </a:rPr>
                <a:t>관리자 메뉴관리</a:t>
              </a:r>
              <a:endParaRPr lang="en-US" altLang="ko-KR" sz="1200" b="1" dirty="0">
                <a:latin typeface="+mn-ea"/>
              </a:endParaRPr>
            </a:p>
          </p:txBody>
        </p:sp>
        <p:cxnSp>
          <p:nvCxnSpPr>
            <p:cNvPr id="68" name="직선 연결선 67"/>
            <p:cNvCxnSpPr/>
            <p:nvPr/>
          </p:nvCxnSpPr>
          <p:spPr>
            <a:xfrm>
              <a:off x="236772" y="6453336"/>
              <a:ext cx="52197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Search Button Rectangle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7045007" y="1804827"/>
            <a:ext cx="710751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cs typeface="Calibri" pitchFamily="34" charset="0"/>
              </a:rPr>
              <a:t>인쇄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507354" y="2191146"/>
            <a:ext cx="8499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 </a:t>
            </a:r>
            <a:r>
              <a:rPr lang="ko-KR" altLang="en-US" sz="1000" b="1" dirty="0"/>
              <a:t>메뉴목록</a:t>
            </a:r>
            <a:endParaRPr lang="en-US" altLang="ko-KR" sz="1000" b="1" dirty="0"/>
          </a:p>
        </p:txBody>
      </p:sp>
      <p:sp>
        <p:nvSpPr>
          <p:cNvPr id="34" name="직사각형 33"/>
          <p:cNvSpPr/>
          <p:nvPr/>
        </p:nvSpPr>
        <p:spPr>
          <a:xfrm>
            <a:off x="1709528" y="2437367"/>
            <a:ext cx="13532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 </a:t>
            </a:r>
            <a:r>
              <a:rPr lang="ko-KR" altLang="en-US" sz="1000" b="1" dirty="0"/>
              <a:t>관리자 메뉴목록</a:t>
            </a:r>
            <a:endParaRPr lang="en-US" altLang="ko-KR" sz="1000" b="1" dirty="0"/>
          </a:p>
        </p:txBody>
      </p:sp>
      <p:sp>
        <p:nvSpPr>
          <p:cNvPr id="35" name="직사각형 34"/>
          <p:cNvSpPr/>
          <p:nvPr/>
        </p:nvSpPr>
        <p:spPr>
          <a:xfrm>
            <a:off x="2072680" y="2680515"/>
            <a:ext cx="17620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1.1.1 </a:t>
            </a:r>
            <a:r>
              <a:rPr lang="ko-KR" altLang="en-US" sz="1000" b="1" dirty="0"/>
              <a:t>관리자 메뉴목록 상세</a:t>
            </a:r>
            <a:endParaRPr lang="en-US" altLang="ko-KR" sz="1000" b="1" dirty="0"/>
          </a:p>
        </p:txBody>
      </p:sp>
      <p:sp>
        <p:nvSpPr>
          <p:cNvPr id="36" name="직사각형 35"/>
          <p:cNvSpPr/>
          <p:nvPr/>
        </p:nvSpPr>
        <p:spPr>
          <a:xfrm>
            <a:off x="2349362" y="2934356"/>
            <a:ext cx="9268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en-US" altLang="ko-KR" sz="1000" b="1" dirty="0"/>
              <a:t>1.1.1.1 </a:t>
            </a:r>
            <a:r>
              <a:rPr lang="ko-KR" altLang="en-US" sz="1000" b="1" dirty="0"/>
              <a:t>메뉴 </a:t>
            </a:r>
            <a:endParaRPr lang="en-US" altLang="ko-KR" sz="1000" b="1" dirty="0"/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4029105" y="3180577"/>
          <a:ext cx="3722631" cy="297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27">
                  <a:extLst>
                    <a:ext uri="{9D8B030D-6E8A-4147-A177-3AD203B41FA5}">
                      <a16:colId xmlns:a16="http://schemas.microsoft.com/office/drawing/2014/main" xmlns="" val="2982948113"/>
                    </a:ext>
                  </a:extLst>
                </a:gridCol>
                <a:gridCol w="2510704">
                  <a:extLst>
                    <a:ext uri="{9D8B030D-6E8A-4147-A177-3AD203B41FA5}">
                      <a16:colId xmlns:a16="http://schemas.microsoft.com/office/drawing/2014/main" xmlns="" val="1106819580"/>
                    </a:ext>
                  </a:extLst>
                </a:gridCol>
              </a:tblGrid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0559140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5770242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메뉴명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84842468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상위메뉴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86303318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메뉴팝업유무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 사용      ○ </a:t>
                      </a:r>
                      <a:r>
                        <a:rPr lang="ko-KR" altLang="en-US" sz="9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미사용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7149739"/>
                  </a:ext>
                </a:extLst>
              </a:tr>
              <a:tr h="7984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메뉴링크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5701152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담당자지정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5116634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● 사용      ○ </a:t>
                      </a:r>
                      <a:r>
                        <a:rPr lang="ko-KR" altLang="en-US" sz="9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미사용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6852307"/>
                  </a:ext>
                </a:extLst>
              </a:tr>
              <a:tr h="2716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메뉴설명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06973092"/>
                  </a:ext>
                </a:extLst>
              </a:tr>
            </a:tbl>
          </a:graphicData>
        </a:graphic>
      </p:graphicFrame>
      <p:sp>
        <p:nvSpPr>
          <p:cNvPr id="53" name="직사각형 52"/>
          <p:cNvSpPr/>
          <p:nvPr/>
        </p:nvSpPr>
        <p:spPr>
          <a:xfrm>
            <a:off x="5269165" y="3227834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5269165" y="3490834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5269165" y="3772328"/>
            <a:ext cx="191608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269165" y="4041122"/>
            <a:ext cx="871967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2" name="Search Button Rectangle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5552593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메뉴링크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19179" y="3180577"/>
            <a:ext cx="2561713" cy="2408663"/>
          </a:xfrm>
          <a:prstGeom prst="rect">
            <a:avLst/>
          </a:prstGeom>
        </p:spPr>
      </p:pic>
      <p:sp>
        <p:nvSpPr>
          <p:cNvPr id="73" name="직사각형 72"/>
          <p:cNvSpPr/>
          <p:nvPr/>
        </p:nvSpPr>
        <p:spPr>
          <a:xfrm>
            <a:off x="5206041" y="4797152"/>
            <a:ext cx="82747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메뉴링크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콘텐츠경로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endParaRPr lang="ko-KR" altLang="en-US" sz="900" dirty="0"/>
          </a:p>
        </p:txBody>
      </p:sp>
      <p:sp>
        <p:nvSpPr>
          <p:cNvPr id="74" name="직사각형 73"/>
          <p:cNvSpPr/>
          <p:nvPr/>
        </p:nvSpPr>
        <p:spPr>
          <a:xfrm>
            <a:off x="6012082" y="4868388"/>
            <a:ext cx="1677222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012082" y="5078646"/>
            <a:ext cx="1677222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6" name="Search Button Rectangle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263722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콘텐츠선택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7" name="Search Button Rectangle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974851" y="4618623"/>
            <a:ext cx="711129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게시판선택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269165" y="5390499"/>
            <a:ext cx="65594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973321" y="5390499"/>
            <a:ext cx="655943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0" name="Search Button Rectangle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685043" y="5382703"/>
            <a:ext cx="480126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선택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1" name="Search Button Rectangle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7165169" y="5382703"/>
            <a:ext cx="520812" cy="19561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5269165" y="5923601"/>
            <a:ext cx="2416815" cy="180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/>
          <a:p>
            <a:pPr algn="ctr"/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84" name="Search Button Rectangle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7237450" y="6223328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6" name="Search Button Rectangle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6640004" y="622672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87" name="Search Button Rectangle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033512" y="6226726"/>
            <a:ext cx="514286" cy="26035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초기화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4819" y="2448319"/>
            <a:ext cx="3470529" cy="30689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584819" y="2231996"/>
            <a:ext cx="3470529" cy="2262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3620852" y="2505511"/>
            <a:ext cx="3136508" cy="3240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953001" y="2541785"/>
            <a:ext cx="1167052" cy="241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62" name="Search Button Rectangle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6173831" y="2541785"/>
            <a:ext cx="474946" cy="241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검색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624253" y="2541785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895350">
              <a:defRPr/>
            </a:pPr>
            <a:r>
              <a:rPr lang="ko-KR" altLang="en-US" sz="1000" b="1"/>
              <a:t>검색조건</a:t>
            </a:r>
            <a:endParaRPr lang="en-US" altLang="ko-KR" sz="1000" b="1" dirty="0"/>
          </a:p>
        </p:txBody>
      </p:sp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576554"/>
              </p:ext>
            </p:extLst>
          </p:nvPr>
        </p:nvGraphicFramePr>
        <p:xfrm>
          <a:off x="3610733" y="2933838"/>
          <a:ext cx="3146627" cy="21126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217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456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7921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7201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제목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조회</a:t>
                      </a:r>
                    </a:p>
                  </a:txBody>
                  <a:tcPr marL="49860" marR="49860" marT="24930" marB="249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948423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73080757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4B4B4B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u="non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일반게시물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>
                          <a:solidFill>
                            <a:srgbClr val="666666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90397887"/>
                  </a:ext>
                </a:extLst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6811138" y="2459695"/>
            <a:ext cx="244210" cy="30595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814604" y="2497739"/>
            <a:ext cx="244210" cy="257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noAutofit/>
          </a:bodyPr>
          <a:lstStyle/>
          <a:p>
            <a:pPr fontAlgn="base"/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Search Button Rectangle"/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860686" y="5155822"/>
            <a:ext cx="514286" cy="25510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  <a:cs typeface="Calibri" pitchFamily="34" charset="0"/>
              </a:rPr>
              <a:t>삭제</a:t>
            </a:r>
            <a:endParaRPr lang="en-US" sz="900" b="1" dirty="0">
              <a:solidFill>
                <a:schemeClr val="bg1"/>
              </a:solidFill>
              <a:latin typeface="+mn-ea"/>
              <a:cs typeface="Calibri" pitchFamily="34" charset="0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311916" y="2541785"/>
            <a:ext cx="587307" cy="45516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제목 ▼</a:t>
            </a:r>
            <a:endParaRPr lang="en-US" altLang="ko-KR" sz="9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chemeClr val="tx1"/>
                </a:solidFill>
              </a:rPr>
              <a:t>링크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161100" y="1801861"/>
            <a:ext cx="1874231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 defTabSz="895350">
              <a:defRPr/>
            </a:pPr>
            <a:r>
              <a:rPr lang="ko-KR" altLang="en-US" sz="700" dirty="0"/>
              <a:t>사이트관리 </a:t>
            </a:r>
            <a:r>
              <a:rPr lang="en-US" altLang="ko-KR" sz="700" dirty="0"/>
              <a:t>&gt; </a:t>
            </a:r>
            <a:r>
              <a:rPr lang="ko-KR" altLang="en-US" sz="700" dirty="0"/>
              <a:t>메뉴관리 </a:t>
            </a:r>
            <a:r>
              <a:rPr lang="en-US" altLang="ko-KR" sz="700" dirty="0"/>
              <a:t>&gt; </a:t>
            </a:r>
            <a:r>
              <a:rPr lang="ko-KR" altLang="en-US" sz="700" dirty="0" err="1"/>
              <a:t>관리자메뉴관리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572246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CHORLEFT" val="None"/>
  <p:tag name="ANCHORTOP" val="Absolute"/>
  <p:tag name="ANCHORRIGHT" val="Absolute"/>
  <p:tag name="ANCHORBOTTOM" val="Absolute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17460</TotalTime>
  <Words>11645</Words>
  <Application>Microsoft Office PowerPoint</Application>
  <PresentationFormat>A4 용지(210x297mm)</PresentationFormat>
  <Paragraphs>5371</Paragraphs>
  <Slides>93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93</vt:i4>
      </vt:variant>
    </vt:vector>
  </HeadingPairs>
  <TitlesOfParts>
    <vt:vector size="95" baseType="lpstr"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devgat</dc:creator>
  <cp:lastModifiedBy>Windows 사용자</cp:lastModifiedBy>
  <cp:revision>2162</cp:revision>
  <dcterms:created xsi:type="dcterms:W3CDTF">2014-10-14T01:07:57Z</dcterms:created>
  <dcterms:modified xsi:type="dcterms:W3CDTF">2017-06-27T04:56:19Z</dcterms:modified>
</cp:coreProperties>
</file>